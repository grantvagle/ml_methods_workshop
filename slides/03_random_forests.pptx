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0000"/>
    <a:srgbClr val="A0202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73"/>
  </p:normalViewPr>
  <p:slideViewPr>
    <p:cSldViewPr snapToGrid="0">
      <p:cViewPr varScale="1">
        <p:scale>
          <a:sx n="150" d="100"/>
          <a:sy n="150" d="100"/>
        </p:scale>
        <p:origin x="1992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09532D-D663-D733-2D55-01212136DA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1F913C-87A9-F39B-4348-26162E87C1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4687C3-D482-0B97-798C-4E49BE41B6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2280C-62AA-E14C-8AA3-A8B9D4E264B1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BAC6E0-1E24-C81D-E090-F5F2F3451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32CEF4-2018-BF2B-7BA3-FB29AB01E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708C9-0982-014D-8B57-85AB877E6C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80924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EB5566-D9BB-2768-F76B-322E30F0FA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9379C9-F800-2570-9F9D-6639B2FED0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8CF650-9AB2-D874-AE73-935178C906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2280C-62AA-E14C-8AA3-A8B9D4E264B1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05ABD2-1613-404B-173A-DBFA13C7F6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47E545-B43B-95F0-BB81-0228F0AA9D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708C9-0982-014D-8B57-85AB877E6C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244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669315-173D-473B-2EF9-92049CE729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F7957D-D917-3496-DA05-8061955ACA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1BD503-F92A-ECC4-56B1-0018D42C90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2280C-62AA-E14C-8AA3-A8B9D4E264B1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B69D29-E222-1065-34C4-315A40378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92D45C-E427-39C0-833C-72645F5AC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708C9-0982-014D-8B57-85AB877E6C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85433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9C9C05-8F48-702C-8CDF-37E8CC3F89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E37449-DDEA-B5AD-6736-3D036509D4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385CF9-AB7F-5895-6DAA-DDB0E437FF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9F63A3-4485-E7C6-D07E-A527C6F7F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2280C-62AA-E14C-8AA3-A8B9D4E264B1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3C3C38-BC5E-2D1C-99C0-DF62B5769A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508D45-9BDA-0267-704D-F61B835BC4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708C9-0982-014D-8B57-85AB877E6C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6601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D6E397-1302-3207-452F-A9B9EC3CD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CD4CAA-AA52-FD62-D5E3-1AD933172B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656C25-B928-A2DE-0CC2-102F167044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499ABF7-1389-3B64-A2DD-4485A9795E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D9173CF-A402-CF0A-223E-FBF611F26FC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EB45A69-7F02-D3D0-DE64-4DE22976DC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2280C-62AA-E14C-8AA3-A8B9D4E264B1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E934CCB-0EDF-E247-9095-DC2328ECB5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317D2D5-67E1-D28E-24B9-F18A8A403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708C9-0982-014D-8B57-85AB877E6C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55655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6B526-5122-87B2-D087-14DBE05509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A7FBEC-66A0-B4F5-E368-AF1097937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2280C-62AA-E14C-8AA3-A8B9D4E264B1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911355-0DF3-06B4-C6F9-B1C4B7EF03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9E81A3-6665-FEA2-6506-7E8264278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708C9-0982-014D-8B57-85AB877E6C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0861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5B69838-3640-CE28-F7B7-3B91FF8516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2280C-62AA-E14C-8AA3-A8B9D4E264B1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123B4C-822C-C18B-EEE1-C2D4A0F323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464AE5-8AD1-3C9E-8096-5E3148030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708C9-0982-014D-8B57-85AB877E6C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2495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95967-DB34-6F35-BA7C-A3188138F7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48E4AD-000A-72D1-850B-E2B3D30C29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138759-158B-D8A2-8EB4-7E63B90931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A67259-52EA-D980-9FAC-A6F5127966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2280C-62AA-E14C-8AA3-A8B9D4E264B1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DCEB8C-985E-727C-D473-23AF285F8A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2F43F3-C5D5-B071-8E5A-F5C0523EF1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708C9-0982-014D-8B57-85AB877E6C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09693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216EAD-4E1D-0779-358D-A0CAEC694A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EB1A6E3-373F-80FA-2F9E-EDCF18041B3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E50272-F586-0616-1456-B4B99890B3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F3C458-C334-D61F-E80C-1E6DA06715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2280C-62AA-E14C-8AA3-A8B9D4E264B1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04EEDA-D213-68CA-8341-FF9E377D61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9C1C18-885B-3C13-E81F-8FC5FDABD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708C9-0982-014D-8B57-85AB877E6C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1352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149ED5-AB52-5B94-976C-F5438D75C7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2510C7D-2E34-18F9-8E9E-0879C6AB6B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06E73A-EE34-EB35-4FBF-6249A422CB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2280C-62AA-E14C-8AA3-A8B9D4E264B1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4146F8-C7B0-D191-D206-29903468EA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1D110B-FEF4-34A1-9775-70A0CDC97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708C9-0982-014D-8B57-85AB877E6C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74659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E5FC912-C208-A0E6-8D18-A218A67496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7318F7-C6C7-0FCF-5828-C201FD12BA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75D630-C08E-B79B-28C0-154F3FBD1F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2280C-62AA-E14C-8AA3-A8B9D4E264B1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1238FB-2EE7-15F0-FD59-351978B35F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A66C8E-F458-A51A-1042-E3B9BDAE6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708C9-0982-014D-8B57-85AB877E6C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90615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E80246A-9C1F-BEE4-4752-26A5490BCD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05216F-19B2-13ED-AE64-9B68416A01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26EBEB-125A-60A7-BF69-35340F4137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C72280C-62AA-E14C-8AA3-A8B9D4E264B1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448D0A-1CD7-511A-4DFE-5B9C873F5A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01E326-6544-4B03-8F58-400A66E873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DD708C9-0982-014D-8B57-85AB877E6C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49082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8DBB06-335B-F86C-AB91-80212521896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What’s in the bag?: Random forests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62BEB9-2FF9-76A6-85EE-8530E5C2ABF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Jeremiah </a:t>
            </a:r>
            <a:r>
              <a:rPr lang="en-US" dirty="0" err="1"/>
              <a:t>Shrovnal</a:t>
            </a:r>
            <a:r>
              <a:rPr lang="en-US" dirty="0"/>
              <a:t>, Grant Vagle, Lynn Waterhouse</a:t>
            </a:r>
          </a:p>
        </p:txBody>
      </p:sp>
    </p:spTree>
    <p:extLst>
      <p:ext uri="{BB962C8B-B14F-4D97-AF65-F5344CB8AC3E}">
        <p14:creationId xmlns:p14="http://schemas.microsoft.com/office/powerpoint/2010/main" val="28907818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DCDEA5-A752-B35E-CD2E-C477484414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 of this section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5662D4-0899-D215-DD86-3F4FEB75AD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Bagging</a:t>
            </a:r>
          </a:p>
          <a:p>
            <a:pPr lvl="1"/>
            <a:r>
              <a:rPr lang="en-US" dirty="0"/>
              <a:t>Algorithm overview</a:t>
            </a:r>
          </a:p>
          <a:p>
            <a:r>
              <a:rPr lang="en-US" dirty="0"/>
              <a:t>Random forest models</a:t>
            </a:r>
          </a:p>
          <a:p>
            <a:pPr lvl="1"/>
            <a:r>
              <a:rPr lang="en-US" dirty="0"/>
              <a:t>Algorithm overview, with hyper parameters</a:t>
            </a:r>
          </a:p>
          <a:p>
            <a:pPr lvl="1"/>
            <a:r>
              <a:rPr lang="en-US" dirty="0"/>
              <a:t>Intro to model tuning</a:t>
            </a:r>
          </a:p>
          <a:p>
            <a:r>
              <a:rPr lang="en-US" dirty="0"/>
              <a:t>Variable importance - intention and calculation</a:t>
            </a:r>
          </a:p>
          <a:p>
            <a:r>
              <a:rPr lang="en-US" dirty="0"/>
              <a:t>Partial dependence - how it's calculated and how to interpret</a:t>
            </a:r>
          </a:p>
          <a:p>
            <a:r>
              <a:rPr lang="en-US" dirty="0"/>
              <a:t>Considerations with correlated predictors</a:t>
            </a:r>
          </a:p>
          <a:p>
            <a:r>
              <a:rPr lang="en-US" dirty="0"/>
              <a:t>Introduce the coding examples</a:t>
            </a:r>
          </a:p>
          <a:p>
            <a:r>
              <a:rPr lang="en-US" dirty="0"/>
              <a:t>Hands-on coding example</a:t>
            </a:r>
          </a:p>
        </p:txBody>
      </p:sp>
    </p:spTree>
    <p:extLst>
      <p:ext uri="{BB962C8B-B14F-4D97-AF65-F5344CB8AC3E}">
        <p14:creationId xmlns:p14="http://schemas.microsoft.com/office/powerpoint/2010/main" val="4137513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A9C3F-F500-F665-BA18-F9BF166A5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Reducing variance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C73887-73D6-38C8-FEF5-8D879041CE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if we had many independent observations of what we’d like to model?</a:t>
            </a:r>
          </a:p>
          <a:p>
            <a:r>
              <a:rPr lang="en-US" dirty="0"/>
              <a:t>We could grow a tree on each training set and then take the average tree</a:t>
            </a:r>
          </a:p>
          <a:p>
            <a:r>
              <a:rPr lang="en-US" dirty="0"/>
              <a:t>Generally, not practical because we won’t have access to multiple training sets…</a:t>
            </a:r>
          </a:p>
        </p:txBody>
      </p:sp>
    </p:spTree>
    <p:extLst>
      <p:ext uri="{BB962C8B-B14F-4D97-AF65-F5344CB8AC3E}">
        <p14:creationId xmlns:p14="http://schemas.microsoft.com/office/powerpoint/2010/main" val="39618889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6A60B-8939-5327-3C7D-B37C89AED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Bagging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BCDA65-4867-9F30-061F-8E782C580C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can bootstrap!</a:t>
            </a:r>
          </a:p>
          <a:p>
            <a:pPr lvl="1"/>
            <a:r>
              <a:rPr lang="en-US" dirty="0"/>
              <a:t>Take repeated samples (</a:t>
            </a:r>
            <a:r>
              <a:rPr lang="en-US" i="1" dirty="0"/>
              <a:t>with replacement</a:t>
            </a:r>
            <a:r>
              <a:rPr lang="en-US" dirty="0"/>
              <a:t>) from the (single) training set</a:t>
            </a:r>
          </a:p>
          <a:p>
            <a:r>
              <a:rPr lang="en-US" dirty="0"/>
              <a:t>This </a:t>
            </a:r>
            <a:r>
              <a:rPr lang="en-US" i="1" dirty="0"/>
              <a:t>bootstrap aggregation</a:t>
            </a:r>
            <a:r>
              <a:rPr lang="en-US" dirty="0"/>
              <a:t>, known as </a:t>
            </a:r>
            <a:r>
              <a:rPr lang="en-US" b="1" dirty="0"/>
              <a:t>bagging</a:t>
            </a:r>
            <a:r>
              <a:rPr lang="en-US" dirty="0"/>
              <a:t>, allows us to reduce variance by producing a whole bunch of trees and averaging over them</a:t>
            </a:r>
          </a:p>
        </p:txBody>
      </p:sp>
    </p:spTree>
    <p:extLst>
      <p:ext uri="{BB962C8B-B14F-4D97-AF65-F5344CB8AC3E}">
        <p14:creationId xmlns:p14="http://schemas.microsoft.com/office/powerpoint/2010/main" val="7734174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C0E274-1B45-49E9-2616-5C4DA92D3B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Bagging, explained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0CFB9D-CED5-68E7-2D29-2111C9ABFC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657850" cy="4351338"/>
          </a:xfrm>
        </p:spPr>
        <p:txBody>
          <a:bodyPr/>
          <a:lstStyle/>
          <a:p>
            <a:r>
              <a:rPr lang="en-US" dirty="0"/>
              <a:t>Generate </a:t>
            </a:r>
            <a:r>
              <a:rPr lang="en-US" i="1" dirty="0">
                <a:solidFill>
                  <a:schemeClr val="accent1"/>
                </a:solidFill>
              </a:rPr>
              <a:t>B</a:t>
            </a:r>
            <a:r>
              <a:rPr lang="en-US" dirty="0"/>
              <a:t> different bootstrapped training sets, all coming from a single data set, to create </a:t>
            </a:r>
            <a:r>
              <a:rPr lang="en-US" i="1" dirty="0"/>
              <a:t>pseudo</a:t>
            </a:r>
            <a:r>
              <a:rPr lang="en-US" dirty="0"/>
              <a:t> training sets</a:t>
            </a:r>
          </a:p>
          <a:p>
            <a:r>
              <a:rPr lang="en-US" dirty="0"/>
              <a:t>Train on the </a:t>
            </a:r>
            <a:r>
              <a:rPr lang="en-US" i="1" dirty="0" err="1">
                <a:solidFill>
                  <a:schemeClr val="accent1"/>
                </a:solidFill>
              </a:rPr>
              <a:t>b</a:t>
            </a:r>
            <a:r>
              <a:rPr lang="en-US" dirty="0" err="1"/>
              <a:t>th</a:t>
            </a:r>
            <a:r>
              <a:rPr lang="en-US" dirty="0"/>
              <a:t> bootstrapped training set to get a prediction</a:t>
            </a:r>
          </a:p>
          <a:p>
            <a:r>
              <a:rPr lang="en-US" dirty="0"/>
              <a:t>Average over all of the predictions (regression) or take the majority vote (classification)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231CC22-A924-4BD9-EB51-DB1E862DD6A4}"/>
              </a:ext>
            </a:extLst>
          </p:cNvPr>
          <p:cNvSpPr/>
          <p:nvPr/>
        </p:nvSpPr>
        <p:spPr>
          <a:xfrm>
            <a:off x="8416926" y="547688"/>
            <a:ext cx="1816100" cy="127000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4BB2AAC-9748-38D5-989F-2A64898E6B35}"/>
              </a:ext>
            </a:extLst>
          </p:cNvPr>
          <p:cNvSpPr/>
          <p:nvPr/>
        </p:nvSpPr>
        <p:spPr>
          <a:xfrm>
            <a:off x="8702676" y="896938"/>
            <a:ext cx="171450" cy="17145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0BED8B5B-6B5F-404C-13E5-8A0C747E3317}"/>
              </a:ext>
            </a:extLst>
          </p:cNvPr>
          <p:cNvSpPr/>
          <p:nvPr/>
        </p:nvSpPr>
        <p:spPr>
          <a:xfrm>
            <a:off x="9347201" y="746126"/>
            <a:ext cx="171450" cy="17145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EF46DD1-904A-A985-AEAD-E0E6737E7F03}"/>
              </a:ext>
            </a:extLst>
          </p:cNvPr>
          <p:cNvSpPr/>
          <p:nvPr/>
        </p:nvSpPr>
        <p:spPr>
          <a:xfrm>
            <a:off x="9021764" y="682626"/>
            <a:ext cx="171450" cy="17145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51BC2A3-1A03-AF31-F718-92B652CAA8B1}"/>
              </a:ext>
            </a:extLst>
          </p:cNvPr>
          <p:cNvSpPr/>
          <p:nvPr/>
        </p:nvSpPr>
        <p:spPr>
          <a:xfrm>
            <a:off x="9788526" y="1077913"/>
            <a:ext cx="171450" cy="17145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734F869-3A96-C2CE-BE06-DF29836E0E3B}"/>
              </a:ext>
            </a:extLst>
          </p:cNvPr>
          <p:cNvSpPr/>
          <p:nvPr/>
        </p:nvSpPr>
        <p:spPr>
          <a:xfrm>
            <a:off x="9880601" y="1570038"/>
            <a:ext cx="171450" cy="17145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93C27CAD-6F73-BC72-B7D0-1917D7EEF85F}"/>
              </a:ext>
            </a:extLst>
          </p:cNvPr>
          <p:cNvSpPr/>
          <p:nvPr/>
        </p:nvSpPr>
        <p:spPr>
          <a:xfrm>
            <a:off x="8578851" y="1417638"/>
            <a:ext cx="171450" cy="17145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5C7EED15-0898-B985-F862-077A6039E3ED}"/>
              </a:ext>
            </a:extLst>
          </p:cNvPr>
          <p:cNvSpPr/>
          <p:nvPr/>
        </p:nvSpPr>
        <p:spPr>
          <a:xfrm>
            <a:off x="8936039" y="1123157"/>
            <a:ext cx="171450" cy="171450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DEFE4AC-7A5A-DFBB-7E93-908535CAD42C}"/>
              </a:ext>
            </a:extLst>
          </p:cNvPr>
          <p:cNvSpPr/>
          <p:nvPr/>
        </p:nvSpPr>
        <p:spPr>
          <a:xfrm>
            <a:off x="8808246" y="1513682"/>
            <a:ext cx="171450" cy="171450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745B497E-A0F4-2BC7-C70C-12D0BAE4F7E6}"/>
              </a:ext>
            </a:extLst>
          </p:cNvPr>
          <p:cNvSpPr/>
          <p:nvPr/>
        </p:nvSpPr>
        <p:spPr>
          <a:xfrm>
            <a:off x="8567739" y="632619"/>
            <a:ext cx="171450" cy="171450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57604CB1-E1E0-76AB-8D2D-FCD6EA566223}"/>
              </a:ext>
            </a:extLst>
          </p:cNvPr>
          <p:cNvSpPr/>
          <p:nvPr/>
        </p:nvSpPr>
        <p:spPr>
          <a:xfrm>
            <a:off x="9461502" y="1066007"/>
            <a:ext cx="171450" cy="171450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8066B7A6-C929-09A3-E2D8-E13F3261BA5B}"/>
              </a:ext>
            </a:extLst>
          </p:cNvPr>
          <p:cNvSpPr/>
          <p:nvPr/>
        </p:nvSpPr>
        <p:spPr>
          <a:xfrm>
            <a:off x="9223376" y="1417638"/>
            <a:ext cx="171450" cy="171450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65D20C31-6987-66A0-2172-227C0C83F21A}"/>
              </a:ext>
            </a:extLst>
          </p:cNvPr>
          <p:cNvSpPr/>
          <p:nvPr/>
        </p:nvSpPr>
        <p:spPr>
          <a:xfrm>
            <a:off x="9794876" y="707232"/>
            <a:ext cx="171450" cy="171450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86A97633-659E-A464-80A5-A1D80A8BB459}"/>
              </a:ext>
            </a:extLst>
          </p:cNvPr>
          <p:cNvSpPr/>
          <p:nvPr/>
        </p:nvSpPr>
        <p:spPr>
          <a:xfrm>
            <a:off x="9623426" y="1408113"/>
            <a:ext cx="171450" cy="171450"/>
          </a:xfrm>
          <a:prstGeom prst="ellipse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F8D75E19-CD04-A795-8989-418926232E61}"/>
              </a:ext>
            </a:extLst>
          </p:cNvPr>
          <p:cNvSpPr/>
          <p:nvPr/>
        </p:nvSpPr>
        <p:spPr>
          <a:xfrm>
            <a:off x="8469314" y="1127920"/>
            <a:ext cx="171450" cy="171450"/>
          </a:xfrm>
          <a:prstGeom prst="ellipse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CDD54F8E-E78A-F3AF-897E-04E9E674BBCF}"/>
              </a:ext>
            </a:extLst>
          </p:cNvPr>
          <p:cNvSpPr/>
          <p:nvPr/>
        </p:nvSpPr>
        <p:spPr>
          <a:xfrm>
            <a:off x="9977439" y="1288257"/>
            <a:ext cx="171450" cy="171450"/>
          </a:xfrm>
          <a:prstGeom prst="ellipse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79D94F0E-46F7-2EA7-8424-364A38771496}"/>
              </a:ext>
            </a:extLst>
          </p:cNvPr>
          <p:cNvSpPr/>
          <p:nvPr/>
        </p:nvSpPr>
        <p:spPr>
          <a:xfrm>
            <a:off x="9580564" y="867570"/>
            <a:ext cx="171450" cy="171450"/>
          </a:xfrm>
          <a:prstGeom prst="ellipse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3BF276A1-7978-0A48-6F54-6DD6CD3286B0}"/>
              </a:ext>
            </a:extLst>
          </p:cNvPr>
          <p:cNvSpPr/>
          <p:nvPr/>
        </p:nvSpPr>
        <p:spPr>
          <a:xfrm>
            <a:off x="9154321" y="963614"/>
            <a:ext cx="171450" cy="171450"/>
          </a:xfrm>
          <a:prstGeom prst="ellipse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BBF874C8-B241-30C3-E482-B0469DD6E8C7}"/>
              </a:ext>
            </a:extLst>
          </p:cNvPr>
          <p:cNvSpPr/>
          <p:nvPr/>
        </p:nvSpPr>
        <p:spPr>
          <a:xfrm>
            <a:off x="9409114" y="1579563"/>
            <a:ext cx="171450" cy="171450"/>
          </a:xfrm>
          <a:prstGeom prst="ellipse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875B9A70-EE09-01EB-31E8-B0BD58D7B595}"/>
              </a:ext>
            </a:extLst>
          </p:cNvPr>
          <p:cNvSpPr/>
          <p:nvPr/>
        </p:nvSpPr>
        <p:spPr>
          <a:xfrm>
            <a:off x="9995695" y="930276"/>
            <a:ext cx="171450" cy="171450"/>
          </a:xfrm>
          <a:prstGeom prst="ellipse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A25C6EE-6B1C-57E9-8006-9C5B18031032}"/>
              </a:ext>
            </a:extLst>
          </p:cNvPr>
          <p:cNvSpPr/>
          <p:nvPr/>
        </p:nvSpPr>
        <p:spPr>
          <a:xfrm>
            <a:off x="6718300" y="2794000"/>
            <a:ext cx="1816100" cy="1270000"/>
          </a:xfrm>
          <a:prstGeom prst="rect">
            <a:avLst/>
          </a:prstGeom>
          <a:noFill/>
          <a:ln w="57150">
            <a:solidFill>
              <a:srgbClr val="A0202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4CC55A16-7B2D-E444-5BE6-05A99B174331}"/>
              </a:ext>
            </a:extLst>
          </p:cNvPr>
          <p:cNvSpPr/>
          <p:nvPr/>
        </p:nvSpPr>
        <p:spPr>
          <a:xfrm>
            <a:off x="7004050" y="3143250"/>
            <a:ext cx="171450" cy="171450"/>
          </a:xfrm>
          <a:prstGeom prst="ellipse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A396061A-F03B-AE91-3060-D6192F591C21}"/>
              </a:ext>
            </a:extLst>
          </p:cNvPr>
          <p:cNvSpPr/>
          <p:nvPr/>
        </p:nvSpPr>
        <p:spPr>
          <a:xfrm>
            <a:off x="7648575" y="2992438"/>
            <a:ext cx="171450" cy="17145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EDC95822-3653-7A20-E589-C1859D9A48E1}"/>
              </a:ext>
            </a:extLst>
          </p:cNvPr>
          <p:cNvSpPr/>
          <p:nvPr/>
        </p:nvSpPr>
        <p:spPr>
          <a:xfrm>
            <a:off x="7323138" y="2928938"/>
            <a:ext cx="171450" cy="171450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491E8C01-C645-3573-2237-AAEDFA86C28E}"/>
              </a:ext>
            </a:extLst>
          </p:cNvPr>
          <p:cNvSpPr/>
          <p:nvPr/>
        </p:nvSpPr>
        <p:spPr>
          <a:xfrm>
            <a:off x="8058150" y="3355975"/>
            <a:ext cx="171450" cy="171450"/>
          </a:xfrm>
          <a:prstGeom prst="ellipse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3356DE77-8964-7A68-3C2D-15B094F2FBFD}"/>
              </a:ext>
            </a:extLst>
          </p:cNvPr>
          <p:cNvSpPr/>
          <p:nvPr/>
        </p:nvSpPr>
        <p:spPr>
          <a:xfrm>
            <a:off x="8169275" y="3797300"/>
            <a:ext cx="171450" cy="171450"/>
          </a:xfrm>
          <a:prstGeom prst="ellipse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501D5634-4A83-DF6F-B688-02F0E9575C05}"/>
              </a:ext>
            </a:extLst>
          </p:cNvPr>
          <p:cNvSpPr/>
          <p:nvPr/>
        </p:nvSpPr>
        <p:spPr>
          <a:xfrm>
            <a:off x="6880225" y="3663950"/>
            <a:ext cx="171450" cy="171450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CA5EA3F5-22A3-55C5-F08B-A94865CDEDB0}"/>
              </a:ext>
            </a:extLst>
          </p:cNvPr>
          <p:cNvSpPr/>
          <p:nvPr/>
        </p:nvSpPr>
        <p:spPr>
          <a:xfrm>
            <a:off x="7237413" y="3369469"/>
            <a:ext cx="171450" cy="171450"/>
          </a:xfrm>
          <a:prstGeom prst="ellipse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942839F2-524C-0CEA-1B0C-3F3C91BB880C}"/>
              </a:ext>
            </a:extLst>
          </p:cNvPr>
          <p:cNvSpPr/>
          <p:nvPr/>
        </p:nvSpPr>
        <p:spPr>
          <a:xfrm>
            <a:off x="7109620" y="3759994"/>
            <a:ext cx="171450" cy="171450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1AE5F63B-85C4-DD63-29B8-A5A2016D8AEA}"/>
              </a:ext>
            </a:extLst>
          </p:cNvPr>
          <p:cNvSpPr/>
          <p:nvPr/>
        </p:nvSpPr>
        <p:spPr>
          <a:xfrm>
            <a:off x="6869113" y="2878931"/>
            <a:ext cx="171450" cy="171450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02E0EF76-291A-16B8-C2A4-E4021900B9D0}"/>
              </a:ext>
            </a:extLst>
          </p:cNvPr>
          <p:cNvSpPr/>
          <p:nvPr/>
        </p:nvSpPr>
        <p:spPr>
          <a:xfrm>
            <a:off x="7762876" y="3312319"/>
            <a:ext cx="171450" cy="171450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B090BDD8-D9F7-318B-E1AD-F808902BE632}"/>
              </a:ext>
            </a:extLst>
          </p:cNvPr>
          <p:cNvSpPr/>
          <p:nvPr/>
        </p:nvSpPr>
        <p:spPr>
          <a:xfrm>
            <a:off x="7524750" y="3663950"/>
            <a:ext cx="171450" cy="171450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F43E4100-8187-1035-50AC-1832C2E6A723}"/>
              </a:ext>
            </a:extLst>
          </p:cNvPr>
          <p:cNvSpPr/>
          <p:nvPr/>
        </p:nvSpPr>
        <p:spPr>
          <a:xfrm>
            <a:off x="8096250" y="2953544"/>
            <a:ext cx="171450" cy="171450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E82F4520-F2C7-60E8-F8CB-DE731C440BEA}"/>
              </a:ext>
            </a:extLst>
          </p:cNvPr>
          <p:cNvSpPr/>
          <p:nvPr/>
        </p:nvSpPr>
        <p:spPr>
          <a:xfrm>
            <a:off x="7924800" y="3654425"/>
            <a:ext cx="171450" cy="171450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10811824-2C1E-304D-A6EA-F4232A9839C1}"/>
              </a:ext>
            </a:extLst>
          </p:cNvPr>
          <p:cNvSpPr/>
          <p:nvPr/>
        </p:nvSpPr>
        <p:spPr>
          <a:xfrm>
            <a:off x="6764338" y="3374232"/>
            <a:ext cx="171450" cy="171450"/>
          </a:xfrm>
          <a:prstGeom prst="ellipse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E7F59BD8-0051-2070-A4A3-C4DFDADC029E}"/>
              </a:ext>
            </a:extLst>
          </p:cNvPr>
          <p:cNvSpPr/>
          <p:nvPr/>
        </p:nvSpPr>
        <p:spPr>
          <a:xfrm>
            <a:off x="8278813" y="3534569"/>
            <a:ext cx="171450" cy="171450"/>
          </a:xfrm>
          <a:prstGeom prst="ellipse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691B07BD-DE82-F563-2C05-AAC71715A2CA}"/>
              </a:ext>
            </a:extLst>
          </p:cNvPr>
          <p:cNvSpPr/>
          <p:nvPr/>
        </p:nvSpPr>
        <p:spPr>
          <a:xfrm>
            <a:off x="7881938" y="3113882"/>
            <a:ext cx="171450" cy="171450"/>
          </a:xfrm>
          <a:prstGeom prst="ellipse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60A8E1BF-E52C-3CB4-9342-828203A08723}"/>
              </a:ext>
            </a:extLst>
          </p:cNvPr>
          <p:cNvSpPr/>
          <p:nvPr/>
        </p:nvSpPr>
        <p:spPr>
          <a:xfrm>
            <a:off x="7455695" y="3209926"/>
            <a:ext cx="171450" cy="171450"/>
          </a:xfrm>
          <a:prstGeom prst="ellipse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B8D522F9-8DD0-0CD0-0630-C148F7B6F11F}"/>
              </a:ext>
            </a:extLst>
          </p:cNvPr>
          <p:cNvSpPr/>
          <p:nvPr/>
        </p:nvSpPr>
        <p:spPr>
          <a:xfrm>
            <a:off x="7710488" y="3806825"/>
            <a:ext cx="171450" cy="171450"/>
          </a:xfrm>
          <a:prstGeom prst="ellipse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F356C845-1D5F-A5A8-F727-DFFB8C82A0AB}"/>
              </a:ext>
            </a:extLst>
          </p:cNvPr>
          <p:cNvSpPr/>
          <p:nvPr/>
        </p:nvSpPr>
        <p:spPr>
          <a:xfrm>
            <a:off x="8297069" y="3176588"/>
            <a:ext cx="171450" cy="171450"/>
          </a:xfrm>
          <a:prstGeom prst="ellipse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0BE667FA-2BA3-EF44-65E0-6450D7EF3220}"/>
              </a:ext>
            </a:extLst>
          </p:cNvPr>
          <p:cNvSpPr/>
          <p:nvPr/>
        </p:nvSpPr>
        <p:spPr>
          <a:xfrm>
            <a:off x="10082213" y="2794000"/>
            <a:ext cx="1816100" cy="1270000"/>
          </a:xfrm>
          <a:prstGeom prst="rect">
            <a:avLst/>
          </a:prstGeom>
          <a:noFill/>
          <a:ln w="57150">
            <a:solidFill>
              <a:srgbClr val="A0202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93706881-C0A3-6725-2EE1-C34018400C8A}"/>
              </a:ext>
            </a:extLst>
          </p:cNvPr>
          <p:cNvSpPr/>
          <p:nvPr/>
        </p:nvSpPr>
        <p:spPr>
          <a:xfrm>
            <a:off x="10367963" y="3143250"/>
            <a:ext cx="171450" cy="171450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20CD6AF0-8F4E-503C-9FAD-9AB2301280A6}"/>
              </a:ext>
            </a:extLst>
          </p:cNvPr>
          <p:cNvSpPr/>
          <p:nvPr/>
        </p:nvSpPr>
        <p:spPr>
          <a:xfrm>
            <a:off x="11012488" y="2992438"/>
            <a:ext cx="171450" cy="171450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FB76A600-1B2B-850A-85FF-383A9B183771}"/>
              </a:ext>
            </a:extLst>
          </p:cNvPr>
          <p:cNvSpPr/>
          <p:nvPr/>
        </p:nvSpPr>
        <p:spPr>
          <a:xfrm>
            <a:off x="10687051" y="2928938"/>
            <a:ext cx="171450" cy="17145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0A05A67B-1F25-D10E-DEE3-517A42F5AF4F}"/>
              </a:ext>
            </a:extLst>
          </p:cNvPr>
          <p:cNvSpPr/>
          <p:nvPr/>
        </p:nvSpPr>
        <p:spPr>
          <a:xfrm>
            <a:off x="11453813" y="3324225"/>
            <a:ext cx="171450" cy="17145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83639805-59C2-A578-9573-4367FB990CAF}"/>
              </a:ext>
            </a:extLst>
          </p:cNvPr>
          <p:cNvSpPr/>
          <p:nvPr/>
        </p:nvSpPr>
        <p:spPr>
          <a:xfrm>
            <a:off x="11545888" y="3816350"/>
            <a:ext cx="171450" cy="17145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A4228430-4524-0669-48DC-2AFFC62A31D5}"/>
              </a:ext>
            </a:extLst>
          </p:cNvPr>
          <p:cNvSpPr/>
          <p:nvPr/>
        </p:nvSpPr>
        <p:spPr>
          <a:xfrm>
            <a:off x="10244138" y="3663950"/>
            <a:ext cx="171450" cy="17145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02817E92-38DF-D8FC-E296-29DD4D5C400F}"/>
              </a:ext>
            </a:extLst>
          </p:cNvPr>
          <p:cNvSpPr/>
          <p:nvPr/>
        </p:nvSpPr>
        <p:spPr>
          <a:xfrm>
            <a:off x="10601326" y="3369469"/>
            <a:ext cx="171450" cy="171450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5AAD1C0F-D844-94C9-6A01-E335FC3562FF}"/>
              </a:ext>
            </a:extLst>
          </p:cNvPr>
          <p:cNvSpPr/>
          <p:nvPr/>
        </p:nvSpPr>
        <p:spPr>
          <a:xfrm>
            <a:off x="10473533" y="3759994"/>
            <a:ext cx="171450" cy="171450"/>
          </a:xfrm>
          <a:prstGeom prst="ellipse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26B5ACF1-E14D-B338-3BBA-3BBB7CBDB405}"/>
              </a:ext>
            </a:extLst>
          </p:cNvPr>
          <p:cNvSpPr/>
          <p:nvPr/>
        </p:nvSpPr>
        <p:spPr>
          <a:xfrm>
            <a:off x="10233026" y="2878931"/>
            <a:ext cx="171450" cy="171450"/>
          </a:xfrm>
          <a:prstGeom prst="ellipse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E38A5C9C-652A-C1B5-D0F1-FC798DB150F8}"/>
              </a:ext>
            </a:extLst>
          </p:cNvPr>
          <p:cNvSpPr/>
          <p:nvPr/>
        </p:nvSpPr>
        <p:spPr>
          <a:xfrm>
            <a:off x="11126789" y="3312319"/>
            <a:ext cx="171450" cy="171450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CF0062EF-48A0-78D4-DF55-74D04538DFC5}"/>
              </a:ext>
            </a:extLst>
          </p:cNvPr>
          <p:cNvSpPr/>
          <p:nvPr/>
        </p:nvSpPr>
        <p:spPr>
          <a:xfrm>
            <a:off x="10888663" y="3663950"/>
            <a:ext cx="171450" cy="171450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7207397A-259D-965A-2039-26B846637010}"/>
              </a:ext>
            </a:extLst>
          </p:cNvPr>
          <p:cNvSpPr/>
          <p:nvPr/>
        </p:nvSpPr>
        <p:spPr>
          <a:xfrm>
            <a:off x="11460163" y="2953544"/>
            <a:ext cx="171450" cy="171450"/>
          </a:xfrm>
          <a:prstGeom prst="ellipse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DF62BE88-C82B-7369-E7ED-C53F0DED4977}"/>
              </a:ext>
            </a:extLst>
          </p:cNvPr>
          <p:cNvSpPr/>
          <p:nvPr/>
        </p:nvSpPr>
        <p:spPr>
          <a:xfrm>
            <a:off x="11288713" y="3654425"/>
            <a:ext cx="171450" cy="171450"/>
          </a:xfrm>
          <a:prstGeom prst="ellipse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51D3168A-2EBA-C2D8-9785-E54E2A18E384}"/>
              </a:ext>
            </a:extLst>
          </p:cNvPr>
          <p:cNvSpPr/>
          <p:nvPr/>
        </p:nvSpPr>
        <p:spPr>
          <a:xfrm>
            <a:off x="10128251" y="3374232"/>
            <a:ext cx="171450" cy="171450"/>
          </a:xfrm>
          <a:prstGeom prst="ellipse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569808D5-5A1C-945A-2377-63DF8846E4D1}"/>
              </a:ext>
            </a:extLst>
          </p:cNvPr>
          <p:cNvSpPr/>
          <p:nvPr/>
        </p:nvSpPr>
        <p:spPr>
          <a:xfrm>
            <a:off x="11642726" y="3534569"/>
            <a:ext cx="171450" cy="171450"/>
          </a:xfrm>
          <a:prstGeom prst="ellipse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552EF98B-DD8D-063B-0AB8-EC14ABA1E803}"/>
              </a:ext>
            </a:extLst>
          </p:cNvPr>
          <p:cNvSpPr/>
          <p:nvPr/>
        </p:nvSpPr>
        <p:spPr>
          <a:xfrm>
            <a:off x="11245851" y="3113882"/>
            <a:ext cx="171450" cy="171450"/>
          </a:xfrm>
          <a:prstGeom prst="ellipse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8B4EB560-F622-FF04-FA5C-BB4D1193B0B4}"/>
              </a:ext>
            </a:extLst>
          </p:cNvPr>
          <p:cNvSpPr/>
          <p:nvPr/>
        </p:nvSpPr>
        <p:spPr>
          <a:xfrm>
            <a:off x="10819608" y="3209926"/>
            <a:ext cx="171450" cy="171450"/>
          </a:xfrm>
          <a:prstGeom prst="ellipse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A99A7ABB-3B68-FE1E-22AA-EC86B9AFB20E}"/>
              </a:ext>
            </a:extLst>
          </p:cNvPr>
          <p:cNvSpPr/>
          <p:nvPr/>
        </p:nvSpPr>
        <p:spPr>
          <a:xfrm>
            <a:off x="11074401" y="3825875"/>
            <a:ext cx="171450" cy="171450"/>
          </a:xfrm>
          <a:prstGeom prst="ellipse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AC4C0F7D-1B13-774F-B3AD-82F9AA88BF76}"/>
              </a:ext>
            </a:extLst>
          </p:cNvPr>
          <p:cNvSpPr/>
          <p:nvPr/>
        </p:nvSpPr>
        <p:spPr>
          <a:xfrm>
            <a:off x="11660982" y="3176588"/>
            <a:ext cx="171450" cy="171450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Arrow: Right 63">
            <a:extLst>
              <a:ext uri="{FF2B5EF4-FFF2-40B4-BE49-F238E27FC236}">
                <a16:creationId xmlns:a16="http://schemas.microsoft.com/office/drawing/2014/main" id="{7B6922D3-4FEE-933B-F995-D19389AF4062}"/>
              </a:ext>
            </a:extLst>
          </p:cNvPr>
          <p:cNvSpPr/>
          <p:nvPr/>
        </p:nvSpPr>
        <p:spPr>
          <a:xfrm>
            <a:off x="8807451" y="3163888"/>
            <a:ext cx="1099345" cy="59610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74ECCA81-BED0-0928-B43F-E76D5AC88C8E}"/>
              </a:ext>
            </a:extLst>
          </p:cNvPr>
          <p:cNvSpPr txBox="1"/>
          <p:nvPr/>
        </p:nvSpPr>
        <p:spPr>
          <a:xfrm>
            <a:off x="8960646" y="2992438"/>
            <a:ext cx="63976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bg2"/>
                </a:solidFill>
              </a:rPr>
              <a:t>…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044291A4-A06D-671F-9BA6-5F7CAA21E699}"/>
              </a:ext>
            </a:extLst>
          </p:cNvPr>
          <p:cNvSpPr txBox="1"/>
          <p:nvPr/>
        </p:nvSpPr>
        <p:spPr>
          <a:xfrm>
            <a:off x="7195346" y="2127250"/>
            <a:ext cx="4532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</a:rPr>
              <a:t>1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3534E75A-F6A5-E9C4-0746-4969B498701B}"/>
              </a:ext>
            </a:extLst>
          </p:cNvPr>
          <p:cNvSpPr txBox="1"/>
          <p:nvPr/>
        </p:nvSpPr>
        <p:spPr>
          <a:xfrm>
            <a:off x="11012488" y="2147272"/>
            <a:ext cx="4532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</a:rPr>
              <a:t>B</a:t>
            </a:r>
          </a:p>
        </p:txBody>
      </p:sp>
      <p:sp>
        <p:nvSpPr>
          <p:cNvPr id="68" name="Arrow: Down 67">
            <a:extLst>
              <a:ext uri="{FF2B5EF4-FFF2-40B4-BE49-F238E27FC236}">
                <a16:creationId xmlns:a16="http://schemas.microsoft.com/office/drawing/2014/main" id="{60D4098C-EEA4-54F4-A283-4E2830474E4E}"/>
              </a:ext>
            </a:extLst>
          </p:cNvPr>
          <p:cNvSpPr/>
          <p:nvPr/>
        </p:nvSpPr>
        <p:spPr>
          <a:xfrm rot="1875367">
            <a:off x="8001001" y="1934218"/>
            <a:ext cx="557214" cy="53895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Arrow: Down 68">
            <a:extLst>
              <a:ext uri="{FF2B5EF4-FFF2-40B4-BE49-F238E27FC236}">
                <a16:creationId xmlns:a16="http://schemas.microsoft.com/office/drawing/2014/main" id="{BC023ABE-DFD0-C74D-9872-8D2303A6DAC9}"/>
              </a:ext>
            </a:extLst>
          </p:cNvPr>
          <p:cNvSpPr/>
          <p:nvPr/>
        </p:nvSpPr>
        <p:spPr>
          <a:xfrm>
            <a:off x="8999223" y="1942307"/>
            <a:ext cx="557214" cy="53895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Arrow: Down 69">
            <a:extLst>
              <a:ext uri="{FF2B5EF4-FFF2-40B4-BE49-F238E27FC236}">
                <a16:creationId xmlns:a16="http://schemas.microsoft.com/office/drawing/2014/main" id="{B47EEB8A-CBF8-ABDF-7250-4B35E130426C}"/>
              </a:ext>
            </a:extLst>
          </p:cNvPr>
          <p:cNvSpPr/>
          <p:nvPr/>
        </p:nvSpPr>
        <p:spPr>
          <a:xfrm rot="19502005">
            <a:off x="10040142" y="1918594"/>
            <a:ext cx="557214" cy="53895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BD0B24B6-C9C3-2348-0146-3EECBA2916CB}"/>
              </a:ext>
            </a:extLst>
          </p:cNvPr>
          <p:cNvSpPr/>
          <p:nvPr/>
        </p:nvSpPr>
        <p:spPr>
          <a:xfrm>
            <a:off x="9566276" y="605632"/>
            <a:ext cx="171450" cy="171450"/>
          </a:xfrm>
          <a:prstGeom prst="ellipse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83B95A74-F3CE-1D27-65C7-43EE15757386}"/>
              </a:ext>
            </a:extLst>
          </p:cNvPr>
          <p:cNvSpPr/>
          <p:nvPr/>
        </p:nvSpPr>
        <p:spPr>
          <a:xfrm>
            <a:off x="10367963" y="3451622"/>
            <a:ext cx="171450" cy="171450"/>
          </a:xfrm>
          <a:prstGeom prst="ellipse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08A18FC8-E9C7-9DFC-1FE3-EDD289173542}"/>
              </a:ext>
            </a:extLst>
          </p:cNvPr>
          <p:cNvSpPr/>
          <p:nvPr/>
        </p:nvSpPr>
        <p:spPr>
          <a:xfrm>
            <a:off x="7485103" y="4420083"/>
            <a:ext cx="266218" cy="266217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933700F3-1323-E840-142C-DFD8E2BAD906}"/>
              </a:ext>
            </a:extLst>
          </p:cNvPr>
          <p:cNvSpPr/>
          <p:nvPr/>
        </p:nvSpPr>
        <p:spPr>
          <a:xfrm>
            <a:off x="7082768" y="4897434"/>
            <a:ext cx="266218" cy="266217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625A64DC-9C09-02E5-67E1-7AB29A512422}"/>
              </a:ext>
            </a:extLst>
          </p:cNvPr>
          <p:cNvSpPr/>
          <p:nvPr/>
        </p:nvSpPr>
        <p:spPr>
          <a:xfrm>
            <a:off x="7904580" y="4897434"/>
            <a:ext cx="266218" cy="266217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04938F61-A0AA-1BF7-0D7A-294BE71D66D0}"/>
              </a:ext>
            </a:extLst>
          </p:cNvPr>
          <p:cNvSpPr/>
          <p:nvPr/>
        </p:nvSpPr>
        <p:spPr>
          <a:xfrm>
            <a:off x="6718300" y="5315915"/>
            <a:ext cx="266218" cy="266217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D23FDCAF-E699-5999-0E20-B8C976B17E9D}"/>
              </a:ext>
            </a:extLst>
          </p:cNvPr>
          <p:cNvSpPr/>
          <p:nvPr/>
        </p:nvSpPr>
        <p:spPr>
          <a:xfrm>
            <a:off x="7435917" y="5301532"/>
            <a:ext cx="266218" cy="266217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B41C0490-3452-29BA-B63B-22D3B566DAB6}"/>
              </a:ext>
            </a:extLst>
          </p:cNvPr>
          <p:cNvCxnSpPr>
            <a:cxnSpLocks/>
            <a:stCxn id="76" idx="3"/>
            <a:endCxn id="78" idx="7"/>
          </p:cNvCxnSpPr>
          <p:nvPr/>
        </p:nvCxnSpPr>
        <p:spPr>
          <a:xfrm flipH="1">
            <a:off x="6945531" y="5124664"/>
            <a:ext cx="176224" cy="230238"/>
          </a:xfrm>
          <a:prstGeom prst="line">
            <a:avLst/>
          </a:prstGeom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953B0735-68CB-4810-485A-8097ADA7C059}"/>
              </a:ext>
            </a:extLst>
          </p:cNvPr>
          <p:cNvCxnSpPr>
            <a:cxnSpLocks/>
            <a:stCxn id="76" idx="5"/>
            <a:endCxn id="79" idx="1"/>
          </p:cNvCxnSpPr>
          <p:nvPr/>
        </p:nvCxnSpPr>
        <p:spPr>
          <a:xfrm>
            <a:off x="7309999" y="5124664"/>
            <a:ext cx="164905" cy="215855"/>
          </a:xfrm>
          <a:prstGeom prst="line">
            <a:avLst/>
          </a:prstGeom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612FB532-9449-080A-143C-4EE3741FD818}"/>
              </a:ext>
            </a:extLst>
          </p:cNvPr>
          <p:cNvCxnSpPr>
            <a:cxnSpLocks/>
            <a:stCxn id="75" idx="5"/>
            <a:endCxn id="77" idx="1"/>
          </p:cNvCxnSpPr>
          <p:nvPr/>
        </p:nvCxnSpPr>
        <p:spPr>
          <a:xfrm>
            <a:off x="7712334" y="4647313"/>
            <a:ext cx="231233" cy="289108"/>
          </a:xfrm>
          <a:prstGeom prst="line">
            <a:avLst/>
          </a:prstGeom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DF1542C0-F174-CE81-6147-8A17F4113B8C}"/>
              </a:ext>
            </a:extLst>
          </p:cNvPr>
          <p:cNvCxnSpPr>
            <a:cxnSpLocks/>
            <a:stCxn id="75" idx="3"/>
            <a:endCxn id="76" idx="7"/>
          </p:cNvCxnSpPr>
          <p:nvPr/>
        </p:nvCxnSpPr>
        <p:spPr>
          <a:xfrm flipH="1">
            <a:off x="7309999" y="4647313"/>
            <a:ext cx="214091" cy="289108"/>
          </a:xfrm>
          <a:prstGeom prst="line">
            <a:avLst/>
          </a:prstGeom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Oval 87">
            <a:extLst>
              <a:ext uri="{FF2B5EF4-FFF2-40B4-BE49-F238E27FC236}">
                <a16:creationId xmlns:a16="http://schemas.microsoft.com/office/drawing/2014/main" id="{343A4C9D-B35F-4728-1690-89E89AA5901F}"/>
              </a:ext>
            </a:extLst>
          </p:cNvPr>
          <p:cNvSpPr/>
          <p:nvPr/>
        </p:nvSpPr>
        <p:spPr>
          <a:xfrm>
            <a:off x="8256244" y="5301532"/>
            <a:ext cx="266218" cy="266217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BC296146-140B-1F9D-696B-2E14678C775F}"/>
              </a:ext>
            </a:extLst>
          </p:cNvPr>
          <p:cNvCxnSpPr>
            <a:cxnSpLocks/>
            <a:stCxn id="77" idx="5"/>
            <a:endCxn id="88" idx="1"/>
          </p:cNvCxnSpPr>
          <p:nvPr/>
        </p:nvCxnSpPr>
        <p:spPr>
          <a:xfrm>
            <a:off x="8131811" y="5124664"/>
            <a:ext cx="163420" cy="215855"/>
          </a:xfrm>
          <a:prstGeom prst="line">
            <a:avLst/>
          </a:prstGeom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Oval 91">
            <a:extLst>
              <a:ext uri="{FF2B5EF4-FFF2-40B4-BE49-F238E27FC236}">
                <a16:creationId xmlns:a16="http://schemas.microsoft.com/office/drawing/2014/main" id="{31C8A1D6-5A0D-7073-F824-6496D091D831}"/>
              </a:ext>
            </a:extLst>
          </p:cNvPr>
          <p:cNvSpPr/>
          <p:nvPr/>
        </p:nvSpPr>
        <p:spPr>
          <a:xfrm>
            <a:off x="10941292" y="4397375"/>
            <a:ext cx="266218" cy="266217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3E269D2E-A042-E964-7C9A-C3B22F03872C}"/>
              </a:ext>
            </a:extLst>
          </p:cNvPr>
          <p:cNvSpPr/>
          <p:nvPr/>
        </p:nvSpPr>
        <p:spPr>
          <a:xfrm>
            <a:off x="10538957" y="4874726"/>
            <a:ext cx="266218" cy="266217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94" name="Oval 93">
            <a:extLst>
              <a:ext uri="{FF2B5EF4-FFF2-40B4-BE49-F238E27FC236}">
                <a16:creationId xmlns:a16="http://schemas.microsoft.com/office/drawing/2014/main" id="{BB3E23F0-9148-9E97-6F2E-CDD5CA36A817}"/>
              </a:ext>
            </a:extLst>
          </p:cNvPr>
          <p:cNvSpPr/>
          <p:nvPr/>
        </p:nvSpPr>
        <p:spPr>
          <a:xfrm>
            <a:off x="11360769" y="4874726"/>
            <a:ext cx="266218" cy="266217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96" name="Oval 95">
            <a:extLst>
              <a:ext uri="{FF2B5EF4-FFF2-40B4-BE49-F238E27FC236}">
                <a16:creationId xmlns:a16="http://schemas.microsoft.com/office/drawing/2014/main" id="{EA6114AF-2680-F0A9-9591-FBC6FB0D7B61}"/>
              </a:ext>
            </a:extLst>
          </p:cNvPr>
          <p:cNvSpPr/>
          <p:nvPr/>
        </p:nvSpPr>
        <p:spPr>
          <a:xfrm>
            <a:off x="11035414" y="5301531"/>
            <a:ext cx="266218" cy="266217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507A8042-B21D-B34C-DBCB-186545B51401}"/>
              </a:ext>
            </a:extLst>
          </p:cNvPr>
          <p:cNvCxnSpPr>
            <a:cxnSpLocks/>
            <a:stCxn id="94" idx="3"/>
            <a:endCxn id="96" idx="7"/>
          </p:cNvCxnSpPr>
          <p:nvPr/>
        </p:nvCxnSpPr>
        <p:spPr>
          <a:xfrm flipH="1">
            <a:off x="11262645" y="5101956"/>
            <a:ext cx="137111" cy="238562"/>
          </a:xfrm>
          <a:prstGeom prst="line">
            <a:avLst/>
          </a:prstGeom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4CD9EA85-57AA-687F-5E77-00FCA91A5779}"/>
              </a:ext>
            </a:extLst>
          </p:cNvPr>
          <p:cNvCxnSpPr>
            <a:cxnSpLocks/>
            <a:stCxn id="92" idx="5"/>
            <a:endCxn id="94" idx="1"/>
          </p:cNvCxnSpPr>
          <p:nvPr/>
        </p:nvCxnSpPr>
        <p:spPr>
          <a:xfrm>
            <a:off x="11168523" y="4624605"/>
            <a:ext cx="231233" cy="289108"/>
          </a:xfrm>
          <a:prstGeom prst="line">
            <a:avLst/>
          </a:prstGeom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41D7797F-7545-84A9-FCE9-D93ECCE2D158}"/>
              </a:ext>
            </a:extLst>
          </p:cNvPr>
          <p:cNvCxnSpPr>
            <a:cxnSpLocks/>
            <a:stCxn id="92" idx="3"/>
            <a:endCxn id="93" idx="7"/>
          </p:cNvCxnSpPr>
          <p:nvPr/>
        </p:nvCxnSpPr>
        <p:spPr>
          <a:xfrm flipH="1">
            <a:off x="10766188" y="4624605"/>
            <a:ext cx="214091" cy="289108"/>
          </a:xfrm>
          <a:prstGeom prst="line">
            <a:avLst/>
          </a:prstGeom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Oval 100">
            <a:extLst>
              <a:ext uri="{FF2B5EF4-FFF2-40B4-BE49-F238E27FC236}">
                <a16:creationId xmlns:a16="http://schemas.microsoft.com/office/drawing/2014/main" id="{79990163-C146-AF15-B6D2-327098F91C7C}"/>
              </a:ext>
            </a:extLst>
          </p:cNvPr>
          <p:cNvSpPr/>
          <p:nvPr/>
        </p:nvSpPr>
        <p:spPr>
          <a:xfrm>
            <a:off x="11712433" y="5278824"/>
            <a:ext cx="266218" cy="266217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127A7019-4387-4096-9574-6AAFFC22C481}"/>
              </a:ext>
            </a:extLst>
          </p:cNvPr>
          <p:cNvCxnSpPr>
            <a:cxnSpLocks/>
            <a:stCxn id="94" idx="5"/>
            <a:endCxn id="101" idx="1"/>
          </p:cNvCxnSpPr>
          <p:nvPr/>
        </p:nvCxnSpPr>
        <p:spPr>
          <a:xfrm>
            <a:off x="11588000" y="5101956"/>
            <a:ext cx="163420" cy="215855"/>
          </a:xfrm>
          <a:prstGeom prst="line">
            <a:avLst/>
          </a:prstGeom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Arrow: Right 104">
            <a:extLst>
              <a:ext uri="{FF2B5EF4-FFF2-40B4-BE49-F238E27FC236}">
                <a16:creationId xmlns:a16="http://schemas.microsoft.com/office/drawing/2014/main" id="{5F0D16C5-326D-5B5B-C68E-52044585692F}"/>
              </a:ext>
            </a:extLst>
          </p:cNvPr>
          <p:cNvSpPr/>
          <p:nvPr/>
        </p:nvSpPr>
        <p:spPr>
          <a:xfrm>
            <a:off x="8845153" y="4726953"/>
            <a:ext cx="1099345" cy="596106"/>
          </a:xfrm>
          <a:prstGeom prst="rightArrow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999B572A-1CDD-8C85-F6CA-E78F0F4C5209}"/>
              </a:ext>
            </a:extLst>
          </p:cNvPr>
          <p:cNvSpPr txBox="1"/>
          <p:nvPr/>
        </p:nvSpPr>
        <p:spPr>
          <a:xfrm>
            <a:off x="8998348" y="4555503"/>
            <a:ext cx="63976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…</a:t>
            </a:r>
          </a:p>
        </p:txBody>
      </p:sp>
      <p:sp>
        <p:nvSpPr>
          <p:cNvPr id="113" name="Arrow: Down 112">
            <a:extLst>
              <a:ext uri="{FF2B5EF4-FFF2-40B4-BE49-F238E27FC236}">
                <a16:creationId xmlns:a16="http://schemas.microsoft.com/office/drawing/2014/main" id="{D7C1F1C1-CE98-19E9-12F1-5222F1A86668}"/>
              </a:ext>
            </a:extLst>
          </p:cNvPr>
          <p:cNvSpPr/>
          <p:nvPr/>
        </p:nvSpPr>
        <p:spPr>
          <a:xfrm rot="18448577">
            <a:off x="8119109" y="5597967"/>
            <a:ext cx="557214" cy="538957"/>
          </a:xfrm>
          <a:prstGeom prst="downArrow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Arrow: Down 113">
            <a:extLst>
              <a:ext uri="{FF2B5EF4-FFF2-40B4-BE49-F238E27FC236}">
                <a16:creationId xmlns:a16="http://schemas.microsoft.com/office/drawing/2014/main" id="{DB767968-3DCA-F0E6-CDCA-F8834FAE8BDC}"/>
              </a:ext>
            </a:extLst>
          </p:cNvPr>
          <p:cNvSpPr/>
          <p:nvPr/>
        </p:nvSpPr>
        <p:spPr>
          <a:xfrm>
            <a:off x="9117331" y="5606056"/>
            <a:ext cx="557214" cy="538957"/>
          </a:xfrm>
          <a:prstGeom prst="downArrow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Arrow: Down 114">
            <a:extLst>
              <a:ext uri="{FF2B5EF4-FFF2-40B4-BE49-F238E27FC236}">
                <a16:creationId xmlns:a16="http://schemas.microsoft.com/office/drawing/2014/main" id="{6C8C6926-F51A-F654-A360-360D9B8025FB}"/>
              </a:ext>
            </a:extLst>
          </p:cNvPr>
          <p:cNvSpPr/>
          <p:nvPr/>
        </p:nvSpPr>
        <p:spPr>
          <a:xfrm rot="2595539">
            <a:off x="10089356" y="5529286"/>
            <a:ext cx="557214" cy="538957"/>
          </a:xfrm>
          <a:prstGeom prst="downArrow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7" name="Graphic 116" descr="Handshake with solid fill">
            <a:extLst>
              <a:ext uri="{FF2B5EF4-FFF2-40B4-BE49-F238E27FC236}">
                <a16:creationId xmlns:a16="http://schemas.microsoft.com/office/drawing/2014/main" id="{361B6012-0888-70A1-6AC1-0F726C16562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972551" y="5918993"/>
            <a:ext cx="914400" cy="914400"/>
          </a:xfrm>
          <a:prstGeom prst="rect">
            <a:avLst/>
          </a:prstGeom>
        </p:spPr>
      </p:pic>
      <p:sp>
        <p:nvSpPr>
          <p:cNvPr id="118" name="TextBox 117">
            <a:extLst>
              <a:ext uri="{FF2B5EF4-FFF2-40B4-BE49-F238E27FC236}">
                <a16:creationId xmlns:a16="http://schemas.microsoft.com/office/drawing/2014/main" id="{C3D96F30-1213-A75B-84EF-9A3738A3EE36}"/>
              </a:ext>
            </a:extLst>
          </p:cNvPr>
          <p:cNvSpPr txBox="1"/>
          <p:nvPr/>
        </p:nvSpPr>
        <p:spPr>
          <a:xfrm>
            <a:off x="8858251" y="-32374"/>
            <a:ext cx="11374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err="1">
                <a:solidFill>
                  <a:schemeClr val="accent1"/>
                </a:solidFill>
              </a:rPr>
              <a:t>obs</a:t>
            </a:r>
            <a:endParaRPr lang="en-US" sz="36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29103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776A36-C1B6-CE96-B899-C442AD7DE2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Bagging – some new concepts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40CB16-C4BD-DEE3-4818-80DF4890C4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Previous methods pruned the trees to help reduce variance</a:t>
            </a:r>
          </a:p>
          <a:p>
            <a:r>
              <a:rPr lang="en-US" dirty="0"/>
              <a:t>When you prune a tree you introduce bias by making it coarser</a:t>
            </a:r>
          </a:p>
          <a:p>
            <a:r>
              <a:rPr lang="en-US" dirty="0"/>
              <a:t>Large bushy trees tend to have less bias but more variance</a:t>
            </a:r>
          </a:p>
          <a:p>
            <a:r>
              <a:rPr lang="en-US" dirty="0"/>
              <a:t>Averaging over a bunch of large bushy trees can reduce variance</a:t>
            </a:r>
          </a:p>
          <a:p>
            <a:pPr lvl="1"/>
            <a:r>
              <a:rPr lang="en-US" dirty="0"/>
              <a:t>We do not need to worry about pruning the trees with bagging!</a:t>
            </a:r>
          </a:p>
        </p:txBody>
      </p:sp>
      <p:pic>
        <p:nvPicPr>
          <p:cNvPr id="5" name="Graphic 4" descr="Deciduous tree with solid fill">
            <a:extLst>
              <a:ext uri="{FF2B5EF4-FFF2-40B4-BE49-F238E27FC236}">
                <a16:creationId xmlns:a16="http://schemas.microsoft.com/office/drawing/2014/main" id="{B46229B3-2049-52B4-E7F9-F118787DD75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363350" y="4581913"/>
            <a:ext cx="1892300" cy="1892300"/>
          </a:xfrm>
          <a:prstGeom prst="rect">
            <a:avLst/>
          </a:prstGeom>
        </p:spPr>
      </p:pic>
      <p:pic>
        <p:nvPicPr>
          <p:cNvPr id="7" name="Graphic 6" descr="Withering Tree with solid fill">
            <a:extLst>
              <a:ext uri="{FF2B5EF4-FFF2-40B4-BE49-F238E27FC236}">
                <a16:creationId xmlns:a16="http://schemas.microsoft.com/office/drawing/2014/main" id="{F2EC56ED-068E-60E5-B1CE-F0C51F1EC01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0750" y="4879163"/>
            <a:ext cx="1297800" cy="1297800"/>
          </a:xfrm>
          <a:prstGeom prst="rect">
            <a:avLst/>
          </a:prstGeom>
        </p:spPr>
      </p:pic>
      <p:pic>
        <p:nvPicPr>
          <p:cNvPr id="8" name="Graphic 7" descr="Deciduous tree with solid fill">
            <a:extLst>
              <a:ext uri="{FF2B5EF4-FFF2-40B4-BE49-F238E27FC236}">
                <a16:creationId xmlns:a16="http://schemas.microsoft.com/office/drawing/2014/main" id="{61EB7E83-328C-2D14-400A-3C42D8D7810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017000" y="4600575"/>
            <a:ext cx="1892300" cy="1892300"/>
          </a:xfrm>
          <a:prstGeom prst="rect">
            <a:avLst/>
          </a:prstGeom>
        </p:spPr>
      </p:pic>
      <p:pic>
        <p:nvPicPr>
          <p:cNvPr id="9" name="Graphic 8" descr="Deciduous tree with solid fill">
            <a:extLst>
              <a:ext uri="{FF2B5EF4-FFF2-40B4-BE49-F238E27FC236}">
                <a16:creationId xmlns:a16="http://schemas.microsoft.com/office/drawing/2014/main" id="{7F6D42B4-F784-C54A-5701-13617FED279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181000" y="4563251"/>
            <a:ext cx="1892300" cy="1892300"/>
          </a:xfrm>
          <a:prstGeom prst="rect">
            <a:avLst/>
          </a:prstGeom>
        </p:spPr>
      </p:pic>
      <p:pic>
        <p:nvPicPr>
          <p:cNvPr id="10" name="Graphic 9" descr="Deciduous tree with solid fill">
            <a:extLst>
              <a:ext uri="{FF2B5EF4-FFF2-40B4-BE49-F238E27FC236}">
                <a16:creationId xmlns:a16="http://schemas.microsoft.com/office/drawing/2014/main" id="{22C643C3-11E8-02D8-1BF3-E6A8AEC893D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545700" y="4600575"/>
            <a:ext cx="1892300" cy="1892300"/>
          </a:xfrm>
          <a:prstGeom prst="rect">
            <a:avLst/>
          </a:prstGeom>
        </p:spPr>
      </p:pic>
      <p:sp>
        <p:nvSpPr>
          <p:cNvPr id="11" name="&quot;Not Allowed&quot; Symbol 10">
            <a:extLst>
              <a:ext uri="{FF2B5EF4-FFF2-40B4-BE49-F238E27FC236}">
                <a16:creationId xmlns:a16="http://schemas.microsoft.com/office/drawing/2014/main" id="{3E0A8A6D-CA76-36A7-B4DE-110CFBEF7E87}"/>
              </a:ext>
            </a:extLst>
          </p:cNvPr>
          <p:cNvSpPr/>
          <p:nvPr/>
        </p:nvSpPr>
        <p:spPr>
          <a:xfrm>
            <a:off x="774700" y="4610100"/>
            <a:ext cx="1966100" cy="1882775"/>
          </a:xfrm>
          <a:prstGeom prst="noSmoking">
            <a:avLst/>
          </a:prstGeom>
          <a:solidFill>
            <a:srgbClr val="C00000">
              <a:alpha val="6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13" name="Graphic 12" descr="Checkbox Checked with solid fill">
            <a:extLst>
              <a:ext uri="{FF2B5EF4-FFF2-40B4-BE49-F238E27FC236}">
                <a16:creationId xmlns:a16="http://schemas.microsoft.com/office/drawing/2014/main" id="{0B63064B-8740-8D32-BE55-8D9DABD0C17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744199" y="4773012"/>
            <a:ext cx="1325563" cy="1325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5455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AE3C71-755D-9D25-C328-C0724EE220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Out-of-bag error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2F5EE6-F33D-CDE5-2EE0-907706D02D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 very nice and straightforward way to estimate test error of a bagged model</a:t>
            </a:r>
          </a:p>
          <a:p>
            <a:r>
              <a:rPr lang="en-US" dirty="0"/>
              <a:t>Bagging involves building trees from bootstrapped subsets, which uses about 2/3 of the observations</a:t>
            </a:r>
          </a:p>
          <a:p>
            <a:r>
              <a:rPr lang="en-US" dirty="0"/>
              <a:t>Remaining 1/3 not sued to fit a given tree is referred to as </a:t>
            </a:r>
            <a:r>
              <a:rPr lang="en-US" b="1" dirty="0"/>
              <a:t>out-of-bag</a:t>
            </a:r>
            <a:r>
              <a:rPr lang="en-US" dirty="0"/>
              <a:t> (OOB)</a:t>
            </a:r>
          </a:p>
          <a:p>
            <a:r>
              <a:rPr lang="en-US" dirty="0"/>
              <a:t>Can predict the response for OOB observations that we can average, giving around B/3 predictions per observation</a:t>
            </a:r>
          </a:p>
          <a:p>
            <a:r>
              <a:rPr lang="en-US" dirty="0"/>
              <a:t>Essentially a free leave-one-out cross-validation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05932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0A1FA5-4474-FEE8-2DB9-817CD4EA31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Random forest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FC7DB0-7415-5830-8590-63FF32F394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Improvement over bagged trees</a:t>
            </a:r>
          </a:p>
          <a:p>
            <a:r>
              <a:rPr lang="en-US" dirty="0"/>
              <a:t>Include a small tweak that </a:t>
            </a:r>
            <a:r>
              <a:rPr lang="en-US" i="1" dirty="0">
                <a:solidFill>
                  <a:schemeClr val="accent1"/>
                </a:solidFill>
              </a:rPr>
              <a:t>decorrelates</a:t>
            </a:r>
            <a:r>
              <a:rPr lang="en-US" dirty="0"/>
              <a:t> the trees</a:t>
            </a:r>
          </a:p>
          <a:p>
            <a:r>
              <a:rPr lang="en-US" dirty="0"/>
              <a:t>This then reduces the variance when we average over lots of bushy trees</a:t>
            </a:r>
          </a:p>
        </p:txBody>
      </p:sp>
      <p:pic>
        <p:nvPicPr>
          <p:cNvPr id="4" name="Graphic 3" descr="Deciduous tree with solid fill">
            <a:extLst>
              <a:ext uri="{FF2B5EF4-FFF2-40B4-BE49-F238E27FC236}">
                <a16:creationId xmlns:a16="http://schemas.microsoft.com/office/drawing/2014/main" id="{D8BBF035-E9A9-6DF3-3BDA-4864795AEF5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309250" y="4581913"/>
            <a:ext cx="1892300" cy="1892300"/>
          </a:xfrm>
          <a:prstGeom prst="rect">
            <a:avLst/>
          </a:prstGeom>
        </p:spPr>
      </p:pic>
      <p:pic>
        <p:nvPicPr>
          <p:cNvPr id="5" name="Graphic 4" descr="Deciduous tree with solid fill">
            <a:extLst>
              <a:ext uri="{FF2B5EF4-FFF2-40B4-BE49-F238E27FC236}">
                <a16:creationId xmlns:a16="http://schemas.microsoft.com/office/drawing/2014/main" id="{83FCD61E-3B43-A0BB-50C0-AA3B5DB1432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62900" y="4600575"/>
            <a:ext cx="1892300" cy="1892300"/>
          </a:xfrm>
          <a:prstGeom prst="rect">
            <a:avLst/>
          </a:prstGeom>
        </p:spPr>
      </p:pic>
      <p:pic>
        <p:nvPicPr>
          <p:cNvPr id="6" name="Graphic 5" descr="Deciduous tree with solid fill">
            <a:extLst>
              <a:ext uri="{FF2B5EF4-FFF2-40B4-BE49-F238E27FC236}">
                <a16:creationId xmlns:a16="http://schemas.microsoft.com/office/drawing/2014/main" id="{3DB6FA58-3251-C698-6F51-95E32C771AC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26900" y="4563251"/>
            <a:ext cx="1892300" cy="1892300"/>
          </a:xfrm>
          <a:prstGeom prst="rect">
            <a:avLst/>
          </a:prstGeom>
        </p:spPr>
      </p:pic>
      <p:pic>
        <p:nvPicPr>
          <p:cNvPr id="7" name="Graphic 6" descr="Deciduous tree with solid fill">
            <a:extLst>
              <a:ext uri="{FF2B5EF4-FFF2-40B4-BE49-F238E27FC236}">
                <a16:creationId xmlns:a16="http://schemas.microsoft.com/office/drawing/2014/main" id="{6FE8EBD2-615D-F2DC-48CF-81D5F72E40A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491600" y="4600575"/>
            <a:ext cx="1892300" cy="1892300"/>
          </a:xfrm>
          <a:prstGeom prst="rect">
            <a:avLst/>
          </a:prstGeom>
        </p:spPr>
      </p:pic>
      <p:pic>
        <p:nvPicPr>
          <p:cNvPr id="8" name="Graphic 7" descr="Checkbox Checked with solid fill">
            <a:extLst>
              <a:ext uri="{FF2B5EF4-FFF2-40B4-BE49-F238E27FC236}">
                <a16:creationId xmlns:a16="http://schemas.microsoft.com/office/drawing/2014/main" id="{D74B3F00-E3A4-C66A-190D-224C878D6CF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690099" y="4773012"/>
            <a:ext cx="1325563" cy="1325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32982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Box 25">
            <a:extLst>
              <a:ext uri="{FF2B5EF4-FFF2-40B4-BE49-F238E27FC236}">
                <a16:creationId xmlns:a16="http://schemas.microsoft.com/office/drawing/2014/main" id="{20F441F8-13FE-29F9-966E-55541634C191}"/>
              </a:ext>
            </a:extLst>
          </p:cNvPr>
          <p:cNvSpPr txBox="1"/>
          <p:nvPr/>
        </p:nvSpPr>
        <p:spPr>
          <a:xfrm>
            <a:off x="10522756" y="981353"/>
            <a:ext cx="389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9C9CF5-8504-32A8-FC03-E532726830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Random forest, explained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D00CE4-1956-FB70-F5F0-37911394ED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4933950" cy="4860925"/>
          </a:xfrm>
        </p:spPr>
        <p:txBody>
          <a:bodyPr>
            <a:normAutofit fontScale="92500"/>
          </a:bodyPr>
          <a:lstStyle/>
          <a:p>
            <a:r>
              <a:rPr lang="en-US" dirty="0"/>
              <a:t>Build a number of decision trees on bootstrapped training samples (as with </a:t>
            </a:r>
            <a:r>
              <a:rPr lang="en-US" i="1" dirty="0">
                <a:solidFill>
                  <a:schemeClr val="accent1"/>
                </a:solidFill>
              </a:rPr>
              <a:t>bagging</a:t>
            </a:r>
            <a:r>
              <a:rPr lang="en-US" dirty="0"/>
              <a:t>)</a:t>
            </a:r>
          </a:p>
          <a:p>
            <a:r>
              <a:rPr lang="en-US" dirty="0"/>
              <a:t>When building a tree, each time a split in the tree is considered: </a:t>
            </a:r>
            <a:r>
              <a:rPr lang="en-US" b="1" dirty="0"/>
              <a:t>a random selection of </a:t>
            </a:r>
            <a:r>
              <a:rPr lang="en-US" b="1" i="1" dirty="0">
                <a:solidFill>
                  <a:schemeClr val="accent1"/>
                </a:solidFill>
              </a:rPr>
              <a:t>m</a:t>
            </a:r>
            <a:r>
              <a:rPr lang="en-US" b="1" dirty="0"/>
              <a:t> predictors</a:t>
            </a:r>
            <a:r>
              <a:rPr lang="en-US" dirty="0"/>
              <a:t> is chosen as potential split candidates from the full set of </a:t>
            </a:r>
            <a:r>
              <a:rPr lang="en-US" i="1" dirty="0">
                <a:solidFill>
                  <a:schemeClr val="accent1"/>
                </a:solidFill>
              </a:rPr>
              <a:t>p</a:t>
            </a:r>
            <a:r>
              <a:rPr lang="en-US" dirty="0"/>
              <a:t> predictors</a:t>
            </a:r>
          </a:p>
          <a:p>
            <a:pPr lvl="1"/>
            <a:r>
              <a:rPr lang="en-US" dirty="0"/>
              <a:t>The split is allowed to use only one of those </a:t>
            </a:r>
            <a:r>
              <a:rPr lang="en-US" i="1" dirty="0">
                <a:solidFill>
                  <a:schemeClr val="accent1"/>
                </a:solidFill>
              </a:rPr>
              <a:t>m</a:t>
            </a:r>
            <a:r>
              <a:rPr lang="en-US" dirty="0"/>
              <a:t> predictors</a:t>
            </a:r>
          </a:p>
          <a:p>
            <a:pPr lvl="1"/>
            <a:r>
              <a:rPr lang="en-US" dirty="0"/>
              <a:t>A new set of </a:t>
            </a:r>
            <a:r>
              <a:rPr lang="en-US" i="1" dirty="0">
                <a:solidFill>
                  <a:schemeClr val="accent1"/>
                </a:solidFill>
              </a:rPr>
              <a:t>m</a:t>
            </a:r>
            <a:r>
              <a:rPr lang="en-US" dirty="0"/>
              <a:t> predictors is taken at each split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CC0716FF-F1D0-1FF1-6E3B-B6B34F573A0E}"/>
              </a:ext>
            </a:extLst>
          </p:cNvPr>
          <p:cNvSpPr/>
          <p:nvPr/>
        </p:nvSpPr>
        <p:spPr>
          <a:xfrm>
            <a:off x="7504153" y="3524733"/>
            <a:ext cx="266218" cy="266217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11A9B4BE-2FFF-FD2E-0147-F9B8710D3375}"/>
              </a:ext>
            </a:extLst>
          </p:cNvPr>
          <p:cNvSpPr/>
          <p:nvPr/>
        </p:nvSpPr>
        <p:spPr>
          <a:xfrm>
            <a:off x="7101818" y="4002084"/>
            <a:ext cx="266218" cy="266217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EC32A993-1ADF-8053-0C6B-5E06954C91C1}"/>
              </a:ext>
            </a:extLst>
          </p:cNvPr>
          <p:cNvSpPr/>
          <p:nvPr/>
        </p:nvSpPr>
        <p:spPr>
          <a:xfrm>
            <a:off x="7923630" y="4002084"/>
            <a:ext cx="266218" cy="266217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3BE658E-6F01-DEAE-6C00-93C9BCFD0F12}"/>
              </a:ext>
            </a:extLst>
          </p:cNvPr>
          <p:cNvSpPr/>
          <p:nvPr/>
        </p:nvSpPr>
        <p:spPr>
          <a:xfrm>
            <a:off x="6737350" y="4420565"/>
            <a:ext cx="266218" cy="266217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88FA1542-F501-01EF-63C1-35DFE30D560A}"/>
              </a:ext>
            </a:extLst>
          </p:cNvPr>
          <p:cNvSpPr/>
          <p:nvPr/>
        </p:nvSpPr>
        <p:spPr>
          <a:xfrm>
            <a:off x="7454967" y="4406182"/>
            <a:ext cx="266218" cy="266217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1942B25-2360-42B0-6698-4F14CB1186BC}"/>
              </a:ext>
            </a:extLst>
          </p:cNvPr>
          <p:cNvCxnSpPr>
            <a:cxnSpLocks/>
            <a:stCxn id="5" idx="3"/>
            <a:endCxn id="7" idx="7"/>
          </p:cNvCxnSpPr>
          <p:nvPr/>
        </p:nvCxnSpPr>
        <p:spPr>
          <a:xfrm flipH="1">
            <a:off x="6964581" y="4229314"/>
            <a:ext cx="176224" cy="230238"/>
          </a:xfrm>
          <a:prstGeom prst="line">
            <a:avLst/>
          </a:prstGeom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AC09392-1600-9A6D-AA8B-6A63BFDDB136}"/>
              </a:ext>
            </a:extLst>
          </p:cNvPr>
          <p:cNvCxnSpPr>
            <a:cxnSpLocks/>
            <a:stCxn id="5" idx="5"/>
            <a:endCxn id="8" idx="1"/>
          </p:cNvCxnSpPr>
          <p:nvPr/>
        </p:nvCxnSpPr>
        <p:spPr>
          <a:xfrm>
            <a:off x="7329049" y="4229314"/>
            <a:ext cx="164905" cy="215855"/>
          </a:xfrm>
          <a:prstGeom prst="line">
            <a:avLst/>
          </a:prstGeom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A1CC451-F9B3-A1B5-DA98-130CF4B5A4F4}"/>
              </a:ext>
            </a:extLst>
          </p:cNvPr>
          <p:cNvCxnSpPr>
            <a:cxnSpLocks/>
            <a:stCxn id="4" idx="5"/>
            <a:endCxn id="6" idx="1"/>
          </p:cNvCxnSpPr>
          <p:nvPr/>
        </p:nvCxnSpPr>
        <p:spPr>
          <a:xfrm>
            <a:off x="7731384" y="3751963"/>
            <a:ext cx="231233" cy="289108"/>
          </a:xfrm>
          <a:prstGeom prst="line">
            <a:avLst/>
          </a:prstGeom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6FE3E57-019F-44C3-86CB-D30A4264CFA0}"/>
              </a:ext>
            </a:extLst>
          </p:cNvPr>
          <p:cNvCxnSpPr>
            <a:cxnSpLocks/>
            <a:stCxn id="4" idx="3"/>
            <a:endCxn id="5" idx="7"/>
          </p:cNvCxnSpPr>
          <p:nvPr/>
        </p:nvCxnSpPr>
        <p:spPr>
          <a:xfrm flipH="1">
            <a:off x="7329049" y="3751963"/>
            <a:ext cx="214091" cy="289108"/>
          </a:xfrm>
          <a:prstGeom prst="line">
            <a:avLst/>
          </a:prstGeom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EAB020F8-E5C1-5CDD-7088-7D292423BE6E}"/>
              </a:ext>
            </a:extLst>
          </p:cNvPr>
          <p:cNvSpPr/>
          <p:nvPr/>
        </p:nvSpPr>
        <p:spPr>
          <a:xfrm>
            <a:off x="8275294" y="4406182"/>
            <a:ext cx="266218" cy="266217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68446B8-86E0-564D-CB04-32FC4531EA9F}"/>
              </a:ext>
            </a:extLst>
          </p:cNvPr>
          <p:cNvCxnSpPr>
            <a:cxnSpLocks/>
            <a:stCxn id="6" idx="5"/>
            <a:endCxn id="13" idx="1"/>
          </p:cNvCxnSpPr>
          <p:nvPr/>
        </p:nvCxnSpPr>
        <p:spPr>
          <a:xfrm>
            <a:off x="8150861" y="4229314"/>
            <a:ext cx="163420" cy="215855"/>
          </a:xfrm>
          <a:prstGeom prst="line">
            <a:avLst/>
          </a:prstGeom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BA6B6F00-D2CF-1A2C-8A64-B4FA2B4A59B1}"/>
              </a:ext>
            </a:extLst>
          </p:cNvPr>
          <p:cNvSpPr/>
          <p:nvPr/>
        </p:nvSpPr>
        <p:spPr>
          <a:xfrm>
            <a:off x="8166100" y="641350"/>
            <a:ext cx="3187700" cy="1049338"/>
          </a:xfrm>
          <a:prstGeom prst="rect">
            <a:avLst/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E44F0C4-A9C7-FB73-1A57-8E7D7E17E819}"/>
              </a:ext>
            </a:extLst>
          </p:cNvPr>
          <p:cNvSpPr txBox="1"/>
          <p:nvPr/>
        </p:nvSpPr>
        <p:spPr>
          <a:xfrm>
            <a:off x="9223688" y="691634"/>
            <a:ext cx="12223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Predictors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42977C6-D824-387E-24B5-29E37487AC27}"/>
              </a:ext>
            </a:extLst>
          </p:cNvPr>
          <p:cNvSpPr txBox="1"/>
          <p:nvPr/>
        </p:nvSpPr>
        <p:spPr>
          <a:xfrm>
            <a:off x="8223250" y="1321356"/>
            <a:ext cx="30860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1,     2,     3,   4,      5,    6,   …     </a:t>
            </a:r>
            <a:r>
              <a:rPr lang="en-US" i="1" dirty="0">
                <a:solidFill>
                  <a:schemeClr val="accent1"/>
                </a:solidFill>
              </a:rPr>
              <a:t>p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AC9CDC4-6BCC-620F-63D8-C86996A5F3FE}"/>
              </a:ext>
            </a:extLst>
          </p:cNvPr>
          <p:cNvSpPr/>
          <p:nvPr/>
        </p:nvSpPr>
        <p:spPr>
          <a:xfrm>
            <a:off x="8273635" y="1111250"/>
            <a:ext cx="202445" cy="21010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6DFB6D9-5E4F-0E36-0E33-0258C056FC1F}"/>
              </a:ext>
            </a:extLst>
          </p:cNvPr>
          <p:cNvSpPr/>
          <p:nvPr/>
        </p:nvSpPr>
        <p:spPr>
          <a:xfrm>
            <a:off x="8664286" y="1111250"/>
            <a:ext cx="202445" cy="210106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016570F-263A-5DA9-DEC3-3D83D6D083B6}"/>
              </a:ext>
            </a:extLst>
          </p:cNvPr>
          <p:cNvSpPr/>
          <p:nvPr/>
        </p:nvSpPr>
        <p:spPr>
          <a:xfrm>
            <a:off x="9054937" y="1111250"/>
            <a:ext cx="202445" cy="21010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BFEF747-2D17-B0E3-E761-809D6FD09277}"/>
              </a:ext>
            </a:extLst>
          </p:cNvPr>
          <p:cNvSpPr/>
          <p:nvPr/>
        </p:nvSpPr>
        <p:spPr>
          <a:xfrm>
            <a:off x="9445588" y="1111250"/>
            <a:ext cx="202445" cy="210106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377E86E-0B22-DEF6-FB8F-FDFDEB23900E}"/>
              </a:ext>
            </a:extLst>
          </p:cNvPr>
          <p:cNvSpPr/>
          <p:nvPr/>
        </p:nvSpPr>
        <p:spPr>
          <a:xfrm>
            <a:off x="9834876" y="1111250"/>
            <a:ext cx="202445" cy="21010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2860922-6B2D-2084-E3E2-97DBE89FBF92}"/>
              </a:ext>
            </a:extLst>
          </p:cNvPr>
          <p:cNvSpPr/>
          <p:nvPr/>
        </p:nvSpPr>
        <p:spPr>
          <a:xfrm>
            <a:off x="10225527" y="1111250"/>
            <a:ext cx="202445" cy="210106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C248EF3-2F3F-AC38-9587-39C3DD7D9935}"/>
              </a:ext>
            </a:extLst>
          </p:cNvPr>
          <p:cNvSpPr/>
          <p:nvPr/>
        </p:nvSpPr>
        <p:spPr>
          <a:xfrm>
            <a:off x="11006829" y="1111250"/>
            <a:ext cx="202445" cy="21010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1CB8B17-2C24-9B13-5B6D-1415673464BC}"/>
              </a:ext>
            </a:extLst>
          </p:cNvPr>
          <p:cNvSpPr/>
          <p:nvPr/>
        </p:nvSpPr>
        <p:spPr>
          <a:xfrm>
            <a:off x="6718300" y="1765300"/>
            <a:ext cx="1816100" cy="1270000"/>
          </a:xfrm>
          <a:prstGeom prst="rect">
            <a:avLst/>
          </a:prstGeom>
          <a:noFill/>
          <a:ln w="57150">
            <a:solidFill>
              <a:srgbClr val="A0202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FD7CB47E-76A4-75D0-4362-A3C859EF934D}"/>
              </a:ext>
            </a:extLst>
          </p:cNvPr>
          <p:cNvSpPr/>
          <p:nvPr/>
        </p:nvSpPr>
        <p:spPr>
          <a:xfrm>
            <a:off x="7004050" y="2114550"/>
            <a:ext cx="171450" cy="171450"/>
          </a:xfrm>
          <a:prstGeom prst="ellipse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70B71E8F-CDBF-798F-7B63-6EA57D738063}"/>
              </a:ext>
            </a:extLst>
          </p:cNvPr>
          <p:cNvSpPr/>
          <p:nvPr/>
        </p:nvSpPr>
        <p:spPr>
          <a:xfrm>
            <a:off x="7648575" y="1963738"/>
            <a:ext cx="171450" cy="17145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DD57D94E-5F78-5734-1D91-0EB6AB0D655C}"/>
              </a:ext>
            </a:extLst>
          </p:cNvPr>
          <p:cNvSpPr/>
          <p:nvPr/>
        </p:nvSpPr>
        <p:spPr>
          <a:xfrm>
            <a:off x="7323138" y="1900238"/>
            <a:ext cx="171450" cy="171450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ED9DC36C-AC0E-FF5E-EE11-BB28FDDE293E}"/>
              </a:ext>
            </a:extLst>
          </p:cNvPr>
          <p:cNvSpPr/>
          <p:nvPr/>
        </p:nvSpPr>
        <p:spPr>
          <a:xfrm>
            <a:off x="8058150" y="2327275"/>
            <a:ext cx="171450" cy="171450"/>
          </a:xfrm>
          <a:prstGeom prst="ellipse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5E2AA4F0-497A-3414-390C-1EA0C48B7243}"/>
              </a:ext>
            </a:extLst>
          </p:cNvPr>
          <p:cNvSpPr/>
          <p:nvPr/>
        </p:nvSpPr>
        <p:spPr>
          <a:xfrm>
            <a:off x="8169275" y="2768600"/>
            <a:ext cx="171450" cy="171450"/>
          </a:xfrm>
          <a:prstGeom prst="ellipse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C947A48D-E84D-09B1-C9B8-6FB134A73147}"/>
              </a:ext>
            </a:extLst>
          </p:cNvPr>
          <p:cNvSpPr/>
          <p:nvPr/>
        </p:nvSpPr>
        <p:spPr>
          <a:xfrm>
            <a:off x="6880225" y="2635250"/>
            <a:ext cx="171450" cy="171450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E94441CF-2897-3977-5ABD-B77916864336}"/>
              </a:ext>
            </a:extLst>
          </p:cNvPr>
          <p:cNvSpPr/>
          <p:nvPr/>
        </p:nvSpPr>
        <p:spPr>
          <a:xfrm>
            <a:off x="7237413" y="2340769"/>
            <a:ext cx="171450" cy="171450"/>
          </a:xfrm>
          <a:prstGeom prst="ellipse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D0120B62-737D-4CD1-00FF-A488C73F5D87}"/>
              </a:ext>
            </a:extLst>
          </p:cNvPr>
          <p:cNvSpPr/>
          <p:nvPr/>
        </p:nvSpPr>
        <p:spPr>
          <a:xfrm>
            <a:off x="7109620" y="2731294"/>
            <a:ext cx="171450" cy="171450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E62E0358-C09B-9400-8915-7752F44C5158}"/>
              </a:ext>
            </a:extLst>
          </p:cNvPr>
          <p:cNvSpPr/>
          <p:nvPr/>
        </p:nvSpPr>
        <p:spPr>
          <a:xfrm>
            <a:off x="6869113" y="1850231"/>
            <a:ext cx="171450" cy="171450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D465CA9D-82F6-D69C-4713-99C818107FFB}"/>
              </a:ext>
            </a:extLst>
          </p:cNvPr>
          <p:cNvSpPr/>
          <p:nvPr/>
        </p:nvSpPr>
        <p:spPr>
          <a:xfrm>
            <a:off x="7762876" y="2283619"/>
            <a:ext cx="171450" cy="171450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8F768071-73E6-B16A-7ED5-CE0B80133F13}"/>
              </a:ext>
            </a:extLst>
          </p:cNvPr>
          <p:cNvSpPr/>
          <p:nvPr/>
        </p:nvSpPr>
        <p:spPr>
          <a:xfrm>
            <a:off x="7524750" y="2635250"/>
            <a:ext cx="171450" cy="171450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BFF03F36-BDBD-E5D1-1792-DB7FA2BA5973}"/>
              </a:ext>
            </a:extLst>
          </p:cNvPr>
          <p:cNvSpPr/>
          <p:nvPr/>
        </p:nvSpPr>
        <p:spPr>
          <a:xfrm>
            <a:off x="8096250" y="1924844"/>
            <a:ext cx="171450" cy="171450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81535F3C-0735-85FD-18D1-9CBDEDD96D70}"/>
              </a:ext>
            </a:extLst>
          </p:cNvPr>
          <p:cNvSpPr/>
          <p:nvPr/>
        </p:nvSpPr>
        <p:spPr>
          <a:xfrm>
            <a:off x="7924800" y="2625725"/>
            <a:ext cx="171450" cy="171450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3F2A77B2-B027-E42E-4A3E-3C11C9599D5B}"/>
              </a:ext>
            </a:extLst>
          </p:cNvPr>
          <p:cNvSpPr/>
          <p:nvPr/>
        </p:nvSpPr>
        <p:spPr>
          <a:xfrm>
            <a:off x="6764338" y="2345532"/>
            <a:ext cx="171450" cy="171450"/>
          </a:xfrm>
          <a:prstGeom prst="ellipse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17A179F4-DF3A-477C-48B0-2AE5A5ABFED4}"/>
              </a:ext>
            </a:extLst>
          </p:cNvPr>
          <p:cNvSpPr/>
          <p:nvPr/>
        </p:nvSpPr>
        <p:spPr>
          <a:xfrm>
            <a:off x="8278813" y="2505869"/>
            <a:ext cx="171450" cy="171450"/>
          </a:xfrm>
          <a:prstGeom prst="ellipse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0DF65627-3C94-DE90-D233-0EE6788E86EA}"/>
              </a:ext>
            </a:extLst>
          </p:cNvPr>
          <p:cNvSpPr/>
          <p:nvPr/>
        </p:nvSpPr>
        <p:spPr>
          <a:xfrm>
            <a:off x="7881938" y="2085182"/>
            <a:ext cx="171450" cy="171450"/>
          </a:xfrm>
          <a:prstGeom prst="ellipse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5F8FFF3D-DC89-7D36-880F-2BDE31CB76F2}"/>
              </a:ext>
            </a:extLst>
          </p:cNvPr>
          <p:cNvSpPr/>
          <p:nvPr/>
        </p:nvSpPr>
        <p:spPr>
          <a:xfrm>
            <a:off x="7455695" y="2181226"/>
            <a:ext cx="171450" cy="171450"/>
          </a:xfrm>
          <a:prstGeom prst="ellipse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EA6C58D7-22FD-8774-F334-E721FAF975D9}"/>
              </a:ext>
            </a:extLst>
          </p:cNvPr>
          <p:cNvSpPr/>
          <p:nvPr/>
        </p:nvSpPr>
        <p:spPr>
          <a:xfrm>
            <a:off x="7710488" y="2778125"/>
            <a:ext cx="171450" cy="171450"/>
          </a:xfrm>
          <a:prstGeom prst="ellipse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F6F18A4E-D6A2-13DF-3218-1C6F967EF2C7}"/>
              </a:ext>
            </a:extLst>
          </p:cNvPr>
          <p:cNvSpPr/>
          <p:nvPr/>
        </p:nvSpPr>
        <p:spPr>
          <a:xfrm>
            <a:off x="8297069" y="2147888"/>
            <a:ext cx="171450" cy="171450"/>
          </a:xfrm>
          <a:prstGeom prst="ellipse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32EC94F3-6CCB-1D16-D14E-BF34E939AB2B}"/>
              </a:ext>
            </a:extLst>
          </p:cNvPr>
          <p:cNvSpPr/>
          <p:nvPr/>
        </p:nvSpPr>
        <p:spPr>
          <a:xfrm>
            <a:off x="10082213" y="1765300"/>
            <a:ext cx="1816100" cy="1270000"/>
          </a:xfrm>
          <a:prstGeom prst="rect">
            <a:avLst/>
          </a:prstGeom>
          <a:noFill/>
          <a:ln w="57150">
            <a:solidFill>
              <a:srgbClr val="A0202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A8B0109B-6EBC-9414-D829-993EA2F2353C}"/>
              </a:ext>
            </a:extLst>
          </p:cNvPr>
          <p:cNvSpPr/>
          <p:nvPr/>
        </p:nvSpPr>
        <p:spPr>
          <a:xfrm>
            <a:off x="10367963" y="2114550"/>
            <a:ext cx="171450" cy="171450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C430F197-603F-3DA2-3B69-F18A1EEFBE23}"/>
              </a:ext>
            </a:extLst>
          </p:cNvPr>
          <p:cNvSpPr/>
          <p:nvPr/>
        </p:nvSpPr>
        <p:spPr>
          <a:xfrm>
            <a:off x="11012488" y="1963738"/>
            <a:ext cx="171450" cy="171450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1B635C8A-6DBA-3578-EC79-B26474A2AF1D}"/>
              </a:ext>
            </a:extLst>
          </p:cNvPr>
          <p:cNvSpPr/>
          <p:nvPr/>
        </p:nvSpPr>
        <p:spPr>
          <a:xfrm>
            <a:off x="10687051" y="1900238"/>
            <a:ext cx="171450" cy="17145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7749D6C0-EB6B-B7E5-55B1-F3D7FDC0EA76}"/>
              </a:ext>
            </a:extLst>
          </p:cNvPr>
          <p:cNvSpPr/>
          <p:nvPr/>
        </p:nvSpPr>
        <p:spPr>
          <a:xfrm>
            <a:off x="11453813" y="2295525"/>
            <a:ext cx="171450" cy="17145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B1CDAE0D-D3E2-04D1-F06F-E1EDFFCFB1CE}"/>
              </a:ext>
            </a:extLst>
          </p:cNvPr>
          <p:cNvSpPr/>
          <p:nvPr/>
        </p:nvSpPr>
        <p:spPr>
          <a:xfrm>
            <a:off x="11545888" y="2787650"/>
            <a:ext cx="171450" cy="17145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433D85AE-CE95-C5A5-BCA8-710D2DC3FF63}"/>
              </a:ext>
            </a:extLst>
          </p:cNvPr>
          <p:cNvSpPr/>
          <p:nvPr/>
        </p:nvSpPr>
        <p:spPr>
          <a:xfrm>
            <a:off x="10244138" y="2635250"/>
            <a:ext cx="171450" cy="17145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3F9D9666-3564-2C9C-0570-6509455A8902}"/>
              </a:ext>
            </a:extLst>
          </p:cNvPr>
          <p:cNvSpPr/>
          <p:nvPr/>
        </p:nvSpPr>
        <p:spPr>
          <a:xfrm>
            <a:off x="10601326" y="2340769"/>
            <a:ext cx="171450" cy="171450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6E12F82B-4A45-F267-9C83-CB693373C94A}"/>
              </a:ext>
            </a:extLst>
          </p:cNvPr>
          <p:cNvSpPr/>
          <p:nvPr/>
        </p:nvSpPr>
        <p:spPr>
          <a:xfrm>
            <a:off x="10473533" y="2731294"/>
            <a:ext cx="171450" cy="171450"/>
          </a:xfrm>
          <a:prstGeom prst="ellipse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698BB949-0BF7-6173-7440-98EE8F063640}"/>
              </a:ext>
            </a:extLst>
          </p:cNvPr>
          <p:cNvSpPr/>
          <p:nvPr/>
        </p:nvSpPr>
        <p:spPr>
          <a:xfrm>
            <a:off x="10233026" y="1850231"/>
            <a:ext cx="171450" cy="171450"/>
          </a:xfrm>
          <a:prstGeom prst="ellipse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8BF1761F-25AA-59B3-DA40-0C05BA338F15}"/>
              </a:ext>
            </a:extLst>
          </p:cNvPr>
          <p:cNvSpPr/>
          <p:nvPr/>
        </p:nvSpPr>
        <p:spPr>
          <a:xfrm>
            <a:off x="11126789" y="2283619"/>
            <a:ext cx="171450" cy="171450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B5C4A510-4934-DC4F-A69B-C9CD98F11EA5}"/>
              </a:ext>
            </a:extLst>
          </p:cNvPr>
          <p:cNvSpPr/>
          <p:nvPr/>
        </p:nvSpPr>
        <p:spPr>
          <a:xfrm>
            <a:off x="10888663" y="2635250"/>
            <a:ext cx="171450" cy="171450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CC71C8EB-0C1D-BBD2-BCD9-0FCEBE04A562}"/>
              </a:ext>
            </a:extLst>
          </p:cNvPr>
          <p:cNvSpPr/>
          <p:nvPr/>
        </p:nvSpPr>
        <p:spPr>
          <a:xfrm>
            <a:off x="11460163" y="1924844"/>
            <a:ext cx="171450" cy="171450"/>
          </a:xfrm>
          <a:prstGeom prst="ellipse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567EEBD5-B021-164E-E159-2BB7E44CC8D6}"/>
              </a:ext>
            </a:extLst>
          </p:cNvPr>
          <p:cNvSpPr/>
          <p:nvPr/>
        </p:nvSpPr>
        <p:spPr>
          <a:xfrm>
            <a:off x="11288713" y="2625725"/>
            <a:ext cx="171450" cy="171450"/>
          </a:xfrm>
          <a:prstGeom prst="ellipse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46003084-2543-B2FB-F9F9-06CA9962A08D}"/>
              </a:ext>
            </a:extLst>
          </p:cNvPr>
          <p:cNvSpPr/>
          <p:nvPr/>
        </p:nvSpPr>
        <p:spPr>
          <a:xfrm>
            <a:off x="10128251" y="2345532"/>
            <a:ext cx="171450" cy="171450"/>
          </a:xfrm>
          <a:prstGeom prst="ellipse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50F297F2-6802-F92C-CE6B-A95973D457CC}"/>
              </a:ext>
            </a:extLst>
          </p:cNvPr>
          <p:cNvSpPr/>
          <p:nvPr/>
        </p:nvSpPr>
        <p:spPr>
          <a:xfrm>
            <a:off x="11642726" y="2505869"/>
            <a:ext cx="171450" cy="171450"/>
          </a:xfrm>
          <a:prstGeom prst="ellipse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E177FB5A-A611-2531-18F6-A693FBE090CE}"/>
              </a:ext>
            </a:extLst>
          </p:cNvPr>
          <p:cNvSpPr/>
          <p:nvPr/>
        </p:nvSpPr>
        <p:spPr>
          <a:xfrm>
            <a:off x="11245851" y="2085182"/>
            <a:ext cx="171450" cy="171450"/>
          </a:xfrm>
          <a:prstGeom prst="ellipse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23D934CF-5175-9C42-0A93-2CA4B6D63B99}"/>
              </a:ext>
            </a:extLst>
          </p:cNvPr>
          <p:cNvSpPr/>
          <p:nvPr/>
        </p:nvSpPr>
        <p:spPr>
          <a:xfrm>
            <a:off x="10819608" y="2181226"/>
            <a:ext cx="171450" cy="171450"/>
          </a:xfrm>
          <a:prstGeom prst="ellipse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C38CE982-E6E5-E3BA-1879-43294E8B699A}"/>
              </a:ext>
            </a:extLst>
          </p:cNvPr>
          <p:cNvSpPr/>
          <p:nvPr/>
        </p:nvSpPr>
        <p:spPr>
          <a:xfrm>
            <a:off x="11074401" y="2797175"/>
            <a:ext cx="171450" cy="171450"/>
          </a:xfrm>
          <a:prstGeom prst="ellipse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40B648D8-7208-5712-9F5C-629E3F49AA7D}"/>
              </a:ext>
            </a:extLst>
          </p:cNvPr>
          <p:cNvSpPr/>
          <p:nvPr/>
        </p:nvSpPr>
        <p:spPr>
          <a:xfrm>
            <a:off x="11660982" y="2147888"/>
            <a:ext cx="171450" cy="171450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Arrow: Right 66">
            <a:extLst>
              <a:ext uri="{FF2B5EF4-FFF2-40B4-BE49-F238E27FC236}">
                <a16:creationId xmlns:a16="http://schemas.microsoft.com/office/drawing/2014/main" id="{DBB74012-3670-7379-F577-CAD24F39574D}"/>
              </a:ext>
            </a:extLst>
          </p:cNvPr>
          <p:cNvSpPr/>
          <p:nvPr/>
        </p:nvSpPr>
        <p:spPr>
          <a:xfrm>
            <a:off x="8807451" y="2135188"/>
            <a:ext cx="1099345" cy="59610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974F5A0F-0FA6-142B-DEAD-72D139D601B8}"/>
              </a:ext>
            </a:extLst>
          </p:cNvPr>
          <p:cNvSpPr txBox="1"/>
          <p:nvPr/>
        </p:nvSpPr>
        <p:spPr>
          <a:xfrm>
            <a:off x="8960646" y="1963738"/>
            <a:ext cx="63976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bg2"/>
                </a:solidFill>
              </a:rPr>
              <a:t>…</a:t>
            </a:r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3E07AB88-BC35-1FB6-ADD7-5DD7F9CD7E2B}"/>
              </a:ext>
            </a:extLst>
          </p:cNvPr>
          <p:cNvSpPr/>
          <p:nvPr/>
        </p:nvSpPr>
        <p:spPr>
          <a:xfrm>
            <a:off x="10367963" y="2422922"/>
            <a:ext cx="171450" cy="171450"/>
          </a:xfrm>
          <a:prstGeom prst="ellipse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D3EAE1E5-FA21-73F6-16CD-C3AAA68325F9}"/>
              </a:ext>
            </a:extLst>
          </p:cNvPr>
          <p:cNvSpPr/>
          <p:nvPr/>
        </p:nvSpPr>
        <p:spPr>
          <a:xfrm>
            <a:off x="6967149" y="3517826"/>
            <a:ext cx="202445" cy="21010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6685F7E8-C186-DDEC-5AB6-3B0888BB3155}"/>
              </a:ext>
            </a:extLst>
          </p:cNvPr>
          <p:cNvSpPr/>
          <p:nvPr/>
        </p:nvSpPr>
        <p:spPr>
          <a:xfrm>
            <a:off x="7181676" y="3517826"/>
            <a:ext cx="202445" cy="210106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1821C9EF-0891-E47A-9EC4-4BCC79885E66}"/>
              </a:ext>
            </a:extLst>
          </p:cNvPr>
          <p:cNvSpPr/>
          <p:nvPr/>
        </p:nvSpPr>
        <p:spPr>
          <a:xfrm>
            <a:off x="6742490" y="3517826"/>
            <a:ext cx="202445" cy="210106"/>
          </a:xfrm>
          <a:prstGeom prst="rect">
            <a:avLst/>
          </a:prstGeom>
          <a:solidFill>
            <a:schemeClr val="accent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D6DC7188-A0C3-2254-7FE5-2B77EDADF6D7}"/>
              </a:ext>
            </a:extLst>
          </p:cNvPr>
          <p:cNvSpPr/>
          <p:nvPr/>
        </p:nvSpPr>
        <p:spPr>
          <a:xfrm>
            <a:off x="6539971" y="4000352"/>
            <a:ext cx="202445" cy="21010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BC21E1A7-F122-63ED-2D21-68EE822BC3EC}"/>
              </a:ext>
            </a:extLst>
          </p:cNvPr>
          <p:cNvSpPr/>
          <p:nvPr/>
        </p:nvSpPr>
        <p:spPr>
          <a:xfrm>
            <a:off x="6748148" y="4000352"/>
            <a:ext cx="202445" cy="210106"/>
          </a:xfrm>
          <a:prstGeom prst="rect">
            <a:avLst/>
          </a:prstGeom>
          <a:solidFill>
            <a:srgbClr val="FFFF00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689116EF-39D2-F44D-70B5-22D3615E37F4}"/>
              </a:ext>
            </a:extLst>
          </p:cNvPr>
          <p:cNvSpPr/>
          <p:nvPr/>
        </p:nvSpPr>
        <p:spPr>
          <a:xfrm>
            <a:off x="6321662" y="4000352"/>
            <a:ext cx="202445" cy="210106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89E6E618-C6BA-5CFC-E62F-2A06D72AA0FB}"/>
              </a:ext>
            </a:extLst>
          </p:cNvPr>
          <p:cNvSpPr/>
          <p:nvPr/>
        </p:nvSpPr>
        <p:spPr>
          <a:xfrm>
            <a:off x="8476141" y="4010646"/>
            <a:ext cx="202445" cy="210106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BBF0D354-2DBA-D427-61D3-2231A8EF9929}"/>
              </a:ext>
            </a:extLst>
          </p:cNvPr>
          <p:cNvSpPr/>
          <p:nvPr/>
        </p:nvSpPr>
        <p:spPr>
          <a:xfrm>
            <a:off x="8697018" y="4010646"/>
            <a:ext cx="202445" cy="21010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65062713-8050-CF1B-348F-A5B75092609F}"/>
              </a:ext>
            </a:extLst>
          </p:cNvPr>
          <p:cNvSpPr/>
          <p:nvPr/>
        </p:nvSpPr>
        <p:spPr>
          <a:xfrm>
            <a:off x="8257832" y="4010646"/>
            <a:ext cx="202445" cy="210106"/>
          </a:xfrm>
          <a:prstGeom prst="rect">
            <a:avLst/>
          </a:prstGeom>
          <a:solidFill>
            <a:srgbClr val="FFC000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E881ABD8-38FB-6F1F-109D-EE1CA5487017}"/>
              </a:ext>
            </a:extLst>
          </p:cNvPr>
          <p:cNvSpPr/>
          <p:nvPr/>
        </p:nvSpPr>
        <p:spPr>
          <a:xfrm>
            <a:off x="10698203" y="3442183"/>
            <a:ext cx="266218" cy="266217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6C2B03F6-C9E5-22FD-182F-E1B609DDA600}"/>
              </a:ext>
            </a:extLst>
          </p:cNvPr>
          <p:cNvSpPr/>
          <p:nvPr/>
        </p:nvSpPr>
        <p:spPr>
          <a:xfrm>
            <a:off x="10295868" y="3919534"/>
            <a:ext cx="266218" cy="266217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FE6BD7F4-68ED-25E9-1A19-CC23E7B2A5C0}"/>
              </a:ext>
            </a:extLst>
          </p:cNvPr>
          <p:cNvSpPr/>
          <p:nvPr/>
        </p:nvSpPr>
        <p:spPr>
          <a:xfrm>
            <a:off x="11117680" y="3919534"/>
            <a:ext cx="266218" cy="266217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D0C004D1-7407-A69D-329B-A42DBBDD44F1}"/>
              </a:ext>
            </a:extLst>
          </p:cNvPr>
          <p:cNvSpPr/>
          <p:nvPr/>
        </p:nvSpPr>
        <p:spPr>
          <a:xfrm>
            <a:off x="9931400" y="4338015"/>
            <a:ext cx="266218" cy="266217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7E12D914-2456-6379-9E48-1DC64C75B339}"/>
              </a:ext>
            </a:extLst>
          </p:cNvPr>
          <p:cNvSpPr/>
          <p:nvPr/>
        </p:nvSpPr>
        <p:spPr>
          <a:xfrm>
            <a:off x="10649017" y="4323632"/>
            <a:ext cx="266218" cy="266217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48B10160-BC3E-9729-7ACF-88ECD5551269}"/>
              </a:ext>
            </a:extLst>
          </p:cNvPr>
          <p:cNvCxnSpPr>
            <a:cxnSpLocks/>
            <a:stCxn id="80" idx="3"/>
            <a:endCxn id="82" idx="7"/>
          </p:cNvCxnSpPr>
          <p:nvPr/>
        </p:nvCxnSpPr>
        <p:spPr>
          <a:xfrm flipH="1">
            <a:off x="10158631" y="4146764"/>
            <a:ext cx="176224" cy="230238"/>
          </a:xfrm>
          <a:prstGeom prst="line">
            <a:avLst/>
          </a:prstGeom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E962B8F6-6F06-5F37-7C8C-19FE65920199}"/>
              </a:ext>
            </a:extLst>
          </p:cNvPr>
          <p:cNvCxnSpPr>
            <a:cxnSpLocks/>
            <a:stCxn id="80" idx="5"/>
            <a:endCxn id="83" idx="1"/>
          </p:cNvCxnSpPr>
          <p:nvPr/>
        </p:nvCxnSpPr>
        <p:spPr>
          <a:xfrm>
            <a:off x="10523099" y="4146764"/>
            <a:ext cx="164905" cy="215855"/>
          </a:xfrm>
          <a:prstGeom prst="line">
            <a:avLst/>
          </a:prstGeom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B2528007-8A6E-8895-3914-D7390C1D8483}"/>
              </a:ext>
            </a:extLst>
          </p:cNvPr>
          <p:cNvCxnSpPr>
            <a:cxnSpLocks/>
            <a:stCxn id="79" idx="5"/>
            <a:endCxn id="81" idx="1"/>
          </p:cNvCxnSpPr>
          <p:nvPr/>
        </p:nvCxnSpPr>
        <p:spPr>
          <a:xfrm>
            <a:off x="10925434" y="3669413"/>
            <a:ext cx="231233" cy="289108"/>
          </a:xfrm>
          <a:prstGeom prst="line">
            <a:avLst/>
          </a:prstGeom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2B58C583-EB26-4B02-9B29-D51BDC33ABCC}"/>
              </a:ext>
            </a:extLst>
          </p:cNvPr>
          <p:cNvCxnSpPr>
            <a:cxnSpLocks/>
            <a:stCxn id="79" idx="3"/>
            <a:endCxn id="80" idx="7"/>
          </p:cNvCxnSpPr>
          <p:nvPr/>
        </p:nvCxnSpPr>
        <p:spPr>
          <a:xfrm flipH="1">
            <a:off x="10523099" y="3669413"/>
            <a:ext cx="214091" cy="289108"/>
          </a:xfrm>
          <a:prstGeom prst="line">
            <a:avLst/>
          </a:prstGeom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Oval 87">
            <a:extLst>
              <a:ext uri="{FF2B5EF4-FFF2-40B4-BE49-F238E27FC236}">
                <a16:creationId xmlns:a16="http://schemas.microsoft.com/office/drawing/2014/main" id="{DCC63BFB-035F-76AA-F1E4-540BA17D5A5C}"/>
              </a:ext>
            </a:extLst>
          </p:cNvPr>
          <p:cNvSpPr/>
          <p:nvPr/>
        </p:nvSpPr>
        <p:spPr>
          <a:xfrm>
            <a:off x="11469344" y="4323632"/>
            <a:ext cx="266218" cy="266217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72768EAC-48A5-EEB5-5256-9452B7BB1177}"/>
              </a:ext>
            </a:extLst>
          </p:cNvPr>
          <p:cNvCxnSpPr>
            <a:cxnSpLocks/>
            <a:stCxn id="81" idx="5"/>
            <a:endCxn id="88" idx="1"/>
          </p:cNvCxnSpPr>
          <p:nvPr/>
        </p:nvCxnSpPr>
        <p:spPr>
          <a:xfrm>
            <a:off x="11344911" y="4146764"/>
            <a:ext cx="163420" cy="215855"/>
          </a:xfrm>
          <a:prstGeom prst="line">
            <a:avLst/>
          </a:prstGeom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Rectangle 89">
            <a:extLst>
              <a:ext uri="{FF2B5EF4-FFF2-40B4-BE49-F238E27FC236}">
                <a16:creationId xmlns:a16="http://schemas.microsoft.com/office/drawing/2014/main" id="{AD9E3249-A5A7-C406-6DF2-8BDD2329052C}"/>
              </a:ext>
            </a:extLst>
          </p:cNvPr>
          <p:cNvSpPr/>
          <p:nvPr/>
        </p:nvSpPr>
        <p:spPr>
          <a:xfrm>
            <a:off x="10161199" y="3435276"/>
            <a:ext cx="202445" cy="210106"/>
          </a:xfrm>
          <a:prstGeom prst="rect">
            <a:avLst/>
          </a:prstGeom>
          <a:solidFill>
            <a:srgbClr val="7030A0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0251E1F8-F816-3390-FC5C-1DCA244CD320}"/>
              </a:ext>
            </a:extLst>
          </p:cNvPr>
          <p:cNvSpPr/>
          <p:nvPr/>
        </p:nvSpPr>
        <p:spPr>
          <a:xfrm>
            <a:off x="10375726" y="3435276"/>
            <a:ext cx="202445" cy="210106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74D123E4-45D8-73AA-DEDF-F390150AB99C}"/>
              </a:ext>
            </a:extLst>
          </p:cNvPr>
          <p:cNvSpPr/>
          <p:nvPr/>
        </p:nvSpPr>
        <p:spPr>
          <a:xfrm>
            <a:off x="9936540" y="3435276"/>
            <a:ext cx="202445" cy="210106"/>
          </a:xfrm>
          <a:prstGeom prst="rect">
            <a:avLst/>
          </a:prstGeom>
          <a:solidFill>
            <a:srgbClr val="FFFF00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AC14912E-E6A3-5627-17D2-39C7CA9DA48C}"/>
              </a:ext>
            </a:extLst>
          </p:cNvPr>
          <p:cNvSpPr/>
          <p:nvPr/>
        </p:nvSpPr>
        <p:spPr>
          <a:xfrm>
            <a:off x="9734021" y="3917802"/>
            <a:ext cx="202445" cy="21010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2F6BCCE0-BEBF-DC13-BD87-B115E64DB04D}"/>
              </a:ext>
            </a:extLst>
          </p:cNvPr>
          <p:cNvSpPr/>
          <p:nvPr/>
        </p:nvSpPr>
        <p:spPr>
          <a:xfrm>
            <a:off x="9942198" y="3917802"/>
            <a:ext cx="202445" cy="210106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6F18EA3F-782C-EE40-F78C-72E3DFCD9C5D}"/>
              </a:ext>
            </a:extLst>
          </p:cNvPr>
          <p:cNvSpPr/>
          <p:nvPr/>
        </p:nvSpPr>
        <p:spPr>
          <a:xfrm>
            <a:off x="9515712" y="3917802"/>
            <a:ext cx="202445" cy="210106"/>
          </a:xfrm>
          <a:prstGeom prst="rect">
            <a:avLst/>
          </a:prstGeom>
          <a:solidFill>
            <a:schemeClr val="accent4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EA765A58-B06A-C664-B686-4F3986D1C89D}"/>
              </a:ext>
            </a:extLst>
          </p:cNvPr>
          <p:cNvSpPr/>
          <p:nvPr/>
        </p:nvSpPr>
        <p:spPr>
          <a:xfrm>
            <a:off x="11670191" y="3928096"/>
            <a:ext cx="202445" cy="210106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2B7F745B-2C73-DE6A-AF43-988A9CF310F1}"/>
              </a:ext>
            </a:extLst>
          </p:cNvPr>
          <p:cNvSpPr/>
          <p:nvPr/>
        </p:nvSpPr>
        <p:spPr>
          <a:xfrm>
            <a:off x="11891068" y="3928096"/>
            <a:ext cx="202445" cy="210106"/>
          </a:xfrm>
          <a:prstGeom prst="rect">
            <a:avLst/>
          </a:prstGeom>
          <a:solidFill>
            <a:srgbClr val="FFFF00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C5B0F6AE-1328-C935-FEC6-D7FF2D222923}"/>
              </a:ext>
            </a:extLst>
          </p:cNvPr>
          <p:cNvSpPr/>
          <p:nvPr/>
        </p:nvSpPr>
        <p:spPr>
          <a:xfrm>
            <a:off x="11451882" y="3928096"/>
            <a:ext cx="202445" cy="210106"/>
          </a:xfrm>
          <a:prstGeom prst="rect">
            <a:avLst/>
          </a:prstGeom>
          <a:solidFill>
            <a:srgbClr val="FFC000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Arrow: Right 98">
            <a:extLst>
              <a:ext uri="{FF2B5EF4-FFF2-40B4-BE49-F238E27FC236}">
                <a16:creationId xmlns:a16="http://schemas.microsoft.com/office/drawing/2014/main" id="{266E1B05-E85E-3657-4797-3D698F65A865}"/>
              </a:ext>
            </a:extLst>
          </p:cNvPr>
          <p:cNvSpPr/>
          <p:nvPr/>
        </p:nvSpPr>
        <p:spPr>
          <a:xfrm>
            <a:off x="8762603" y="4333253"/>
            <a:ext cx="1099345" cy="596106"/>
          </a:xfrm>
          <a:prstGeom prst="rightArrow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5BE8B25D-57CC-E673-DEB7-EA2C3AF3CEF7}"/>
              </a:ext>
            </a:extLst>
          </p:cNvPr>
          <p:cNvSpPr txBox="1"/>
          <p:nvPr/>
        </p:nvSpPr>
        <p:spPr>
          <a:xfrm>
            <a:off x="8915798" y="4161803"/>
            <a:ext cx="63976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…</a:t>
            </a:r>
          </a:p>
        </p:txBody>
      </p:sp>
      <p:sp>
        <p:nvSpPr>
          <p:cNvPr id="101" name="Arrow: Down 100">
            <a:extLst>
              <a:ext uri="{FF2B5EF4-FFF2-40B4-BE49-F238E27FC236}">
                <a16:creationId xmlns:a16="http://schemas.microsoft.com/office/drawing/2014/main" id="{B8E8293F-FA64-5A4D-EB02-D805CA1E70FF}"/>
              </a:ext>
            </a:extLst>
          </p:cNvPr>
          <p:cNvSpPr/>
          <p:nvPr/>
        </p:nvSpPr>
        <p:spPr>
          <a:xfrm rot="18448577">
            <a:off x="8036559" y="5204267"/>
            <a:ext cx="557214" cy="538957"/>
          </a:xfrm>
          <a:prstGeom prst="downArrow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Arrow: Down 101">
            <a:extLst>
              <a:ext uri="{FF2B5EF4-FFF2-40B4-BE49-F238E27FC236}">
                <a16:creationId xmlns:a16="http://schemas.microsoft.com/office/drawing/2014/main" id="{A879565C-7273-0ACF-77F9-29E41D666EDC}"/>
              </a:ext>
            </a:extLst>
          </p:cNvPr>
          <p:cNvSpPr/>
          <p:nvPr/>
        </p:nvSpPr>
        <p:spPr>
          <a:xfrm>
            <a:off x="9034781" y="5212356"/>
            <a:ext cx="557214" cy="538957"/>
          </a:xfrm>
          <a:prstGeom prst="downArrow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Arrow: Down 102">
            <a:extLst>
              <a:ext uri="{FF2B5EF4-FFF2-40B4-BE49-F238E27FC236}">
                <a16:creationId xmlns:a16="http://schemas.microsoft.com/office/drawing/2014/main" id="{8E662FB3-11D6-9D00-3DD9-EFF499302CA3}"/>
              </a:ext>
            </a:extLst>
          </p:cNvPr>
          <p:cNvSpPr/>
          <p:nvPr/>
        </p:nvSpPr>
        <p:spPr>
          <a:xfrm rot="2595539">
            <a:off x="10006806" y="5135586"/>
            <a:ext cx="557214" cy="538957"/>
          </a:xfrm>
          <a:prstGeom prst="downArrow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4" name="Graphic 103" descr="Handshake with solid fill">
            <a:extLst>
              <a:ext uri="{FF2B5EF4-FFF2-40B4-BE49-F238E27FC236}">
                <a16:creationId xmlns:a16="http://schemas.microsoft.com/office/drawing/2014/main" id="{B18125D3-BBDE-1C4A-4B9E-6AE73520FCE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890001" y="5525293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30870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9CF30A9-ACE5-693B-2653-D56462548A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0650" y="1310810"/>
            <a:ext cx="5395677" cy="518206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1A1C81B-2EFE-306A-497C-14B3E0B2D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many trees to plant in the forest?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92B436-63E2-3839-8C74-3EF35A6343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632450" cy="4351338"/>
          </a:xfrm>
        </p:spPr>
        <p:txBody>
          <a:bodyPr/>
          <a:lstStyle/>
          <a:p>
            <a:r>
              <a:rPr lang="en-US" dirty="0"/>
              <a:t>A benefit of these two methods is that you </a:t>
            </a:r>
            <a:r>
              <a:rPr lang="en-US" b="1" dirty="0"/>
              <a:t>can’t</a:t>
            </a:r>
            <a:r>
              <a:rPr lang="en-US" dirty="0"/>
              <a:t> overfit by growing too many trees</a:t>
            </a:r>
          </a:p>
          <a:p>
            <a:r>
              <a:rPr lang="en-US" dirty="0"/>
              <a:t>The benefit of adding more trees is it brings the variance down</a:t>
            </a:r>
          </a:p>
          <a:p>
            <a:r>
              <a:rPr lang="en-US" dirty="0"/>
              <a:t>At some point the variance will stop decreasing</a:t>
            </a:r>
          </a:p>
          <a:p>
            <a:pPr lvl="1"/>
            <a:r>
              <a:rPr lang="en-US" dirty="0"/>
              <a:t>When you reach this point, adding more trees won’t help you</a:t>
            </a:r>
          </a:p>
          <a:p>
            <a:pPr lvl="1"/>
            <a:r>
              <a:rPr lang="en-US" dirty="0"/>
              <a:t>But it also won’t hurt you!</a:t>
            </a:r>
          </a:p>
        </p:txBody>
      </p:sp>
    </p:spTree>
    <p:extLst>
      <p:ext uri="{BB962C8B-B14F-4D97-AF65-F5344CB8AC3E}">
        <p14:creationId xmlns:p14="http://schemas.microsoft.com/office/powerpoint/2010/main" val="23192843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46B9C6-5795-1E65-F8FA-B39DAA9D9F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Variable importance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382B77-006A-A3DF-DB8F-B7EEEC05A5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01958" cy="435133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Find variables that influence the outcome</a:t>
            </a:r>
          </a:p>
          <a:p>
            <a:r>
              <a:rPr lang="en-US" dirty="0"/>
              <a:t>Start with some baseline measure of fit (OOB error)</a:t>
            </a:r>
          </a:p>
          <a:p>
            <a:r>
              <a:rPr lang="en-US" dirty="0"/>
              <a:t>Shuffle the value (one at a time) for each of the </a:t>
            </a:r>
            <a:r>
              <a:rPr lang="en-US" i="1" dirty="0">
                <a:solidFill>
                  <a:schemeClr val="accent1"/>
                </a:solidFill>
              </a:rPr>
              <a:t>p</a:t>
            </a:r>
            <a:r>
              <a:rPr lang="en-US" dirty="0"/>
              <a:t> predictors</a:t>
            </a:r>
          </a:p>
          <a:p>
            <a:r>
              <a:rPr lang="en-US" dirty="0"/>
              <a:t>Pass these randomly permuted values of a single </a:t>
            </a:r>
            <a:r>
              <a:rPr lang="en-US" i="1" dirty="0">
                <a:solidFill>
                  <a:schemeClr val="accent1"/>
                </a:solidFill>
              </a:rPr>
              <a:t>p</a:t>
            </a:r>
            <a:r>
              <a:rPr lang="en-US" dirty="0"/>
              <a:t> back through the tree</a:t>
            </a:r>
          </a:p>
          <a:p>
            <a:r>
              <a:rPr lang="en-US" dirty="0"/>
              <a:t>Compare resulting shift in accuracy across forest</a:t>
            </a:r>
          </a:p>
          <a:p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E36E9E6-E5CB-EC83-4AEC-75C3652B0483}"/>
              </a:ext>
            </a:extLst>
          </p:cNvPr>
          <p:cNvSpPr txBox="1"/>
          <p:nvPr/>
        </p:nvSpPr>
        <p:spPr>
          <a:xfrm>
            <a:off x="10522756" y="981353"/>
            <a:ext cx="389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0C2E909-9090-6246-BA89-54128D107454}"/>
              </a:ext>
            </a:extLst>
          </p:cNvPr>
          <p:cNvSpPr/>
          <p:nvPr/>
        </p:nvSpPr>
        <p:spPr>
          <a:xfrm>
            <a:off x="8166100" y="641350"/>
            <a:ext cx="3187700" cy="1049338"/>
          </a:xfrm>
          <a:prstGeom prst="rect">
            <a:avLst/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1D9CF4A-E451-B88F-965E-1E9FC8D25122}"/>
              </a:ext>
            </a:extLst>
          </p:cNvPr>
          <p:cNvSpPr txBox="1"/>
          <p:nvPr/>
        </p:nvSpPr>
        <p:spPr>
          <a:xfrm>
            <a:off x="9223688" y="691634"/>
            <a:ext cx="12223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Predictors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E3FBF93-B796-4C1A-49B3-CC81E082D55D}"/>
              </a:ext>
            </a:extLst>
          </p:cNvPr>
          <p:cNvSpPr txBox="1"/>
          <p:nvPr/>
        </p:nvSpPr>
        <p:spPr>
          <a:xfrm>
            <a:off x="8223250" y="1321356"/>
            <a:ext cx="30860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1,     2,     3,   4,      5,    6,   …     </a:t>
            </a:r>
            <a:r>
              <a:rPr lang="en-US" i="1" dirty="0">
                <a:solidFill>
                  <a:schemeClr val="accent1"/>
                </a:solidFill>
              </a:rPr>
              <a:t>p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233B778-3651-993B-EBE8-9C9AA6D348FA}"/>
              </a:ext>
            </a:extLst>
          </p:cNvPr>
          <p:cNvSpPr/>
          <p:nvPr/>
        </p:nvSpPr>
        <p:spPr>
          <a:xfrm>
            <a:off x="8273635" y="1111250"/>
            <a:ext cx="202445" cy="21010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D5A6F53-D52D-3ADA-1594-D66BDF18C563}"/>
              </a:ext>
            </a:extLst>
          </p:cNvPr>
          <p:cNvSpPr/>
          <p:nvPr/>
        </p:nvSpPr>
        <p:spPr>
          <a:xfrm>
            <a:off x="8664286" y="1111250"/>
            <a:ext cx="202445" cy="210106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77D8039-E85B-7CE3-E762-8D1921B31BFF}"/>
              </a:ext>
            </a:extLst>
          </p:cNvPr>
          <p:cNvSpPr/>
          <p:nvPr/>
        </p:nvSpPr>
        <p:spPr>
          <a:xfrm>
            <a:off x="9054937" y="1111250"/>
            <a:ext cx="202445" cy="21010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EDB777D-7AF7-3196-EDFF-26B9CD9BC21D}"/>
              </a:ext>
            </a:extLst>
          </p:cNvPr>
          <p:cNvSpPr/>
          <p:nvPr/>
        </p:nvSpPr>
        <p:spPr>
          <a:xfrm>
            <a:off x="9445588" y="1111250"/>
            <a:ext cx="202445" cy="210106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B85343B-DC2F-A672-9543-A88E62677AA7}"/>
              </a:ext>
            </a:extLst>
          </p:cNvPr>
          <p:cNvSpPr/>
          <p:nvPr/>
        </p:nvSpPr>
        <p:spPr>
          <a:xfrm>
            <a:off x="9834876" y="1111250"/>
            <a:ext cx="202445" cy="21010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ECCD3D9-6F90-F6B6-0434-030DE5DA7E20}"/>
              </a:ext>
            </a:extLst>
          </p:cNvPr>
          <p:cNvSpPr/>
          <p:nvPr/>
        </p:nvSpPr>
        <p:spPr>
          <a:xfrm>
            <a:off x="10225527" y="1111250"/>
            <a:ext cx="202445" cy="210106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7DAE466-4D63-5274-DB9F-BB976EDABAC6}"/>
              </a:ext>
            </a:extLst>
          </p:cNvPr>
          <p:cNvSpPr/>
          <p:nvPr/>
        </p:nvSpPr>
        <p:spPr>
          <a:xfrm>
            <a:off x="11006829" y="1111250"/>
            <a:ext cx="202445" cy="21010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B497F4A-1BFB-B20D-8801-80E701BFE928}"/>
              </a:ext>
            </a:extLst>
          </p:cNvPr>
          <p:cNvSpPr/>
          <p:nvPr/>
        </p:nvSpPr>
        <p:spPr>
          <a:xfrm>
            <a:off x="7395158" y="2265641"/>
            <a:ext cx="202445" cy="21010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1E32DE7-2FE2-864E-2E6C-7C3E8C29ABFA}"/>
              </a:ext>
            </a:extLst>
          </p:cNvPr>
          <p:cNvSpPr txBox="1"/>
          <p:nvPr/>
        </p:nvSpPr>
        <p:spPr>
          <a:xfrm>
            <a:off x="7211884" y="1896309"/>
            <a:ext cx="5689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chemeClr val="accent1"/>
                </a:solidFill>
              </a:rPr>
              <a:t>p</a:t>
            </a:r>
            <a:r>
              <a:rPr lang="en-US" dirty="0">
                <a:solidFill>
                  <a:schemeClr val="accent1"/>
                </a:solidFill>
              </a:rPr>
              <a:t>=1</a:t>
            </a:r>
            <a:endParaRPr lang="en-US" i="1" dirty="0">
              <a:solidFill>
                <a:schemeClr val="accent1"/>
              </a:solidFill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0E0A1F9-AD3C-6D41-048C-EC3B804DF6BB}"/>
              </a:ext>
            </a:extLst>
          </p:cNvPr>
          <p:cNvSpPr txBox="1"/>
          <p:nvPr/>
        </p:nvSpPr>
        <p:spPr>
          <a:xfrm>
            <a:off x="7809130" y="1724363"/>
            <a:ext cx="11364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Original values</a:t>
            </a:r>
          </a:p>
        </p:txBody>
      </p: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AC972632-3763-23F1-C209-34BBB1E12844}"/>
              </a:ext>
            </a:extLst>
          </p:cNvPr>
          <p:cNvGrpSpPr/>
          <p:nvPr/>
        </p:nvGrpSpPr>
        <p:grpSpPr>
          <a:xfrm rot="5400000">
            <a:off x="9714730" y="1409969"/>
            <a:ext cx="876715" cy="1929954"/>
            <a:chOff x="7289385" y="3024188"/>
            <a:chExt cx="876715" cy="1929954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F546C317-1526-EE4E-9AFA-068383F12618}"/>
                </a:ext>
              </a:extLst>
            </p:cNvPr>
            <p:cNvSpPr/>
            <p:nvPr/>
          </p:nvSpPr>
          <p:spPr>
            <a:xfrm>
              <a:off x="7289385" y="3024188"/>
              <a:ext cx="202445" cy="210106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398FAA97-A014-9D6F-481B-12DD6A72B70A}"/>
                </a:ext>
              </a:extLst>
            </p:cNvPr>
            <p:cNvSpPr/>
            <p:nvPr/>
          </p:nvSpPr>
          <p:spPr>
            <a:xfrm>
              <a:off x="7289385" y="3218894"/>
              <a:ext cx="202445" cy="21010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8A0AE286-68BF-F6D2-51AC-ECA4FE36F273}"/>
                </a:ext>
              </a:extLst>
            </p:cNvPr>
            <p:cNvSpPr/>
            <p:nvPr/>
          </p:nvSpPr>
          <p:spPr>
            <a:xfrm>
              <a:off x="7289385" y="3403682"/>
              <a:ext cx="202445" cy="210106"/>
            </a:xfrm>
            <a:prstGeom prst="rect">
              <a:avLst/>
            </a:prstGeom>
            <a:solidFill>
              <a:schemeClr val="bg2">
                <a:lumMod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05775650-2C82-5735-EE61-F3BC93AA8995}"/>
                </a:ext>
              </a:extLst>
            </p:cNvPr>
            <p:cNvSpPr/>
            <p:nvPr/>
          </p:nvSpPr>
          <p:spPr>
            <a:xfrm>
              <a:off x="7289385" y="3613788"/>
              <a:ext cx="202445" cy="21010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060C2E64-6DC5-1EDB-E8E1-8AA496115ABE}"/>
                </a:ext>
              </a:extLst>
            </p:cNvPr>
            <p:cNvSpPr/>
            <p:nvPr/>
          </p:nvSpPr>
          <p:spPr>
            <a:xfrm>
              <a:off x="7289385" y="3798576"/>
              <a:ext cx="202445" cy="210106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6A2D4B19-B5A8-01EB-E8C4-191BFB66BE0A}"/>
                </a:ext>
              </a:extLst>
            </p:cNvPr>
            <p:cNvSpPr/>
            <p:nvPr/>
          </p:nvSpPr>
          <p:spPr>
            <a:xfrm>
              <a:off x="7289385" y="3983364"/>
              <a:ext cx="202445" cy="21010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5C5F057C-CDB9-99E4-05E3-F4AF62805E2B}"/>
                </a:ext>
              </a:extLst>
            </p:cNvPr>
            <p:cNvSpPr/>
            <p:nvPr/>
          </p:nvSpPr>
          <p:spPr>
            <a:xfrm>
              <a:off x="7289385" y="4168152"/>
              <a:ext cx="202445" cy="210106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F1557BBA-51E6-F665-A0C5-8A6CA3EA28D7}"/>
                </a:ext>
              </a:extLst>
            </p:cNvPr>
            <p:cNvSpPr/>
            <p:nvPr/>
          </p:nvSpPr>
          <p:spPr>
            <a:xfrm>
              <a:off x="7289385" y="4349142"/>
              <a:ext cx="202445" cy="210106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CB2F66A5-53EF-D67A-B153-E71EF33F25BF}"/>
                </a:ext>
              </a:extLst>
            </p:cNvPr>
            <p:cNvSpPr/>
            <p:nvPr/>
          </p:nvSpPr>
          <p:spPr>
            <a:xfrm>
              <a:off x="7289385" y="4533930"/>
              <a:ext cx="202445" cy="21010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4DDA4F5C-5578-1D0C-B573-8B6DCA532832}"/>
                </a:ext>
              </a:extLst>
            </p:cNvPr>
            <p:cNvSpPr/>
            <p:nvPr/>
          </p:nvSpPr>
          <p:spPr>
            <a:xfrm>
              <a:off x="7289385" y="4744036"/>
              <a:ext cx="202445" cy="210106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ECDEB391-F6BE-3908-5492-D09D4BC48E49}"/>
                </a:ext>
              </a:extLst>
            </p:cNvPr>
            <p:cNvSpPr/>
            <p:nvPr/>
          </p:nvSpPr>
          <p:spPr>
            <a:xfrm>
              <a:off x="7963655" y="3024188"/>
              <a:ext cx="202445" cy="21010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064E3068-BBB6-124A-BE96-AF19312D3834}"/>
                </a:ext>
              </a:extLst>
            </p:cNvPr>
            <p:cNvSpPr/>
            <p:nvPr/>
          </p:nvSpPr>
          <p:spPr>
            <a:xfrm>
              <a:off x="7963655" y="3218894"/>
              <a:ext cx="202445" cy="210106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765B5B97-591E-3A25-ABD6-334375ABAABB}"/>
                </a:ext>
              </a:extLst>
            </p:cNvPr>
            <p:cNvSpPr/>
            <p:nvPr/>
          </p:nvSpPr>
          <p:spPr>
            <a:xfrm>
              <a:off x="7963655" y="3403682"/>
              <a:ext cx="202445" cy="21010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4044642B-3C3F-E6E9-11EC-ACA48A7479C8}"/>
                </a:ext>
              </a:extLst>
            </p:cNvPr>
            <p:cNvSpPr/>
            <p:nvPr/>
          </p:nvSpPr>
          <p:spPr>
            <a:xfrm>
              <a:off x="7963655" y="3613788"/>
              <a:ext cx="202445" cy="210106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929D0C2B-E4E2-C2CC-5BDD-BFB8893C3E0B}"/>
                </a:ext>
              </a:extLst>
            </p:cNvPr>
            <p:cNvSpPr/>
            <p:nvPr/>
          </p:nvSpPr>
          <p:spPr>
            <a:xfrm>
              <a:off x="7963655" y="3798576"/>
              <a:ext cx="202445" cy="21010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B2649E2A-9A4D-9892-EC26-362D72EFCEDB}"/>
                </a:ext>
              </a:extLst>
            </p:cNvPr>
            <p:cNvSpPr/>
            <p:nvPr/>
          </p:nvSpPr>
          <p:spPr>
            <a:xfrm>
              <a:off x="7963655" y="3983364"/>
              <a:ext cx="202445" cy="21010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32C27274-EE55-60FB-6BC1-7EAA742EB61D}"/>
                </a:ext>
              </a:extLst>
            </p:cNvPr>
            <p:cNvSpPr/>
            <p:nvPr/>
          </p:nvSpPr>
          <p:spPr>
            <a:xfrm>
              <a:off x="7963655" y="4168152"/>
              <a:ext cx="202445" cy="21010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CE16C78C-7D34-642B-1FDA-8C43AC53F748}"/>
                </a:ext>
              </a:extLst>
            </p:cNvPr>
            <p:cNvSpPr/>
            <p:nvPr/>
          </p:nvSpPr>
          <p:spPr>
            <a:xfrm>
              <a:off x="7963655" y="4349142"/>
              <a:ext cx="202445" cy="21010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FB49594C-D5C4-502D-1E87-3666E338EC78}"/>
                </a:ext>
              </a:extLst>
            </p:cNvPr>
            <p:cNvSpPr/>
            <p:nvPr/>
          </p:nvSpPr>
          <p:spPr>
            <a:xfrm>
              <a:off x="7963655" y="4533930"/>
              <a:ext cx="202445" cy="210106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7CEB0AF9-06D5-7844-B1BD-27123C9677B7}"/>
                </a:ext>
              </a:extLst>
            </p:cNvPr>
            <p:cNvSpPr/>
            <p:nvPr/>
          </p:nvSpPr>
          <p:spPr>
            <a:xfrm>
              <a:off x="7963655" y="4744036"/>
              <a:ext cx="202445" cy="210106"/>
            </a:xfrm>
            <a:prstGeom prst="rect">
              <a:avLst/>
            </a:prstGeom>
            <a:solidFill>
              <a:schemeClr val="bg2">
                <a:lumMod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Arrow: Right 47">
              <a:extLst>
                <a:ext uri="{FF2B5EF4-FFF2-40B4-BE49-F238E27FC236}">
                  <a16:creationId xmlns:a16="http://schemas.microsoft.com/office/drawing/2014/main" id="{CB36C9AC-3BD5-6B20-B8E9-2A87ACA8AB3B}"/>
                </a:ext>
              </a:extLst>
            </p:cNvPr>
            <p:cNvSpPr/>
            <p:nvPr/>
          </p:nvSpPr>
          <p:spPr>
            <a:xfrm>
              <a:off x="7581900" y="3352800"/>
              <a:ext cx="266701" cy="210106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Arrow: Right 48">
              <a:extLst>
                <a:ext uri="{FF2B5EF4-FFF2-40B4-BE49-F238E27FC236}">
                  <a16:creationId xmlns:a16="http://schemas.microsoft.com/office/drawing/2014/main" id="{C3FFD429-9744-4F44-1BE8-B93561A67263}"/>
                </a:ext>
              </a:extLst>
            </p:cNvPr>
            <p:cNvSpPr/>
            <p:nvPr/>
          </p:nvSpPr>
          <p:spPr>
            <a:xfrm>
              <a:off x="7594392" y="4638983"/>
              <a:ext cx="266701" cy="210106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Arrow: Right 49">
              <a:extLst>
                <a:ext uri="{FF2B5EF4-FFF2-40B4-BE49-F238E27FC236}">
                  <a16:creationId xmlns:a16="http://schemas.microsoft.com/office/drawing/2014/main" id="{E478C581-A2FF-588F-EF6A-A96E305E068A}"/>
                </a:ext>
              </a:extLst>
            </p:cNvPr>
            <p:cNvSpPr/>
            <p:nvPr/>
          </p:nvSpPr>
          <p:spPr>
            <a:xfrm>
              <a:off x="7581899" y="3995891"/>
              <a:ext cx="266701" cy="210106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1" name="Oval 50">
            <a:extLst>
              <a:ext uri="{FF2B5EF4-FFF2-40B4-BE49-F238E27FC236}">
                <a16:creationId xmlns:a16="http://schemas.microsoft.com/office/drawing/2014/main" id="{8AEC8B05-DF33-4860-C58A-18ADAB1FE3EF}"/>
              </a:ext>
            </a:extLst>
          </p:cNvPr>
          <p:cNvSpPr/>
          <p:nvPr/>
        </p:nvSpPr>
        <p:spPr>
          <a:xfrm>
            <a:off x="6931735" y="3325258"/>
            <a:ext cx="266218" cy="266217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FD888E89-300B-4959-11A8-4F58E894FB21}"/>
              </a:ext>
            </a:extLst>
          </p:cNvPr>
          <p:cNvSpPr/>
          <p:nvPr/>
        </p:nvSpPr>
        <p:spPr>
          <a:xfrm>
            <a:off x="6529400" y="3802609"/>
            <a:ext cx="266218" cy="266217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DF80D481-6078-CE8D-B891-89B843FA9949}"/>
              </a:ext>
            </a:extLst>
          </p:cNvPr>
          <p:cNvSpPr/>
          <p:nvPr/>
        </p:nvSpPr>
        <p:spPr>
          <a:xfrm>
            <a:off x="7351212" y="3802609"/>
            <a:ext cx="266218" cy="266217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CD4B3FCF-FC6A-0118-6963-D4BDB1807CE3}"/>
              </a:ext>
            </a:extLst>
          </p:cNvPr>
          <p:cNvSpPr/>
          <p:nvPr/>
        </p:nvSpPr>
        <p:spPr>
          <a:xfrm>
            <a:off x="6164932" y="4221090"/>
            <a:ext cx="266218" cy="266217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21DFA42F-0BDE-9527-356B-AF88FC7B140D}"/>
              </a:ext>
            </a:extLst>
          </p:cNvPr>
          <p:cNvSpPr/>
          <p:nvPr/>
        </p:nvSpPr>
        <p:spPr>
          <a:xfrm>
            <a:off x="6882549" y="4206707"/>
            <a:ext cx="266218" cy="266217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EB752452-38AC-53FA-5450-449DBDC35597}"/>
              </a:ext>
            </a:extLst>
          </p:cNvPr>
          <p:cNvCxnSpPr>
            <a:cxnSpLocks/>
            <a:stCxn id="52" idx="3"/>
            <a:endCxn id="54" idx="7"/>
          </p:cNvCxnSpPr>
          <p:nvPr/>
        </p:nvCxnSpPr>
        <p:spPr>
          <a:xfrm flipH="1">
            <a:off x="6392163" y="4029839"/>
            <a:ext cx="176224" cy="230238"/>
          </a:xfrm>
          <a:prstGeom prst="line">
            <a:avLst/>
          </a:prstGeom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020168A5-F029-B4E1-BE14-5298CF8E8969}"/>
              </a:ext>
            </a:extLst>
          </p:cNvPr>
          <p:cNvCxnSpPr>
            <a:cxnSpLocks/>
            <a:stCxn id="52" idx="5"/>
            <a:endCxn id="55" idx="1"/>
          </p:cNvCxnSpPr>
          <p:nvPr/>
        </p:nvCxnSpPr>
        <p:spPr>
          <a:xfrm>
            <a:off x="6756631" y="4029839"/>
            <a:ext cx="164905" cy="215855"/>
          </a:xfrm>
          <a:prstGeom prst="line">
            <a:avLst/>
          </a:prstGeom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371B247F-D3DB-60C3-FFFA-9214C0A3FD27}"/>
              </a:ext>
            </a:extLst>
          </p:cNvPr>
          <p:cNvCxnSpPr>
            <a:cxnSpLocks/>
            <a:stCxn id="51" idx="5"/>
            <a:endCxn id="53" idx="1"/>
          </p:cNvCxnSpPr>
          <p:nvPr/>
        </p:nvCxnSpPr>
        <p:spPr>
          <a:xfrm>
            <a:off x="7158966" y="3552488"/>
            <a:ext cx="231233" cy="289108"/>
          </a:xfrm>
          <a:prstGeom prst="line">
            <a:avLst/>
          </a:prstGeom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B2FD3F32-75F3-1571-0C64-BEEED61E665F}"/>
              </a:ext>
            </a:extLst>
          </p:cNvPr>
          <p:cNvCxnSpPr>
            <a:cxnSpLocks/>
            <a:stCxn id="51" idx="3"/>
            <a:endCxn id="52" idx="7"/>
          </p:cNvCxnSpPr>
          <p:nvPr/>
        </p:nvCxnSpPr>
        <p:spPr>
          <a:xfrm flipH="1">
            <a:off x="6756631" y="3552488"/>
            <a:ext cx="214091" cy="289108"/>
          </a:xfrm>
          <a:prstGeom prst="line">
            <a:avLst/>
          </a:prstGeom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Oval 59">
            <a:extLst>
              <a:ext uri="{FF2B5EF4-FFF2-40B4-BE49-F238E27FC236}">
                <a16:creationId xmlns:a16="http://schemas.microsoft.com/office/drawing/2014/main" id="{622F999F-C555-9B07-31C5-5F53597F4390}"/>
              </a:ext>
            </a:extLst>
          </p:cNvPr>
          <p:cNvSpPr/>
          <p:nvPr/>
        </p:nvSpPr>
        <p:spPr>
          <a:xfrm>
            <a:off x="7702876" y="4206707"/>
            <a:ext cx="266218" cy="266217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11281AFB-B93A-DFC1-3966-92B369399598}"/>
              </a:ext>
            </a:extLst>
          </p:cNvPr>
          <p:cNvCxnSpPr>
            <a:cxnSpLocks/>
            <a:stCxn id="53" idx="5"/>
            <a:endCxn id="60" idx="1"/>
          </p:cNvCxnSpPr>
          <p:nvPr/>
        </p:nvCxnSpPr>
        <p:spPr>
          <a:xfrm>
            <a:off x="7578443" y="4029839"/>
            <a:ext cx="163420" cy="215855"/>
          </a:xfrm>
          <a:prstGeom prst="line">
            <a:avLst/>
          </a:prstGeom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Rectangle 61">
            <a:extLst>
              <a:ext uri="{FF2B5EF4-FFF2-40B4-BE49-F238E27FC236}">
                <a16:creationId xmlns:a16="http://schemas.microsoft.com/office/drawing/2014/main" id="{CD0F353F-3467-E539-4ABE-9E52C7D5ED61}"/>
              </a:ext>
            </a:extLst>
          </p:cNvPr>
          <p:cNvSpPr/>
          <p:nvPr/>
        </p:nvSpPr>
        <p:spPr>
          <a:xfrm>
            <a:off x="6394731" y="3318351"/>
            <a:ext cx="202445" cy="210106"/>
          </a:xfrm>
          <a:prstGeom prst="rect">
            <a:avLst/>
          </a:prstGeom>
          <a:solidFill>
            <a:srgbClr val="7030A0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827AF04B-797A-BAD1-523A-D74F3180DE4F}"/>
              </a:ext>
            </a:extLst>
          </p:cNvPr>
          <p:cNvSpPr/>
          <p:nvPr/>
        </p:nvSpPr>
        <p:spPr>
          <a:xfrm>
            <a:off x="6609258" y="3318351"/>
            <a:ext cx="202445" cy="210106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7A6637FA-560F-62BC-6977-D88E9233E92F}"/>
              </a:ext>
            </a:extLst>
          </p:cNvPr>
          <p:cNvSpPr/>
          <p:nvPr/>
        </p:nvSpPr>
        <p:spPr>
          <a:xfrm>
            <a:off x="6170072" y="3318351"/>
            <a:ext cx="202445" cy="210106"/>
          </a:xfrm>
          <a:prstGeom prst="rect">
            <a:avLst/>
          </a:prstGeom>
          <a:solidFill>
            <a:srgbClr val="FFFF00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BBA120CD-5DEA-9C5F-87E0-0FE7B0910F68}"/>
              </a:ext>
            </a:extLst>
          </p:cNvPr>
          <p:cNvSpPr/>
          <p:nvPr/>
        </p:nvSpPr>
        <p:spPr>
          <a:xfrm>
            <a:off x="5967553" y="3800877"/>
            <a:ext cx="202445" cy="21010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C1D2356F-04C4-EAB5-1548-11E14710EB47}"/>
              </a:ext>
            </a:extLst>
          </p:cNvPr>
          <p:cNvSpPr/>
          <p:nvPr/>
        </p:nvSpPr>
        <p:spPr>
          <a:xfrm>
            <a:off x="6175730" y="3800877"/>
            <a:ext cx="202445" cy="210106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A17DAB26-7DA3-1FA4-ADC9-D4DF4CEA207C}"/>
              </a:ext>
            </a:extLst>
          </p:cNvPr>
          <p:cNvSpPr/>
          <p:nvPr/>
        </p:nvSpPr>
        <p:spPr>
          <a:xfrm>
            <a:off x="5749244" y="3800877"/>
            <a:ext cx="202445" cy="210106"/>
          </a:xfrm>
          <a:prstGeom prst="rect">
            <a:avLst/>
          </a:prstGeom>
          <a:solidFill>
            <a:schemeClr val="accent4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E4795100-422C-5ACA-6FAE-4E9F5B265DCD}"/>
              </a:ext>
            </a:extLst>
          </p:cNvPr>
          <p:cNvSpPr/>
          <p:nvPr/>
        </p:nvSpPr>
        <p:spPr>
          <a:xfrm>
            <a:off x="7903723" y="3811171"/>
            <a:ext cx="202445" cy="210106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91800B39-81EB-DEAF-4BFC-E2C8AACC358A}"/>
              </a:ext>
            </a:extLst>
          </p:cNvPr>
          <p:cNvSpPr/>
          <p:nvPr/>
        </p:nvSpPr>
        <p:spPr>
          <a:xfrm>
            <a:off x="8124600" y="3811171"/>
            <a:ext cx="202445" cy="210106"/>
          </a:xfrm>
          <a:prstGeom prst="rect">
            <a:avLst/>
          </a:prstGeom>
          <a:solidFill>
            <a:srgbClr val="FFFF00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3A953579-8DF9-BC1F-E2F5-1DADBEA931F7}"/>
              </a:ext>
            </a:extLst>
          </p:cNvPr>
          <p:cNvSpPr/>
          <p:nvPr/>
        </p:nvSpPr>
        <p:spPr>
          <a:xfrm>
            <a:off x="7685414" y="3811171"/>
            <a:ext cx="202445" cy="210106"/>
          </a:xfrm>
          <a:prstGeom prst="rect">
            <a:avLst/>
          </a:prstGeom>
          <a:solidFill>
            <a:srgbClr val="FFC000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84495A65-4056-6597-192B-710D353DE891}"/>
              </a:ext>
            </a:extLst>
          </p:cNvPr>
          <p:cNvSpPr/>
          <p:nvPr/>
        </p:nvSpPr>
        <p:spPr>
          <a:xfrm>
            <a:off x="10480476" y="3332165"/>
            <a:ext cx="266218" cy="266217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87AD3D5A-6A2E-C414-08CA-A790974001D7}"/>
              </a:ext>
            </a:extLst>
          </p:cNvPr>
          <p:cNvSpPr/>
          <p:nvPr/>
        </p:nvSpPr>
        <p:spPr>
          <a:xfrm>
            <a:off x="10078141" y="3809516"/>
            <a:ext cx="266218" cy="266217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94C0D8AB-A789-FD8E-16A5-C8031C5FB7DC}"/>
              </a:ext>
            </a:extLst>
          </p:cNvPr>
          <p:cNvSpPr/>
          <p:nvPr/>
        </p:nvSpPr>
        <p:spPr>
          <a:xfrm>
            <a:off x="10899953" y="3809516"/>
            <a:ext cx="266218" cy="266217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94" name="Oval 93">
            <a:extLst>
              <a:ext uri="{FF2B5EF4-FFF2-40B4-BE49-F238E27FC236}">
                <a16:creationId xmlns:a16="http://schemas.microsoft.com/office/drawing/2014/main" id="{992E0D13-EC2D-8D08-2D7E-B5F1B80B665A}"/>
              </a:ext>
            </a:extLst>
          </p:cNvPr>
          <p:cNvSpPr/>
          <p:nvPr/>
        </p:nvSpPr>
        <p:spPr>
          <a:xfrm>
            <a:off x="9713673" y="4227997"/>
            <a:ext cx="266218" cy="266217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95" name="Oval 94">
            <a:extLst>
              <a:ext uri="{FF2B5EF4-FFF2-40B4-BE49-F238E27FC236}">
                <a16:creationId xmlns:a16="http://schemas.microsoft.com/office/drawing/2014/main" id="{D50A56B4-BA1F-D208-6161-1AA3B59ABAED}"/>
              </a:ext>
            </a:extLst>
          </p:cNvPr>
          <p:cNvSpPr/>
          <p:nvPr/>
        </p:nvSpPr>
        <p:spPr>
          <a:xfrm>
            <a:off x="10431290" y="4213614"/>
            <a:ext cx="266218" cy="266217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37F64405-0D9D-9813-DAFC-35B3F3DA2244}"/>
              </a:ext>
            </a:extLst>
          </p:cNvPr>
          <p:cNvCxnSpPr>
            <a:cxnSpLocks/>
            <a:stCxn id="92" idx="3"/>
            <a:endCxn id="94" idx="7"/>
          </p:cNvCxnSpPr>
          <p:nvPr/>
        </p:nvCxnSpPr>
        <p:spPr>
          <a:xfrm flipH="1">
            <a:off x="9940904" y="4036746"/>
            <a:ext cx="176224" cy="230238"/>
          </a:xfrm>
          <a:prstGeom prst="line">
            <a:avLst/>
          </a:prstGeom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AD89A438-4B9D-E49C-D4FD-8953407EEB4F}"/>
              </a:ext>
            </a:extLst>
          </p:cNvPr>
          <p:cNvCxnSpPr>
            <a:cxnSpLocks/>
            <a:stCxn id="92" idx="5"/>
            <a:endCxn id="95" idx="1"/>
          </p:cNvCxnSpPr>
          <p:nvPr/>
        </p:nvCxnSpPr>
        <p:spPr>
          <a:xfrm>
            <a:off x="10305372" y="4036746"/>
            <a:ext cx="164905" cy="215855"/>
          </a:xfrm>
          <a:prstGeom prst="line">
            <a:avLst/>
          </a:prstGeom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9C4BDE27-7C1D-661F-069D-D645FD19DA62}"/>
              </a:ext>
            </a:extLst>
          </p:cNvPr>
          <p:cNvCxnSpPr>
            <a:cxnSpLocks/>
            <a:stCxn id="91" idx="5"/>
            <a:endCxn id="93" idx="1"/>
          </p:cNvCxnSpPr>
          <p:nvPr/>
        </p:nvCxnSpPr>
        <p:spPr>
          <a:xfrm>
            <a:off x="10707707" y="3559395"/>
            <a:ext cx="231233" cy="289108"/>
          </a:xfrm>
          <a:prstGeom prst="line">
            <a:avLst/>
          </a:prstGeom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EFCEAE6A-D5ED-9E45-B7B5-EBE01CEA695B}"/>
              </a:ext>
            </a:extLst>
          </p:cNvPr>
          <p:cNvCxnSpPr>
            <a:cxnSpLocks/>
            <a:stCxn id="91" idx="3"/>
            <a:endCxn id="92" idx="7"/>
          </p:cNvCxnSpPr>
          <p:nvPr/>
        </p:nvCxnSpPr>
        <p:spPr>
          <a:xfrm flipH="1">
            <a:off x="10305372" y="3559395"/>
            <a:ext cx="214091" cy="289108"/>
          </a:xfrm>
          <a:prstGeom prst="line">
            <a:avLst/>
          </a:prstGeom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Oval 99">
            <a:extLst>
              <a:ext uri="{FF2B5EF4-FFF2-40B4-BE49-F238E27FC236}">
                <a16:creationId xmlns:a16="http://schemas.microsoft.com/office/drawing/2014/main" id="{0EA0FAAE-3B8F-AD7B-CA9F-22B7C1BF039E}"/>
              </a:ext>
            </a:extLst>
          </p:cNvPr>
          <p:cNvSpPr/>
          <p:nvPr/>
        </p:nvSpPr>
        <p:spPr>
          <a:xfrm>
            <a:off x="11251617" y="4213614"/>
            <a:ext cx="266218" cy="266217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E86C561A-CD83-5521-6F28-AA1A5A84D4B2}"/>
              </a:ext>
            </a:extLst>
          </p:cNvPr>
          <p:cNvCxnSpPr>
            <a:cxnSpLocks/>
            <a:stCxn id="93" idx="5"/>
            <a:endCxn id="100" idx="1"/>
          </p:cNvCxnSpPr>
          <p:nvPr/>
        </p:nvCxnSpPr>
        <p:spPr>
          <a:xfrm>
            <a:off x="11127184" y="4036746"/>
            <a:ext cx="163420" cy="215855"/>
          </a:xfrm>
          <a:prstGeom prst="line">
            <a:avLst/>
          </a:prstGeom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Rectangle 101">
            <a:extLst>
              <a:ext uri="{FF2B5EF4-FFF2-40B4-BE49-F238E27FC236}">
                <a16:creationId xmlns:a16="http://schemas.microsoft.com/office/drawing/2014/main" id="{5C832D21-5A3E-FBD2-4508-908835A22F7D}"/>
              </a:ext>
            </a:extLst>
          </p:cNvPr>
          <p:cNvSpPr/>
          <p:nvPr/>
        </p:nvSpPr>
        <p:spPr>
          <a:xfrm>
            <a:off x="9943472" y="3325258"/>
            <a:ext cx="202445" cy="21010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CB9F893C-97E5-EBDF-2225-F293C1993E2A}"/>
              </a:ext>
            </a:extLst>
          </p:cNvPr>
          <p:cNvSpPr/>
          <p:nvPr/>
        </p:nvSpPr>
        <p:spPr>
          <a:xfrm>
            <a:off x="10157999" y="3325258"/>
            <a:ext cx="202445" cy="210106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E150630C-9C4A-0B4F-B449-B626165033E7}"/>
              </a:ext>
            </a:extLst>
          </p:cNvPr>
          <p:cNvSpPr/>
          <p:nvPr/>
        </p:nvSpPr>
        <p:spPr>
          <a:xfrm>
            <a:off x="9718813" y="3325258"/>
            <a:ext cx="202445" cy="210106"/>
          </a:xfrm>
          <a:prstGeom prst="rect">
            <a:avLst/>
          </a:prstGeom>
          <a:solidFill>
            <a:schemeClr val="accent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1E2D6AF6-210B-A473-8D69-8B2B39F16DD6}"/>
              </a:ext>
            </a:extLst>
          </p:cNvPr>
          <p:cNvSpPr/>
          <p:nvPr/>
        </p:nvSpPr>
        <p:spPr>
          <a:xfrm>
            <a:off x="9516294" y="3807784"/>
            <a:ext cx="202445" cy="21010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15CAE7D5-DA6B-6B7F-7E78-B050CDA76193}"/>
              </a:ext>
            </a:extLst>
          </p:cNvPr>
          <p:cNvSpPr/>
          <p:nvPr/>
        </p:nvSpPr>
        <p:spPr>
          <a:xfrm>
            <a:off x="9724471" y="3807784"/>
            <a:ext cx="202445" cy="210106"/>
          </a:xfrm>
          <a:prstGeom prst="rect">
            <a:avLst/>
          </a:prstGeom>
          <a:solidFill>
            <a:srgbClr val="FFFF00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4C75495F-3A9F-A0A7-70D0-53B8EF4F3CC4}"/>
              </a:ext>
            </a:extLst>
          </p:cNvPr>
          <p:cNvSpPr/>
          <p:nvPr/>
        </p:nvSpPr>
        <p:spPr>
          <a:xfrm>
            <a:off x="9297985" y="3807784"/>
            <a:ext cx="202445" cy="210106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0FB79676-16BE-1E67-BEA4-00093209AA7C}"/>
              </a:ext>
            </a:extLst>
          </p:cNvPr>
          <p:cNvSpPr/>
          <p:nvPr/>
        </p:nvSpPr>
        <p:spPr>
          <a:xfrm>
            <a:off x="11452464" y="3818078"/>
            <a:ext cx="202445" cy="210106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AFCF6A64-EEA4-0B8E-B542-52F3A9B4945B}"/>
              </a:ext>
            </a:extLst>
          </p:cNvPr>
          <p:cNvSpPr/>
          <p:nvPr/>
        </p:nvSpPr>
        <p:spPr>
          <a:xfrm>
            <a:off x="11673341" y="3818078"/>
            <a:ext cx="202445" cy="21010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1A28BEC9-C9DB-D107-D5B5-62AAEECD9CDD}"/>
              </a:ext>
            </a:extLst>
          </p:cNvPr>
          <p:cNvSpPr/>
          <p:nvPr/>
        </p:nvSpPr>
        <p:spPr>
          <a:xfrm>
            <a:off x="11234155" y="3818078"/>
            <a:ext cx="202445" cy="210106"/>
          </a:xfrm>
          <a:prstGeom prst="rect">
            <a:avLst/>
          </a:prstGeom>
          <a:solidFill>
            <a:srgbClr val="FFC000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DADB9FB5-8D4A-BD1F-7DF9-E32A7BE98E69}"/>
              </a:ext>
            </a:extLst>
          </p:cNvPr>
          <p:cNvSpPr txBox="1"/>
          <p:nvPr/>
        </p:nvSpPr>
        <p:spPr>
          <a:xfrm>
            <a:off x="7811920" y="2461133"/>
            <a:ext cx="11923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Permuted values</a:t>
            </a:r>
          </a:p>
        </p:txBody>
      </p:sp>
      <p:sp>
        <p:nvSpPr>
          <p:cNvPr id="115" name="Arrow: Right 114">
            <a:extLst>
              <a:ext uri="{FF2B5EF4-FFF2-40B4-BE49-F238E27FC236}">
                <a16:creationId xmlns:a16="http://schemas.microsoft.com/office/drawing/2014/main" id="{A8402E9F-B387-78F0-8DFF-E2A0339A854B}"/>
              </a:ext>
            </a:extLst>
          </p:cNvPr>
          <p:cNvSpPr/>
          <p:nvPr/>
        </p:nvSpPr>
        <p:spPr>
          <a:xfrm>
            <a:off x="8324514" y="4017890"/>
            <a:ext cx="1099345" cy="596106"/>
          </a:xfrm>
          <a:prstGeom prst="rightArrow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EEACC97A-3F39-7324-59AB-274C6FED96AA}"/>
              </a:ext>
            </a:extLst>
          </p:cNvPr>
          <p:cNvSpPr txBox="1"/>
          <p:nvPr/>
        </p:nvSpPr>
        <p:spPr>
          <a:xfrm>
            <a:off x="8379790" y="4110499"/>
            <a:ext cx="9181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New</a:t>
            </a:r>
            <a:r>
              <a:rPr lang="en-US" i="1" dirty="0"/>
              <a:t> p</a:t>
            </a:r>
          </a:p>
        </p:txBody>
      </p:sp>
      <p:sp>
        <p:nvSpPr>
          <p:cNvPr id="117" name="Arrow: Down 116">
            <a:extLst>
              <a:ext uri="{FF2B5EF4-FFF2-40B4-BE49-F238E27FC236}">
                <a16:creationId xmlns:a16="http://schemas.microsoft.com/office/drawing/2014/main" id="{17607F9C-41D0-BE29-31EC-9ACD0D99D5CC}"/>
              </a:ext>
            </a:extLst>
          </p:cNvPr>
          <p:cNvSpPr/>
          <p:nvPr/>
        </p:nvSpPr>
        <p:spPr>
          <a:xfrm rot="19969540">
            <a:off x="7609251" y="4801816"/>
            <a:ext cx="557214" cy="538957"/>
          </a:xfrm>
          <a:prstGeom prst="downArrow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" name="Arrow: Down 117">
            <a:extLst>
              <a:ext uri="{FF2B5EF4-FFF2-40B4-BE49-F238E27FC236}">
                <a16:creationId xmlns:a16="http://schemas.microsoft.com/office/drawing/2014/main" id="{FD6C7FCE-CE6F-5750-D332-6DD5F404C65E}"/>
              </a:ext>
            </a:extLst>
          </p:cNvPr>
          <p:cNvSpPr/>
          <p:nvPr/>
        </p:nvSpPr>
        <p:spPr>
          <a:xfrm rot="1710504">
            <a:off x="9120599" y="4804622"/>
            <a:ext cx="557214" cy="538957"/>
          </a:xfrm>
          <a:prstGeom prst="downArrow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Arrow: Down 118">
            <a:extLst>
              <a:ext uri="{FF2B5EF4-FFF2-40B4-BE49-F238E27FC236}">
                <a16:creationId xmlns:a16="http://schemas.microsoft.com/office/drawing/2014/main" id="{27FE095C-7393-4340-49FD-BF4A51F4C919}"/>
              </a:ext>
            </a:extLst>
          </p:cNvPr>
          <p:cNvSpPr/>
          <p:nvPr/>
        </p:nvSpPr>
        <p:spPr>
          <a:xfrm rot="16200000">
            <a:off x="9838521" y="5379936"/>
            <a:ext cx="557214" cy="1036840"/>
          </a:xfrm>
          <a:prstGeom prst="downArrow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E10E6265-9A48-F368-AD6D-A622D031174C}"/>
              </a:ext>
            </a:extLst>
          </p:cNvPr>
          <p:cNvSpPr txBox="1"/>
          <p:nvPr/>
        </p:nvSpPr>
        <p:spPr>
          <a:xfrm>
            <a:off x="6247416" y="5547951"/>
            <a:ext cx="11364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OOB</a:t>
            </a:r>
          </a:p>
          <a:p>
            <a:pPr algn="ctr"/>
            <a:r>
              <a:rPr lang="en-US" dirty="0">
                <a:solidFill>
                  <a:schemeClr val="accent1"/>
                </a:solidFill>
              </a:rPr>
              <a:t>Accuracy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C083E608-94BA-0624-5607-F44A2572DE34}"/>
              </a:ext>
            </a:extLst>
          </p:cNvPr>
          <p:cNvSpPr txBox="1"/>
          <p:nvPr/>
        </p:nvSpPr>
        <p:spPr>
          <a:xfrm>
            <a:off x="10697508" y="5178619"/>
            <a:ext cx="1465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Importance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560A9838-576E-E739-CF63-CC474C6B3243}"/>
              </a:ext>
            </a:extLst>
          </p:cNvPr>
          <p:cNvSpPr txBox="1"/>
          <p:nvPr/>
        </p:nvSpPr>
        <p:spPr>
          <a:xfrm>
            <a:off x="9552834" y="5697948"/>
            <a:ext cx="11004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Average</a:t>
            </a:r>
            <a:endParaRPr lang="en-US" i="1" dirty="0"/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EA8D45B5-E96D-CBB3-27BF-B352D322A85D}"/>
              </a:ext>
            </a:extLst>
          </p:cNvPr>
          <p:cNvSpPr/>
          <p:nvPr/>
        </p:nvSpPr>
        <p:spPr>
          <a:xfrm>
            <a:off x="7493296" y="5566807"/>
            <a:ext cx="458193" cy="729237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AF6F3CAD-DC14-FBD7-696E-407B4D8A9D58}"/>
              </a:ext>
            </a:extLst>
          </p:cNvPr>
          <p:cNvSpPr txBox="1"/>
          <p:nvPr/>
        </p:nvSpPr>
        <p:spPr>
          <a:xfrm>
            <a:off x="8097919" y="5742046"/>
            <a:ext cx="3642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-</a:t>
            </a:r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E4773D73-0637-97CD-CEEF-FAFDE6DC7A04}"/>
              </a:ext>
            </a:extLst>
          </p:cNvPr>
          <p:cNvSpPr/>
          <p:nvPr/>
        </p:nvSpPr>
        <p:spPr>
          <a:xfrm>
            <a:off x="8596744" y="5945645"/>
            <a:ext cx="458193" cy="36933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0635965A-EF04-2387-1CB0-51ED9EBF2332}"/>
              </a:ext>
            </a:extLst>
          </p:cNvPr>
          <p:cNvSpPr/>
          <p:nvPr/>
        </p:nvSpPr>
        <p:spPr>
          <a:xfrm>
            <a:off x="11196403" y="5926712"/>
            <a:ext cx="458193" cy="36933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7750DC3D-4F81-3F70-6B6D-14BB2384B056}"/>
              </a:ext>
            </a:extLst>
          </p:cNvPr>
          <p:cNvSpPr/>
          <p:nvPr/>
        </p:nvSpPr>
        <p:spPr>
          <a:xfrm>
            <a:off x="8596744" y="5576313"/>
            <a:ext cx="458193" cy="36933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1005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1222</TotalTime>
  <Words>609</Words>
  <Application>Microsoft Office PowerPoint</Application>
  <PresentationFormat>Widescreen</PresentationFormat>
  <Paragraphs>80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What’s in the bag?: Random forests</vt:lpstr>
      <vt:lpstr>Overview of this section</vt:lpstr>
      <vt:lpstr>Reducing variance</vt:lpstr>
      <vt:lpstr>Bagging</vt:lpstr>
      <vt:lpstr>Bagging, explained</vt:lpstr>
      <vt:lpstr>Bagging – some new concepts</vt:lpstr>
      <vt:lpstr>Out-of-bag error</vt:lpstr>
      <vt:lpstr>Random forest</vt:lpstr>
      <vt:lpstr>Random forest, explained</vt:lpstr>
      <vt:lpstr>How many trees to plant in the forest?</vt:lpstr>
      <vt:lpstr>Variable importance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Grant L Vagle</dc:creator>
  <cp:lastModifiedBy>Jeremiah S Shrovnal</cp:lastModifiedBy>
  <cp:revision>10</cp:revision>
  <dcterms:created xsi:type="dcterms:W3CDTF">2026-03-30T16:24:03Z</dcterms:created>
  <dcterms:modified xsi:type="dcterms:W3CDTF">2026-04-13T22:54:57Z</dcterms:modified>
</cp:coreProperties>
</file>