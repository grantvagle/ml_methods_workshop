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A_9574819A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9C0E9E-0845-2857-41B9-A515027B7F34}" name="Grant L Vagle" initials="GLV" userId="S::vagle019@umn.edu::40902a55-dc63-4c17-95df-ff32dc99a57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744"/>
  </p:normalViewPr>
  <p:slideViewPr>
    <p:cSldViewPr snapToGrid="0">
      <p:cViewPr varScale="1">
        <p:scale>
          <a:sx n="92" d="100"/>
          <a:sy n="92" d="100"/>
        </p:scale>
        <p:origin x="17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modernComment_10A_957481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F1740FA-DFFC-FA41-93E9-4EED6689432B}" authorId="{579C0E9E-0845-2857-41B9-A515027B7F34}" created="2026-03-30T16:17:39.13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07440538" sldId="266"/>
      <ac:spMk id="4" creationId="{03BC5CEF-C326-2047-A4E7-CCB0ECA30959}"/>
      <ac:txMk cp="20" len="176">
        <ac:context len="236" hash="2921183158"/>
      </ac:txMk>
    </ac:txMkLst>
    <p188:pos x="4959927" y="878459"/>
    <p188:txBody>
      <a:bodyPr/>
      <a:lstStyle/>
      <a:p>
        <a:r>
          <a:rPr lang="en-US"/>
          <a:t>Could also flip, I've done both but not sure which I'd rather teach in the workshop...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D8851-E0C4-5646-8CC5-734891EC49CD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330999-8BAC-FF4E-BF5A-F75E56417D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69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[link to accuracy metrics](https://</a:t>
            </a:r>
            <a:r>
              <a:rPr lang="en-US" dirty="0" err="1"/>
              <a:t>developers.google.com</a:t>
            </a:r>
            <a:r>
              <a:rPr lang="en-US" dirty="0"/>
              <a:t>/machine-learning/crash-course/classification/accuracy-precision-recall)</a:t>
            </a:r>
          </a:p>
          <a:p>
            <a:r>
              <a:rPr lang="en-US" dirty="0"/>
              <a:t>- [link to ROC and AUC](https://</a:t>
            </a:r>
            <a:r>
              <a:rPr lang="en-US" dirty="0" err="1"/>
              <a:t>developers.google.com</a:t>
            </a:r>
            <a:r>
              <a:rPr lang="en-US" dirty="0"/>
              <a:t>/machine-learning/crash-course/classification/roc-and-</a:t>
            </a:r>
            <a:r>
              <a:rPr lang="en-US" dirty="0" err="1"/>
              <a:t>auc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30999-8BAC-FF4E-BF5A-F75E56417D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94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[*] [stack exchange discussion on RMSE and R-squared](https://</a:t>
            </a:r>
            <a:r>
              <a:rPr lang="en-US" dirty="0" err="1"/>
              <a:t>datascience.stackexchange.com</a:t>
            </a:r>
            <a:r>
              <a:rPr lang="en-US" dirty="0"/>
              <a:t>/questions/100605/</a:t>
            </a:r>
            <a:r>
              <a:rPr lang="en-US" dirty="0" err="1"/>
              <a:t>rmse</a:t>
            </a:r>
            <a:r>
              <a:rPr lang="en-US" dirty="0"/>
              <a:t>-vs-r-squared)</a:t>
            </a:r>
          </a:p>
          <a:p>
            <a:pPr marL="0" indent="0">
              <a:buNone/>
            </a:pPr>
            <a:r>
              <a:rPr lang="en-US" dirty="0"/>
              <a:t>  [**] [link to article with many other evaluation metrics](https://</a:t>
            </a:r>
            <a:r>
              <a:rPr lang="en-US" dirty="0" err="1"/>
              <a:t>towardsai.net</a:t>
            </a:r>
            <a:r>
              <a:rPr lang="en-US" dirty="0"/>
              <a:t>/p/artificial-intelligence/the-essential-guide-to-ml-evaluation-metrics-for-regression)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330999-8BAC-FF4E-BF5A-F75E56417D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95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971E4-30FA-9BF2-3487-ABF771BB5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D5B32-5FBE-FB8A-0EB6-9A9C5F685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4D994-60EC-2E80-D507-7B2129F49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2ACAA-75FA-AD45-8679-E5834893ECE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D916B-5E81-C866-7C19-D930DFC0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C5FE7-0E2B-F759-E052-2BC1E6090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51B6-A0E7-7D42-8FD8-8032A1F86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7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61F05-22CC-EBCF-1DC9-2D78266FC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344F9-C4E6-839F-7E5C-9E4D59EAB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CC009-E5C6-81AA-3CA7-1867D9AA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2ACAA-75FA-AD45-8679-E5834893ECE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E481A-28DC-F29B-2F75-8490D44C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47D95-AB9E-3592-F99F-6AB71E3CA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51B6-A0E7-7D42-8FD8-8032A1F86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613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D14EF-DA90-095E-040B-CF1A9B7F5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4FBAD-6DB0-3295-9698-DB2CE97A0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D3D9C-41B3-78F0-BB7E-733AE0570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2ACAA-75FA-AD45-8679-E5834893ECE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530FD-3A9A-A125-07F8-CE89033B4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A7672-2E7F-5E16-29CC-C1728667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51B6-A0E7-7D42-8FD8-8032A1F86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0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50D85-2132-C4E9-0A70-D6019723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98B1B-AE3D-1E90-69DD-D1B0F2443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414D1-5B31-CCF5-9FA9-983A713B9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77F95-AE45-77A3-70EC-F606F6A22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2ACAA-75FA-AD45-8679-E5834893ECE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53F66-8154-F361-B610-951774134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96578-31DE-D85E-1F4A-D590910A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51B6-A0E7-7D42-8FD8-8032A1F86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47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EEAA7-20B5-C37E-87D0-580ABBB9A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AB0EF-5DBE-C0A4-960C-3C9AC2594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0108D-CA89-08B5-501E-7406B8505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8A2CC4-DB2C-768A-AF9D-20C639676D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E66CF5-E992-0019-4D56-CA4F54F36D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1ADCD8-814B-7C34-C654-CD8B5F3D7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2ACAA-75FA-AD45-8679-E5834893ECE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C188C2-F4C5-8312-A84B-BA896082B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029C34-66E0-9EA6-2889-2145B9B8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51B6-A0E7-7D42-8FD8-8032A1F86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5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6150E-C876-BA24-799E-CA6F7460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C7FAE-7976-CFE6-DEA4-54D26A115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2ACAA-75FA-AD45-8679-E5834893ECE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AE4F8-5149-162A-18B5-7DE74F0F0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91956E-E6D5-AC3A-CA4B-131BED651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51B6-A0E7-7D42-8FD8-8032A1F86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09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274C3F-2D4E-9D94-6B05-6C382291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2ACAA-75FA-AD45-8679-E5834893ECE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11B908-195C-5646-0949-C3C530F75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84C62-314E-FD18-A75B-B05C2D3D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51B6-A0E7-7D42-8FD8-8032A1F86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631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AF8B-1495-918C-1BAA-B6F383BEC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A500D-221D-6207-0410-26F0B2D23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6849E-5C94-3CF0-0C51-7ED462577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6FACB-9F45-8CF7-D4B9-7DDCE33AA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2ACAA-75FA-AD45-8679-E5834893ECE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CADCB-9AE6-0CAB-73B4-3E5EEAFF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E51C6-8EED-4A2F-BBE5-22328E48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51B6-A0E7-7D42-8FD8-8032A1F86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05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AB51-0A4E-93E4-D63D-1C1D465E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CA271A-6137-977D-7064-508070D1C4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D5D12-CC08-91CE-58A2-AD149CD28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66DE0-5653-6D2A-9CFB-4B8CD5ED9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2ACAA-75FA-AD45-8679-E5834893ECE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57D0-E28F-3549-8DB5-36299EA18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D93EC-B47A-D748-00B8-A2994113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51B6-A0E7-7D42-8FD8-8032A1F86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1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5C8A-85CF-A833-B16D-DF727D7C6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720EE-1419-279A-6E17-38B1143C4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35A01-0BDF-5AD6-43A3-62C080DF9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2ACAA-75FA-AD45-8679-E5834893ECE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579E0-EE7D-8571-967A-F796397EF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737A2-146C-FCB2-041F-3DC34C65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51B6-A0E7-7D42-8FD8-8032A1F86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95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0E5E5E-8262-082B-ED3F-7D8A838B9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B83DF-4053-6F85-DAF1-65119C863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C1EE4-147B-B287-B46A-B82DF5F5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2ACAA-75FA-AD45-8679-E5834893ECE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84E42-0408-23B1-3F41-E6415CF0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6E419-0553-ACBD-3152-A503DAA3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551B6-A0E7-7D42-8FD8-8032A1F86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61F522-F913-4F60-61B7-98474024E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1A13E-C3E5-5998-F62D-E6D7922C3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32B75-F306-257D-8564-F44F414142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2ACAA-75FA-AD45-8679-E5834893ECEC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E544B-B5F0-4CAF-2CF6-028F1F0E5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20664-F89C-1124-FDFE-F9DB35413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4551B6-A0E7-7D42-8FD8-8032A1F868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4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9574819A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97EA-A7D0-79B2-295E-1624E34FA9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evaluation and cross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86EE02-CD74-3E24-9C07-FC52D726FE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Grant Vagle, Jeremiah </a:t>
            </a:r>
            <a:r>
              <a:rPr lang="en-US" dirty="0" err="1"/>
              <a:t>Shrovnal</a:t>
            </a:r>
            <a:r>
              <a:rPr lang="en-US" dirty="0"/>
              <a:t>, Lynn Waterhouse</a:t>
            </a:r>
          </a:p>
        </p:txBody>
      </p:sp>
    </p:spTree>
    <p:extLst>
      <p:ext uri="{BB962C8B-B14F-4D97-AF65-F5344CB8AC3E}">
        <p14:creationId xmlns:p14="http://schemas.microsoft.com/office/powerpoint/2010/main" val="151023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FEE43-3E38-0E3E-D961-776F83702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6F78E-25BB-904F-58EC-329917D56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Introduce Classification and Regression Trees (CART)</a:t>
            </a:r>
          </a:p>
          <a:p>
            <a:pPr lvl="1"/>
            <a:r>
              <a:rPr lang="en-US" dirty="0"/>
              <a:t>Model training algorithm</a:t>
            </a:r>
          </a:p>
          <a:p>
            <a:pPr lvl="1"/>
            <a:r>
              <a:rPr lang="en-US" dirty="0"/>
              <a:t>Performance metrics</a:t>
            </a:r>
          </a:p>
          <a:p>
            <a:r>
              <a:rPr lang="en-US" dirty="0"/>
              <a:t>Show how to evaluate prediction performance via:</a:t>
            </a:r>
          </a:p>
          <a:p>
            <a:pPr lvl="1"/>
            <a:r>
              <a:rPr lang="en-US" dirty="0"/>
              <a:t>Independent test set</a:t>
            </a:r>
          </a:p>
          <a:p>
            <a:pPr lvl="1"/>
            <a:r>
              <a:rPr lang="en-US" dirty="0"/>
              <a:t>K-fold cross-validation</a:t>
            </a:r>
          </a:p>
          <a:p>
            <a:pPr lvl="1"/>
            <a:r>
              <a:rPr lang="en-US" dirty="0"/>
              <a:t>Spatial and temporal evaluations</a:t>
            </a:r>
          </a:p>
          <a:p>
            <a:r>
              <a:rPr lang="en-US" dirty="0"/>
              <a:t>How to work with unbalanced data, small data sets, etc.</a:t>
            </a:r>
          </a:p>
          <a:p>
            <a:pPr lvl="1"/>
            <a:r>
              <a:rPr lang="en-US" dirty="0"/>
              <a:t>Which performance metric should be the focus?</a:t>
            </a:r>
          </a:p>
          <a:p>
            <a:pPr lvl="1"/>
            <a:r>
              <a:rPr lang="en-US" dirty="0"/>
              <a:t>Weighting input rows</a:t>
            </a:r>
          </a:p>
          <a:p>
            <a:pPr lvl="1"/>
            <a:r>
              <a:rPr lang="en-US" dirty="0"/>
              <a:t>Synthetic Minority Oversampling </a:t>
            </a:r>
            <a:r>
              <a:rPr lang="en-US" dirty="0" err="1"/>
              <a:t>TEchnique</a:t>
            </a:r>
            <a:r>
              <a:rPr lang="en-US" dirty="0"/>
              <a:t> (SMOTE) for augmenting small datasets</a:t>
            </a:r>
          </a:p>
          <a:p>
            <a:r>
              <a:rPr lang="en-US" dirty="0"/>
              <a:t>Hands-on coding example</a:t>
            </a:r>
          </a:p>
        </p:txBody>
      </p:sp>
    </p:spTree>
    <p:extLst>
      <p:ext uri="{BB962C8B-B14F-4D97-AF65-F5344CB8AC3E}">
        <p14:creationId xmlns:p14="http://schemas.microsoft.com/office/powerpoint/2010/main" val="1082412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75CC-935F-0CF9-FC1F-E0B0D254F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and Regression Trees (CART)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73098-2150-6397-382E-65B9DD64D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overview of model algorithm</a:t>
            </a:r>
          </a:p>
        </p:txBody>
      </p:sp>
    </p:spTree>
    <p:extLst>
      <p:ext uri="{BB962C8B-B14F-4D97-AF65-F5344CB8AC3E}">
        <p14:creationId xmlns:p14="http://schemas.microsoft.com/office/powerpoint/2010/main" val="697061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B0B8-D711-CAEB-FE86-2D7A61020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metrics -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31D8D-36CE-D3D9-865F-879E6E664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71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9C5C-39AB-B9C9-E471-2303A9FC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 metrics -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DD50A-DB67-C2B7-4EDC-A5B5745F4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INSERT figure that shows observed vs predicted with some variability, to kick off the slide of how we measure the accuracy of the predictions</a:t>
            </a:r>
          </a:p>
          <a:p>
            <a:r>
              <a:rPr lang="en-US" dirty="0"/>
              <a:t>RMSE is very common, many others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$$ RMSE = \sqrt{ \frac{\sum (observed - predicted)^2 }{n} } $$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It's related to $R^2$: $$ R^2 = 1 - \frac{RMSE^2}{Var(y)}$$</a:t>
            </a:r>
          </a:p>
          <a:p>
            <a:pPr marL="0" indent="0">
              <a:buNone/>
            </a:pPr>
            <a:r>
              <a:rPr lang="en-US" dirty="0"/>
              <a:t>Typically, $R^2$ is calculated on **training data**, and $RMSE$ is calculated on a **test set**.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218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95B8-4A71-743D-70FA-DCBDB335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0D6EF-15BD-BE47-CDCA-566FDE87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895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5654-A376-21A2-5DCD-FACCFCC5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 and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056A0-B353-C081-017D-281B629E7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First, an example…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INSERT</a:t>
            </a:r>
            <a:r>
              <a:rPr lang="en-US" dirty="0"/>
              <a:t> example of model (probably classification) that performs well on the training data, but poorly on new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Is this a good model? Or a bad model? It depends how we evaluate it...</a:t>
            </a:r>
          </a:p>
        </p:txBody>
      </p:sp>
    </p:spTree>
    <p:extLst>
      <p:ext uri="{BB962C8B-B14F-4D97-AF65-F5344CB8AC3E}">
        <p14:creationId xmlns:p14="http://schemas.microsoft.com/office/powerpoint/2010/main" val="177675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8BD5-1866-8949-4A75-E045188B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should </a:t>
            </a:r>
            <a:r>
              <a:rPr lang="en-US" i="1" dirty="0"/>
              <a:t>always </a:t>
            </a:r>
            <a:r>
              <a:rPr lang="en-US" dirty="0"/>
              <a:t>evaluate your model with an </a:t>
            </a:r>
            <a:r>
              <a:rPr lang="en-US" b="1" dirty="0"/>
              <a:t>independent test set</a:t>
            </a:r>
            <a:endParaRPr lang="en-US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D81AE-EEF4-2FD6-10E6-7E3EC20FF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simplest option is to:</a:t>
            </a:r>
          </a:p>
          <a:p>
            <a:r>
              <a:rPr lang="en-US" dirty="0"/>
              <a:t>Hold out 20% of your dataset as the </a:t>
            </a:r>
            <a:r>
              <a:rPr lang="en-US" b="1" dirty="0"/>
              <a:t>test set</a:t>
            </a:r>
          </a:p>
          <a:p>
            <a:r>
              <a:rPr lang="en-US" dirty="0"/>
              <a:t>Train your model on the 80% </a:t>
            </a:r>
            <a:r>
              <a:rPr lang="en-US" b="1" dirty="0"/>
              <a:t>training set</a:t>
            </a:r>
          </a:p>
          <a:p>
            <a:r>
              <a:rPr lang="en-US" dirty="0"/>
              <a:t>Calculate performance metrics on the test set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866A68-2498-F3B1-38FB-4AE0B2236D18}"/>
              </a:ext>
            </a:extLst>
          </p:cNvPr>
          <p:cNvSpPr txBox="1"/>
          <p:nvPr/>
        </p:nvSpPr>
        <p:spPr>
          <a:xfrm>
            <a:off x="5572772" y="6169709"/>
            <a:ext cx="71169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Sometimes, sample size makes this impractical or requires alternatives for a specific application...we'll talk about those later.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BA9765-44B7-8C47-2DB8-F54935B27004}"/>
              </a:ext>
            </a:extLst>
          </p:cNvPr>
          <p:cNvSpPr txBox="1"/>
          <p:nvPr/>
        </p:nvSpPr>
        <p:spPr>
          <a:xfrm>
            <a:off x="1319514" y="4676172"/>
            <a:ext cx="2591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INSERT GRAPHIC</a:t>
            </a:r>
          </a:p>
        </p:txBody>
      </p:sp>
    </p:spTree>
    <p:extLst>
      <p:ext uri="{BB962C8B-B14F-4D97-AF65-F5344CB8AC3E}">
        <p14:creationId xmlns:p14="http://schemas.microsoft.com/office/powerpoint/2010/main" val="63385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64831-9647-66C8-2A0D-733435F4D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4B68D-001C-0E24-5F1A-4F72F1B64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Another common way to evaluate a model is via k-fold cross validation.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INSERT GRAPHIC FOR EXPLANATION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`k = 10`, you train a model using a randomized 90% of the data, then evaluate it on the remaining 10%. Repeat this for 10 "folds" of the data, then take the average&lt;sup&gt;*&lt;/sup&gt; performance across the ten folds.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way, every row in the dataset is evaluated in one test set.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Leave-one-out cross-validation is when `k = # of rows`, is very useful but sometimes too computationally heavy, since you have to train k models.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E41563-C349-12D7-E220-408A66F6861A}"/>
              </a:ext>
            </a:extLst>
          </p:cNvPr>
          <p:cNvSpPr txBox="1"/>
          <p:nvPr/>
        </p:nvSpPr>
        <p:spPr>
          <a:xfrm>
            <a:off x="4930815" y="6211669"/>
            <a:ext cx="7349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Summarizing a performance across folds is typically done using the arithmetic mean but could be summarized in a number of relevant ways.</a:t>
            </a:r>
          </a:p>
        </p:txBody>
      </p:sp>
    </p:spTree>
    <p:extLst>
      <p:ext uri="{BB962C8B-B14F-4D97-AF65-F5344CB8AC3E}">
        <p14:creationId xmlns:p14="http://schemas.microsoft.com/office/powerpoint/2010/main" val="1699236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238B0-72F7-2ACA-F2BE-3DF32754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and temporal (or other structural)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D2084-CDC5-7E97-1C0E-C8C0D8AA9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It’s a good idea to structure your model evaluation depending on the prediction problem you’re most interested in…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3B914-E3EC-B526-54BC-26AF18964B5F}"/>
              </a:ext>
            </a:extLst>
          </p:cNvPr>
          <p:cNvSpPr txBox="1"/>
          <p:nvPr/>
        </p:nvSpPr>
        <p:spPr>
          <a:xfrm>
            <a:off x="347241" y="4525701"/>
            <a:ext cx="293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AIS project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A4894-2B83-C193-CFC0-BF78212F513C}"/>
              </a:ext>
            </a:extLst>
          </p:cNvPr>
          <p:cNvSpPr txBox="1"/>
          <p:nvPr/>
        </p:nvSpPr>
        <p:spPr>
          <a:xfrm>
            <a:off x="4919240" y="4001294"/>
            <a:ext cx="6691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INSERT another example with leave one lake out approach (Alex’s)</a:t>
            </a:r>
          </a:p>
        </p:txBody>
      </p:sp>
    </p:spTree>
    <p:extLst>
      <p:ext uri="{BB962C8B-B14F-4D97-AF65-F5344CB8AC3E}">
        <p14:creationId xmlns:p14="http://schemas.microsoft.com/office/powerpoint/2010/main" val="632577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DFF8-0C73-49BF-B0DE-5DFCB2DC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thoughts on what constitutes a “final model”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07327-CA88-138E-35F5-C276ABDB7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196787" cy="44862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If you’re interested in making predictions outside the available dataset…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probably want to make final predictions using all of the available data…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using all of the data doesn’t leave any available for model evaluation…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BC5CEF-C326-2047-A4E7-CCB0ECA30959}"/>
              </a:ext>
            </a:extLst>
          </p:cNvPr>
          <p:cNvSpPr txBox="1">
            <a:spLocks/>
          </p:cNvSpPr>
          <p:nvPr/>
        </p:nvSpPr>
        <p:spPr>
          <a:xfrm>
            <a:off x="6096000" y="1726196"/>
            <a:ext cx="4941425" cy="44862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One way that works:</a:t>
            </a:r>
          </a:p>
          <a:p>
            <a:r>
              <a:rPr lang="en-US" dirty="0"/>
              <a:t>Build a model using the training set(s)</a:t>
            </a:r>
          </a:p>
          <a:p>
            <a:r>
              <a:rPr lang="en-US" dirty="0"/>
              <a:t>Evaluate the model using the test set(s)</a:t>
            </a:r>
          </a:p>
          <a:p>
            <a:r>
              <a:rPr lang="en-US" dirty="0"/>
              <a:t>Re-build the model (using the same parameters) with the full dataset, call it the “final model”</a:t>
            </a:r>
          </a:p>
          <a:p>
            <a:r>
              <a:rPr lang="en-US" dirty="0"/>
              <a:t>Make predictions using the final model</a:t>
            </a:r>
          </a:p>
        </p:txBody>
      </p:sp>
    </p:spTree>
    <p:extLst>
      <p:ext uri="{BB962C8B-B14F-4D97-AF65-F5344CB8AC3E}">
        <p14:creationId xmlns:p14="http://schemas.microsoft.com/office/powerpoint/2010/main" val="25074405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EA71-7B3C-12EA-AFED-BF652B54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DAA9D-D15D-2A71-CF6C-74A97DB58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41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01954-72B5-A072-BA66-4298F8106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BDF31-7C2C-7AB3-28CC-C1C18B427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76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EB099-EDFE-49C0-F92A-5A06671F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to a hands-on coding example…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E5F25-6642-7C5A-28C2-4F63673F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details on where to find, how long, etc.</a:t>
            </a:r>
          </a:p>
        </p:txBody>
      </p:sp>
    </p:spTree>
    <p:extLst>
      <p:ext uri="{BB962C8B-B14F-4D97-AF65-F5344CB8AC3E}">
        <p14:creationId xmlns:p14="http://schemas.microsoft.com/office/powerpoint/2010/main" val="3633211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11CD7-89B4-B643-CF66-E9D8F9BC6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E21D5-146D-7C17-18B4-08D54AEF9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29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3EEAE-7C1E-7E84-E710-BCAF923B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B462A-BCE3-2BF8-051B-76EC25242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15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726</Words>
  <Application>Microsoft Macintosh PowerPoint</Application>
  <PresentationFormat>Widescreen</PresentationFormat>
  <Paragraphs>73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Model evaluation and cross validation</vt:lpstr>
      <vt:lpstr>Overview of this section</vt:lpstr>
      <vt:lpstr>Classification and Regression Trees (CART)</vt:lpstr>
      <vt:lpstr>Model performance metrics - classification</vt:lpstr>
      <vt:lpstr>Model performance metrics - regression</vt:lpstr>
      <vt:lpstr>PowerPoint Presentation</vt:lpstr>
      <vt:lpstr>Model evaluation and cross-validation</vt:lpstr>
      <vt:lpstr>You should always evaluate your model with an independent test set</vt:lpstr>
      <vt:lpstr>K-fold cross-validation</vt:lpstr>
      <vt:lpstr>Spatial and temporal (or other structural) considerations</vt:lpstr>
      <vt:lpstr>Some thoughts on what constitutes a “final model”</vt:lpstr>
      <vt:lpstr>PowerPoint Presentation</vt:lpstr>
      <vt:lpstr>PowerPoint Presentation</vt:lpstr>
      <vt:lpstr>Now to a hands-on coding example…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Grant L Vagle</dc:creator>
  <cp:lastModifiedBy>Grant L Vagle</cp:lastModifiedBy>
  <cp:revision>4</cp:revision>
  <dcterms:created xsi:type="dcterms:W3CDTF">2026-03-30T15:57:43Z</dcterms:created>
  <dcterms:modified xsi:type="dcterms:W3CDTF">2026-03-30T17:16:56Z</dcterms:modified>
</cp:coreProperties>
</file>