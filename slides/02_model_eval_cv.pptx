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8"/>
  </p:notesMasterIdLst>
  <p:sldIdLst>
    <p:sldId id="256" r:id="rId2"/>
    <p:sldId id="294" r:id="rId3"/>
    <p:sldId id="295" r:id="rId4"/>
    <p:sldId id="259" r:id="rId5"/>
    <p:sldId id="285" r:id="rId6"/>
    <p:sldId id="284" r:id="rId7"/>
    <p:sldId id="286" r:id="rId8"/>
    <p:sldId id="288" r:id="rId9"/>
    <p:sldId id="289" r:id="rId10"/>
    <p:sldId id="287" r:id="rId11"/>
    <p:sldId id="292" r:id="rId12"/>
    <p:sldId id="293" r:id="rId13"/>
    <p:sldId id="291" r:id="rId14"/>
    <p:sldId id="290" r:id="rId15"/>
    <p:sldId id="260" r:id="rId16"/>
    <p:sldId id="296" r:id="rId17"/>
    <p:sldId id="311" r:id="rId18"/>
    <p:sldId id="310" r:id="rId19"/>
    <p:sldId id="309" r:id="rId20"/>
    <p:sldId id="313" r:id="rId21"/>
    <p:sldId id="299" r:id="rId22"/>
    <p:sldId id="317" r:id="rId23"/>
    <p:sldId id="316" r:id="rId24"/>
    <p:sldId id="261" r:id="rId25"/>
    <p:sldId id="318" r:id="rId26"/>
    <p:sldId id="319" r:id="rId27"/>
    <p:sldId id="308" r:id="rId28"/>
    <p:sldId id="321" r:id="rId29"/>
    <p:sldId id="323" r:id="rId30"/>
    <p:sldId id="322" r:id="rId31"/>
    <p:sldId id="324" r:id="rId32"/>
    <p:sldId id="300" r:id="rId33"/>
    <p:sldId id="301" r:id="rId34"/>
    <p:sldId id="263" r:id="rId35"/>
    <p:sldId id="264" r:id="rId36"/>
    <p:sldId id="265" r:id="rId37"/>
    <p:sldId id="303" r:id="rId38"/>
    <p:sldId id="302" r:id="rId39"/>
    <p:sldId id="266" r:id="rId40"/>
    <p:sldId id="305" r:id="rId41"/>
    <p:sldId id="304" r:id="rId42"/>
    <p:sldId id="307" r:id="rId43"/>
    <p:sldId id="267" r:id="rId44"/>
    <p:sldId id="272" r:id="rId45"/>
    <p:sldId id="274" r:id="rId46"/>
    <p:sldId id="273" r:id="rId47"/>
    <p:sldId id="275" r:id="rId48"/>
    <p:sldId id="278" r:id="rId49"/>
    <p:sldId id="282" r:id="rId50"/>
    <p:sldId id="281" r:id="rId51"/>
    <p:sldId id="280" r:id="rId52"/>
    <p:sldId id="279" r:id="rId53"/>
    <p:sldId id="271" r:id="rId54"/>
    <p:sldId id="320" r:id="rId55"/>
    <p:sldId id="268" r:id="rId56"/>
    <p:sldId id="269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79C0E9E-0845-2857-41B9-A515027B7F34}" name="Grant L Vagle" initials="GLV" userId="S::vagle019@umn.edu::40902a55-dc63-4c17-95df-ff32dc99a57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10"/>
    <p:restoredTop sz="70909"/>
  </p:normalViewPr>
  <p:slideViewPr>
    <p:cSldViewPr snapToGrid="0">
      <p:cViewPr varScale="1">
        <p:scale>
          <a:sx n="110" d="100"/>
          <a:sy n="110" d="100"/>
        </p:scale>
        <p:origin x="21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DD8851-E0C4-5646-8CC5-734891EC49C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330999-8BAC-FF4E-BF5A-F75E56417D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6693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1298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[link to accuracy metrics](https://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/machine-learning/crash-course/classification/accuracy-precision-recall)</a:t>
            </a:r>
          </a:p>
          <a:p>
            <a:r>
              <a:rPr lang="en-US" dirty="0"/>
              <a:t>- [link to ROC and AUC](https://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/machine-learning/crash-course/classification/roc-and-</a:t>
            </a:r>
            <a:r>
              <a:rPr lang="en-US" dirty="0" err="1"/>
              <a:t>auc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2945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064B5-52F3-A6A2-D55F-1673CF0FB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038545-4204-5C87-AED8-D668BC71F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517668-6C0B-35E3-5C39-CD6535A01A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[link to accuracy metrics](https://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/machine-learning/crash-course/classification/accuracy-precision-recall)</a:t>
            </a:r>
          </a:p>
          <a:p>
            <a:r>
              <a:rPr lang="en-US" dirty="0"/>
              <a:t>- [link to ROC and AUC](https://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/machine-learning/crash-course/classification/roc-and-</a:t>
            </a:r>
            <a:r>
              <a:rPr lang="en-US" dirty="0" err="1"/>
              <a:t>auc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25608-A3C5-1E40-0DC4-46BC126E67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0820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C7CBE-6008-F2CA-1A21-4B5A0D7B5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4F967A-8E98-40E0-384B-6E1EC3178E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7AFD6B-A74D-3F89-E3B0-371D8A1270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[link to accuracy metrics](https://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/machine-learning/crash-course/classification/accuracy-precision-recall)</a:t>
            </a:r>
          </a:p>
          <a:p>
            <a:r>
              <a:rPr lang="en-US" dirty="0"/>
              <a:t>- [link to ROC and AUC](https://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/machine-learning/crash-course/classification/roc-and-</a:t>
            </a:r>
            <a:r>
              <a:rPr lang="en-US" dirty="0" err="1"/>
              <a:t>auc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F9C2A9-243D-53A4-1424-8B7A37648A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5651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4AFBE-7321-7F0C-D970-49C6015A8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1D68BE-90A3-A978-F55B-FD77C17702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968AE9-6D9A-B430-6679-E577141A06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6A3E0-DF31-24E1-A638-7D018B8418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420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7FCFD-7014-E4F3-9AC6-CE27E0C0C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65999-DE0B-A6A4-9301-7ECF9258AE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4FAC54-23B4-F130-BEA5-BEBAF2195A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4EDA0F-CA8E-058B-78D1-5CB29FDD4A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1161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A17D2-12EC-71C3-DB72-4A6DE5AE9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5F3FFF-64C2-C20C-3E3F-7684C0B2BA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A1C1D-4A81-D39E-B74E-EC61F186C7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18C2D4-609C-838E-6FE6-6372988CC8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4879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1FC4C-726F-EEE8-CF79-06285AD9C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4898DE-C398-856B-6C28-2A9FB6D1DD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DBEA1E-C30B-6018-E659-4065EE5675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92EE9-8E7D-CDED-517D-DC9557930D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9834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2AB84-9BAC-D968-CC56-A03DCEFF2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249509-318B-1204-BECC-81A53BD909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9E8146-9A6E-102D-1885-A9F665532B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B8B668-2869-58E2-AA8F-16A08092B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515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5A052-0619-9DBD-3B4F-D46FF55FD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602E14-07BB-FC1C-8373-168662C4B9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0B6AA-0C05-911F-1B65-E95345129D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3D2885-FE5F-7186-FB35-292A145EA4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3236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75E90-DB69-87CB-DB30-6A06B11EF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21E6F0-ECDF-B717-0399-85EDE437D3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B8BAE2-C729-B8BC-9246-9E86508BB0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79292E-7B7C-5CA7-436B-FF1D617944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2817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155AF-D679-0108-9F4A-54B7D2C37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7E2DF-09F1-5D16-035E-272BAD9744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CEF66F-15CA-656D-DA79-68C64E6087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96AD6F-CEF1-EA5E-773E-650B83C38A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0018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[*] [stack exchange discussion on RMSE and R-squared](https://</a:t>
            </a:r>
            <a:r>
              <a:rPr lang="en-US" dirty="0" err="1"/>
              <a:t>datascience.stackexchange.com</a:t>
            </a:r>
            <a:r>
              <a:rPr lang="en-US" dirty="0"/>
              <a:t>/questions/100605/</a:t>
            </a:r>
            <a:r>
              <a:rPr lang="en-US" dirty="0" err="1"/>
              <a:t>rmse</a:t>
            </a:r>
            <a:r>
              <a:rPr lang="en-US" dirty="0"/>
              <a:t>-vs-r-squared)</a:t>
            </a:r>
          </a:p>
          <a:p>
            <a:pPr marL="0" indent="0">
              <a:buNone/>
            </a:pPr>
            <a:r>
              <a:rPr lang="en-US" dirty="0"/>
              <a:t>  [**] [link to article with many other evaluation metrics](https://</a:t>
            </a:r>
            <a:r>
              <a:rPr lang="en-US" dirty="0" err="1"/>
              <a:t>towardsai.net</a:t>
            </a:r>
            <a:r>
              <a:rPr lang="en-US" dirty="0"/>
              <a:t>/p/artificial-intelligence/the-essential-guide-to-ml-evaluation-metrics-for-regression)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4953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5F3BA-D737-436E-5A0F-5D8996F60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99A1A0-406F-BC70-497F-D32614CBBF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B1235B-5F49-53B8-60D0-F628807D72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[*] [stack exchange discussion on RMSE and R-squared](https://</a:t>
            </a:r>
            <a:r>
              <a:rPr lang="en-US" dirty="0" err="1"/>
              <a:t>datascience.stackexchange.com</a:t>
            </a:r>
            <a:r>
              <a:rPr lang="en-US" dirty="0"/>
              <a:t>/questions/100605/</a:t>
            </a:r>
            <a:r>
              <a:rPr lang="en-US" dirty="0" err="1"/>
              <a:t>rmse</a:t>
            </a:r>
            <a:r>
              <a:rPr lang="en-US" dirty="0"/>
              <a:t>-vs-r-squared)</a:t>
            </a:r>
          </a:p>
          <a:p>
            <a:pPr marL="0" indent="0">
              <a:buNone/>
            </a:pPr>
            <a:r>
              <a:rPr lang="en-US" dirty="0"/>
              <a:t>  [**] [link to article with many other evaluation metrics](https://</a:t>
            </a:r>
            <a:r>
              <a:rPr lang="en-US" dirty="0" err="1"/>
              <a:t>towardsai.net</a:t>
            </a:r>
            <a:r>
              <a:rPr lang="en-US" dirty="0"/>
              <a:t>/p/artificial-intelligence/the-essential-guide-to-ml-evaluation-metrics-for-regression)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CBFB80-CAAE-8D2E-4B7A-6EE254FBAD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2406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FE6A2-9CAF-7493-24CD-EB1EF7378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561DF6-8540-2FCC-5CCC-BD42255231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D48C37-6490-4BA2-26C6-3A161BCB6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[*] [stack exchange discussion on RMSE and R-squared](https://</a:t>
            </a:r>
            <a:r>
              <a:rPr lang="en-US" dirty="0" err="1"/>
              <a:t>datascience.stackexchange.com</a:t>
            </a:r>
            <a:r>
              <a:rPr lang="en-US" dirty="0"/>
              <a:t>/questions/100605/</a:t>
            </a:r>
            <a:r>
              <a:rPr lang="en-US" dirty="0" err="1"/>
              <a:t>rmse</a:t>
            </a:r>
            <a:r>
              <a:rPr lang="en-US" dirty="0"/>
              <a:t>-vs-r-squared)</a:t>
            </a:r>
          </a:p>
          <a:p>
            <a:pPr marL="0" indent="0">
              <a:buNone/>
            </a:pPr>
            <a:r>
              <a:rPr lang="en-US" dirty="0"/>
              <a:t>  [**] [link to article with many other evaluation metrics](https://</a:t>
            </a:r>
            <a:r>
              <a:rPr lang="en-US" dirty="0" err="1"/>
              <a:t>towardsai.net</a:t>
            </a:r>
            <a:r>
              <a:rPr lang="en-US" dirty="0"/>
              <a:t>/p/artificial-intelligence/the-essential-guide-to-ml-evaluation-metrics-for-regression)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49AECC-3C76-22BE-9FF0-12520D7259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9407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0BF04-CDFB-A6FB-84C5-A964A22BE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BDAF18-23B7-89F9-3D8A-1670BFC667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A8301A-3FF3-995E-EF42-E54FBA777C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[*] [stack exchange discussion on RMSE and R-squared](https://</a:t>
            </a:r>
            <a:r>
              <a:rPr lang="en-US" dirty="0" err="1"/>
              <a:t>datascience.stackexchange.com</a:t>
            </a:r>
            <a:r>
              <a:rPr lang="en-US" dirty="0"/>
              <a:t>/questions/100605/</a:t>
            </a:r>
            <a:r>
              <a:rPr lang="en-US" dirty="0" err="1"/>
              <a:t>rmse</a:t>
            </a:r>
            <a:r>
              <a:rPr lang="en-US" dirty="0"/>
              <a:t>-vs-r-squared)</a:t>
            </a:r>
          </a:p>
          <a:p>
            <a:pPr marL="0" indent="0">
              <a:buNone/>
            </a:pPr>
            <a:r>
              <a:rPr lang="en-US" dirty="0"/>
              <a:t>  [**] [link to article with many other evaluation metrics](https://</a:t>
            </a:r>
            <a:r>
              <a:rPr lang="en-US" dirty="0" err="1"/>
              <a:t>towardsai.net</a:t>
            </a:r>
            <a:r>
              <a:rPr lang="en-US" dirty="0"/>
              <a:t>/p/artificial-intelligence/the-essential-guide-to-ml-evaluation-metrics-for-regression)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F920F-F079-B83A-2969-24C723D0AC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3549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133E8-975A-0692-164F-3FBF11F4D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82CE1-5488-584F-86C9-C07A2B2C3B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D2D8CB-AE8C-24AB-6A62-DC27A9B1F6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[*] [stack exchange discussion on RMSE and R-squared](https://</a:t>
            </a:r>
            <a:r>
              <a:rPr lang="en-US" dirty="0" err="1"/>
              <a:t>datascience.stackexchange.com</a:t>
            </a:r>
            <a:r>
              <a:rPr lang="en-US" dirty="0"/>
              <a:t>/questions/100605/</a:t>
            </a:r>
            <a:r>
              <a:rPr lang="en-US" dirty="0" err="1"/>
              <a:t>rmse</a:t>
            </a:r>
            <a:r>
              <a:rPr lang="en-US" dirty="0"/>
              <a:t>-vs-r-squared)</a:t>
            </a:r>
          </a:p>
          <a:p>
            <a:pPr marL="0" indent="0">
              <a:buNone/>
            </a:pPr>
            <a:r>
              <a:rPr lang="en-US" dirty="0"/>
              <a:t>  [**] [link to article with many other evaluation metrics](https://</a:t>
            </a:r>
            <a:r>
              <a:rPr lang="en-US" dirty="0" err="1"/>
              <a:t>towardsai.net</a:t>
            </a:r>
            <a:r>
              <a:rPr lang="en-US" dirty="0"/>
              <a:t>/p/artificial-intelligence/the-essential-guide-to-ml-evaluation-metrics-for-regression)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80C7E-BAB1-1055-1463-204C5CA960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82500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F04C3-4E54-9FA9-A1CB-DB20D3051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009378-A134-E117-A4DC-5282377DA2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CD1ECB-7D81-3BEC-9BD9-7392A66EE5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[*] [stack exchange discussion on RMSE and R-squared](https://</a:t>
            </a:r>
            <a:r>
              <a:rPr lang="en-US" dirty="0" err="1"/>
              <a:t>datascience.stackexchange.com</a:t>
            </a:r>
            <a:r>
              <a:rPr lang="en-US" dirty="0"/>
              <a:t>/questions/100605/</a:t>
            </a:r>
            <a:r>
              <a:rPr lang="en-US" dirty="0" err="1"/>
              <a:t>rmse</a:t>
            </a:r>
            <a:r>
              <a:rPr lang="en-US" dirty="0"/>
              <a:t>-vs-r-squared)</a:t>
            </a:r>
          </a:p>
          <a:p>
            <a:pPr marL="0" indent="0">
              <a:buNone/>
            </a:pPr>
            <a:r>
              <a:rPr lang="en-US" dirty="0"/>
              <a:t>  [**] [link to article with many other evaluation metrics](https://</a:t>
            </a:r>
            <a:r>
              <a:rPr lang="en-US" dirty="0" err="1"/>
              <a:t>towardsai.net</a:t>
            </a:r>
            <a:r>
              <a:rPr lang="en-US" dirty="0"/>
              <a:t>/p/artificial-intelligence/the-essential-guide-to-ml-evaluation-metrics-for-regression)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9AF900-A0ED-43B2-B8C1-9543CE40AF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3822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64D2F-C52B-5EC6-7D45-491474372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CF1EC2-F16E-BBED-02AC-BB14ADC8CA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5EA52D-FA1A-D8D0-00A9-FDC075629D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B22365-0C5D-6ECE-86B5-E1C2DA91D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85621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FF78D-67C9-768E-20F3-4D2E995FD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178877-D8DC-7198-7794-26419EF220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2DE60F-B6CC-B001-199E-BA2FC56556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8CA6D9-9B12-B272-C6C1-03B113E167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3395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3537-1BED-D74C-51F8-3B8B6049B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33D580-E9D2-70F5-0450-30D6838213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6DAA5A-110D-7419-D7A2-FCE18C8043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85F7E7-BE21-A9EE-0F68-A192DC7747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9150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2C951-A9A2-C9F2-4B2C-6C0DDC055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B81A98-AA2B-CBA6-B94A-210CC63419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054C3-1F2B-1218-76BA-46E55EAE55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388B1C-1E16-48B1-B61B-2CBE8EFAB2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0175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5967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46E2A-0D95-ECA0-49E1-CAF1EA775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6421CB-4689-82FC-067D-4AC4613718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014E82-41CD-D020-B085-9E4269E90C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5FB2C-DBB3-8F4A-E594-113BE86573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90618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5652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971E4-30FA-9BF2-3487-ABF771BB56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CD5B32-5FBE-FB8A-0EB6-9A9C5F685A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D4D994-60EC-2E80-D507-7B2129F49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9D916B-5E81-C866-7C19-D930DFC05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9C5FE7-0E2B-F759-E052-2BC1E6090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3738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61F05-22CC-EBCF-1DC9-2D78266FC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9344F9-C4E6-839F-7E5C-9E4D59EABF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8CC009-E5C6-81AA-3CA7-1867D9AA3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8E481A-28DC-F29B-2F75-8490D44CC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47D95-AB9E-3592-F99F-6AB71E3CA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613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D14EF-DA90-095E-040B-CF1A9B7F5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84FBAD-6DB0-3295-9698-DB2CE97A02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0D3D9C-41B3-78F0-BB7E-733AE0570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530FD-3A9A-A125-07F8-CE89033B4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FA7672-2E7F-5E16-29CC-C17286673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806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50D85-2132-C4E9-0A70-D6019723B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98B1B-AE3D-1E90-69DD-D1B0F24431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C414D1-5B31-CCF5-9FA9-983A713B93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E77F95-AE45-77A3-70EC-F606F6A22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F53F66-8154-F361-B610-951774134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196578-31DE-D85E-1F4A-D590910A2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0473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EEAA7-20B5-C37E-87D0-580ABBB9A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1AB0EF-5DBE-C0A4-960C-3C9AC25941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F0108D-CA89-08B5-501E-7406B8505F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8A2CC4-DB2C-768A-AF9D-20C639676D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E66CF5-E992-0019-4D56-CA4F54F36D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1ADCD8-814B-7C34-C654-CD8B5F3D7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C188C2-F4C5-8312-A84B-BA896082B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029C34-66E0-9EA6-2889-2145B9B84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559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6150E-C876-BA24-799E-CA6F7460E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DC7FAE-7976-CFE6-DEA4-54D26A1152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1AE4F8-5149-162A-18B5-7DE74F0F0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91956E-E6D5-AC3A-CA4B-131BED651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5095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274C3F-2D4E-9D94-6B05-6C3822914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11B908-195C-5646-0949-C3C530F75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584C62-314E-FD18-A75B-B05C2D3DB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631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9AF8B-1495-918C-1BAA-B6F383BEC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DA500D-221D-6207-0410-26F0B2D23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46849E-5C94-3CF0-0C51-7ED4625776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66FACB-9F45-8CF7-D4B9-7DDCE33AA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BCADCB-9AE6-0CAB-73B4-3E5EEAFF9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E51C6-8EED-4A2F-BBE5-22328E48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8051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2AB51-0A4E-93E4-D63D-1C1D465E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ACA271A-6137-977D-7064-508070D1C4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2D5D12-CC08-91CE-58A2-AD149CD287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E66DE0-5653-6D2A-9CFB-4B8CD5ED9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4957D0-E28F-3549-8DB5-36299EA1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FD93EC-B47A-D748-00B8-A29941132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311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15C8A-85CF-A833-B16D-DF727D7C6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C720EE-1419-279A-6E17-38B1143C4C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35A01-0BDF-5AD6-43A3-62C080DF9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2579E0-EE7D-8571-967A-F796397EF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8737A2-146C-FCB2-041F-3DC34C653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595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0E5E5E-8262-082B-ED3F-7D8A838B97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8B83DF-4053-6F85-DAF1-65119C8634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CC1EE4-147B-B287-B46A-B82DF5F5B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984E42-0408-23B1-3F41-E6415CF0A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56E419-0553-ACBD-3152-A503DAA3B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550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61F522-F913-4F60-61B7-98474024E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21A13E-C3E5-5998-F62D-E6D7922C3E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32B75-F306-257D-8564-F44F414142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E2ACAA-75FA-AD45-8679-E5834893ECEC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4E544B-B5F0-4CAF-2CF6-028F1F0E59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20664-F89C-1124-FDFE-F9DB354136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449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christophmolnar.com/books/modeling-mindsets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evelopers.google.com/machine-learning/crash-course/classification/roc-and-auc" TargetMode="External"/><Relationship Id="rId5" Type="http://schemas.openxmlformats.org/officeDocument/2006/relationships/hyperlink" Target="https://developers.google.com/machine-learning/crash-course/classification/accuracy-precision-recall" TargetMode="External"/><Relationship Id="rId4" Type="http://schemas.openxmlformats.org/officeDocument/2006/relationships/hyperlink" Target="https://www.geeksforgeeks.org/machine-learning/confusion-matrix-machine-learning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atascience.stackexchange.com/questions/100605/rmse-vs-r-squared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ai.net/p/artificial-intelligence/the-essential-guide-to-ml-evaluation-metrics-for-regression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datascience.com/how-to-cross-validation-with-time-series-data-9802a06272c6/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datascience.com/how-to-cross-validation-with-time-series-data-9802a06272c6/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towardsdatascience.com/how-to-cross-validation-with-time-series-data-9802a06272c6/" TargetMode="External"/><Relationship Id="rId4" Type="http://schemas.openxmlformats.org/officeDocument/2006/relationships/hyperlink" Target="https://github.com/rvalavi/blockcv" TargetMode="Externa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ithub.com/grantvagle/ml_methods_workshop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E754F-8EB2-DAE9-9AA4-5417E00F5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" y="0"/>
            <a:ext cx="12189708" cy="6858000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4C697EA-0510-7329-5FA6-4C1F38812D6C}"/>
              </a:ext>
            </a:extLst>
          </p:cNvPr>
          <p:cNvSpPr/>
          <p:nvPr/>
        </p:nvSpPr>
        <p:spPr>
          <a:xfrm>
            <a:off x="1524000" y="1600200"/>
            <a:ext cx="9144000" cy="2743200"/>
          </a:xfrm>
          <a:prstGeom prst="roundRect">
            <a:avLst/>
          </a:prstGeom>
          <a:solidFill>
            <a:srgbClr val="FFFFFF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5197EA-A7D0-79B2-295E-1624E34FA9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 evaluation and cross validation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86EE02-CD74-3E24-9C07-FC52D726FE3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Grant Vagle, Jeremiah </a:t>
            </a:r>
            <a:r>
              <a:rPr lang="en-US" dirty="0" err="1"/>
              <a:t>Shrovnal</a:t>
            </a:r>
            <a:r>
              <a:rPr lang="en-US" dirty="0"/>
              <a:t>, Lynn Waterhouse</a:t>
            </a:r>
          </a:p>
        </p:txBody>
      </p:sp>
    </p:spTree>
    <p:extLst>
      <p:ext uri="{BB962C8B-B14F-4D97-AF65-F5344CB8AC3E}">
        <p14:creationId xmlns:p14="http://schemas.microsoft.com/office/powerpoint/2010/main" val="15102346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D0CD4-09DF-AAED-BF50-4082EE4EA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F68A7-F4E7-6630-7B04-0757F6932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this section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7CCB3B-034D-4F08-7B3F-2EDF93FD2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Understanding how well a model is performing</a:t>
            </a:r>
          </a:p>
          <a:p>
            <a:pPr lvl="1"/>
            <a:r>
              <a:rPr lang="en-US" dirty="0"/>
              <a:t>Performance metrics</a:t>
            </a:r>
          </a:p>
          <a:p>
            <a:pPr lvl="1"/>
            <a:r>
              <a:rPr lang="en-US" dirty="0"/>
              <a:t>Evaluation / cross-validation</a:t>
            </a:r>
          </a:p>
          <a:p>
            <a:r>
              <a:rPr lang="en-US" dirty="0"/>
              <a:t>Introduce Classification and Regression Trees (CART)</a:t>
            </a:r>
          </a:p>
          <a:p>
            <a:r>
              <a:rPr lang="en-US" dirty="0"/>
              <a:t>Hands-on coding example</a:t>
            </a:r>
          </a:p>
        </p:txBody>
      </p:sp>
    </p:spTree>
    <p:extLst>
      <p:ext uri="{BB962C8B-B14F-4D97-AF65-F5344CB8AC3E}">
        <p14:creationId xmlns:p14="http://schemas.microsoft.com/office/powerpoint/2010/main" val="30142742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9FEEA-D952-3E6A-C24C-95480BA48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measure how well a model mimics the outputs of nature?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ED278D-75F1-B6A1-29CF-6A4FE0FAD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42681" cy="4351338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Model performance metrics – </a:t>
            </a:r>
            <a:r>
              <a:rPr lang="en-US" i="1" dirty="0"/>
              <a:t>what</a:t>
            </a:r>
            <a:r>
              <a:rPr lang="en-US" dirty="0"/>
              <a:t> we calculate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Model validation – </a:t>
            </a:r>
            <a:r>
              <a:rPr lang="en-US" i="1" dirty="0"/>
              <a:t>which data </a:t>
            </a:r>
            <a:r>
              <a:rPr lang="en-US" dirty="0"/>
              <a:t>we use to make the calculation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D3D34AB-B851-9CEC-5D82-63DFF93936F4}"/>
              </a:ext>
            </a:extLst>
          </p:cNvPr>
          <p:cNvGrpSpPr/>
          <p:nvPr/>
        </p:nvGrpSpPr>
        <p:grpSpPr>
          <a:xfrm>
            <a:off x="7012352" y="3211826"/>
            <a:ext cx="5712083" cy="1454037"/>
            <a:chOff x="6479917" y="4857863"/>
            <a:chExt cx="5712083" cy="145403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67B9F6D5-5CA3-3441-6121-F1186D2FE86E}"/>
                </a:ext>
              </a:extLst>
            </p:cNvPr>
            <p:cNvGrpSpPr/>
            <p:nvPr/>
          </p:nvGrpSpPr>
          <p:grpSpPr>
            <a:xfrm>
              <a:off x="6479917" y="4857863"/>
              <a:ext cx="5712083" cy="644073"/>
              <a:chOff x="6484817" y="601883"/>
              <a:chExt cx="5712083" cy="644073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66AB66A-04DB-7696-9D64-110E8902F526}"/>
                  </a:ext>
                </a:extLst>
              </p:cNvPr>
              <p:cNvSpPr txBox="1"/>
              <p:nvPr/>
            </p:nvSpPr>
            <p:spPr>
              <a:xfrm>
                <a:off x="10888394" y="661181"/>
                <a:ext cx="130850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b="1" dirty="0"/>
                  <a:t>Y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F340ABC-0C5E-FB39-7229-048434955168}"/>
                  </a:ext>
                </a:extLst>
              </p:cNvPr>
              <p:cNvSpPr/>
              <p:nvPr/>
            </p:nvSpPr>
            <p:spPr>
              <a:xfrm>
                <a:off x="7882360" y="601883"/>
                <a:ext cx="1921397" cy="625033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D13C91B-B876-AC94-482B-A9B5FA6C22EF}"/>
                  </a:ext>
                </a:extLst>
              </p:cNvPr>
              <p:cNvSpPr txBox="1"/>
              <p:nvPr/>
            </p:nvSpPr>
            <p:spPr>
              <a:xfrm>
                <a:off x="6484817" y="661181"/>
                <a:ext cx="42992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b="1" dirty="0"/>
                  <a:t>X</a:t>
                </a: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8FE4E08B-3776-AC06-5701-CAE6B5B98303}"/>
                  </a:ext>
                </a:extLst>
              </p:cNvPr>
              <p:cNvCxnSpPr/>
              <p:nvPr/>
            </p:nvCxnSpPr>
            <p:spPr>
              <a:xfrm>
                <a:off x="7047914" y="914399"/>
                <a:ext cx="618978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C6160BE0-573C-CE33-5B30-30983ECD5E9E}"/>
                  </a:ext>
                </a:extLst>
              </p:cNvPr>
              <p:cNvCxnSpPr/>
              <p:nvPr/>
            </p:nvCxnSpPr>
            <p:spPr>
              <a:xfrm>
                <a:off x="10084191" y="914399"/>
                <a:ext cx="618978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44AEA1E-E490-62DF-1044-94AB1A234E45}"/>
                </a:ext>
              </a:extLst>
            </p:cNvPr>
            <p:cNvCxnSpPr/>
            <p:nvPr/>
          </p:nvCxnSpPr>
          <p:spPr>
            <a:xfrm>
              <a:off x="6909843" y="5501936"/>
              <a:ext cx="967617" cy="535452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CBCA2525-FF58-A163-81C2-AC37688428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614957" y="5566531"/>
              <a:ext cx="1268537" cy="470857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CF38F69-9BCE-A00F-30E2-60ACA4F0A2F7}"/>
                </a:ext>
              </a:extLst>
            </p:cNvPr>
            <p:cNvSpPr txBox="1"/>
            <p:nvPr/>
          </p:nvSpPr>
          <p:spPr>
            <a:xfrm>
              <a:off x="8150532" y="5850235"/>
              <a:ext cx="119135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MODEL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C9936D3-582E-B841-522E-22AD10054721}"/>
              </a:ext>
            </a:extLst>
          </p:cNvPr>
          <p:cNvGrpSpPr/>
          <p:nvPr/>
        </p:nvGrpSpPr>
        <p:grpSpPr>
          <a:xfrm>
            <a:off x="7012352" y="2028554"/>
            <a:ext cx="5712083" cy="644073"/>
            <a:chOff x="6484817" y="601883"/>
            <a:chExt cx="5712083" cy="644073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B1ABD51-A93D-AD82-01FE-3075D2EE7BAC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E690ED2-7533-58D0-4BBF-DE0225E8177F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7745F99-87E3-C921-C364-09020C6F5946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6D640F91-7984-7FC7-2159-84703368DAD4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50E3AB02-A614-4BCB-B7B4-05289BD3D9F4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FE061EE-7351-A9C9-3D1A-46E6015192A7}"/>
                </a:ext>
              </a:extLst>
            </p:cNvPr>
            <p:cNvSpPr txBox="1"/>
            <p:nvPr/>
          </p:nvSpPr>
          <p:spPr>
            <a:xfrm>
              <a:off x="8200734" y="683566"/>
              <a:ext cx="1284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NATURE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3E03D8EE-F400-4AD7-40A1-F03CBFC4C172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Molnar, C. 2023. Modeling mindsets: the many cultures of learning from data.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5733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5B0B8-D711-CAEB-FE86-2D7A61020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531D8D-36CE-D3D9-865F-879E6E664B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91127" cy="4351338"/>
          </a:xfrm>
        </p:spPr>
        <p:txBody>
          <a:bodyPr numCol="1"/>
          <a:lstStyle/>
          <a:p>
            <a:pPr marL="0" indent="0">
              <a:buNone/>
            </a:pPr>
            <a:r>
              <a:rPr lang="en-US" dirty="0"/>
              <a:t>Many (most?) performance metrics for classification come from the </a:t>
            </a:r>
            <a:r>
              <a:rPr lang="en-US" b="1" dirty="0"/>
              <a:t>confusion matrix</a:t>
            </a:r>
          </a:p>
          <a:p>
            <a:pPr marL="0" indent="0">
              <a:buNone/>
            </a:pPr>
            <a:r>
              <a:rPr lang="en-US" dirty="0"/>
              <a:t>Let’s say we have a model that predicts a yes or no response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764862B-2236-D9E8-96B5-1A4306AE22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24721"/>
              </p:ext>
            </p:extLst>
          </p:nvPr>
        </p:nvGraphicFramePr>
        <p:xfrm>
          <a:off x="1111172" y="3370811"/>
          <a:ext cx="3071149" cy="32116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1527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61641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27981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63660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Observed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response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  <a:tr h="339469"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Yes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No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7601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9471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81FB2-7F87-7FA0-9F3D-D25D43F1F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87E08-29B3-08B4-C4CE-92FF4FFF4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A87D43-4042-E553-28F6-920E67A02F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91127" cy="4351338"/>
          </a:xfrm>
        </p:spPr>
        <p:txBody>
          <a:bodyPr numCol="1"/>
          <a:lstStyle/>
          <a:p>
            <a:pPr marL="0" indent="0">
              <a:buNone/>
            </a:pPr>
            <a:r>
              <a:rPr lang="en-US" dirty="0"/>
              <a:t>Many (most?) performance metrics for classification come from the </a:t>
            </a:r>
            <a:r>
              <a:rPr lang="en-US" b="1" dirty="0"/>
              <a:t>confusion matrix</a:t>
            </a:r>
          </a:p>
          <a:p>
            <a:pPr marL="0" indent="0">
              <a:buNone/>
            </a:pPr>
            <a:r>
              <a:rPr lang="en-US" dirty="0"/>
              <a:t>Let’s say we have a model that predicts a yes or no response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701CF97-1A6B-C7C0-9D0E-AD62D84E64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69622"/>
              </p:ext>
            </p:extLst>
          </p:nvPr>
        </p:nvGraphicFramePr>
        <p:xfrm>
          <a:off x="6333762" y="4459489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5A16705-783C-5043-5B00-294B10EF001C}"/>
              </a:ext>
            </a:extLst>
          </p:cNvPr>
          <p:cNvGraphicFramePr>
            <a:graphicFrameLocks noGrp="1"/>
          </p:cNvGraphicFramePr>
          <p:nvPr/>
        </p:nvGraphicFramePr>
        <p:xfrm>
          <a:off x="1111172" y="3370811"/>
          <a:ext cx="3071149" cy="32116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1527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61641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27981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63660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Observed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response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  <a:tr h="339469"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Yes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No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76018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9BDF351-D7D8-86CC-889F-D488A2053752}"/>
              </a:ext>
            </a:extLst>
          </p:cNvPr>
          <p:cNvSpPr txBox="1"/>
          <p:nvPr/>
        </p:nvSpPr>
        <p:spPr>
          <a:xfrm>
            <a:off x="5752618" y="3733503"/>
            <a:ext cx="31078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Confusion matrix:</a:t>
            </a:r>
          </a:p>
        </p:txBody>
      </p:sp>
    </p:spTree>
    <p:extLst>
      <p:ext uri="{BB962C8B-B14F-4D97-AF65-F5344CB8AC3E}">
        <p14:creationId xmlns:p14="http://schemas.microsoft.com/office/powerpoint/2010/main" val="12680032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93DBC-C5B1-3C3C-69C7-BE312C0BE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6BE47-FE25-34EC-17BA-85E8F767B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C08B3F-9EEB-8278-D1B6-A0C29D503B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91127" cy="4351338"/>
          </a:xfrm>
        </p:spPr>
        <p:txBody>
          <a:bodyPr numCol="1"/>
          <a:lstStyle/>
          <a:p>
            <a:pPr marL="0" indent="0">
              <a:buNone/>
            </a:pPr>
            <a:r>
              <a:rPr lang="en-US" dirty="0"/>
              <a:t>Many (most?) performance metrics for classification come from the </a:t>
            </a:r>
            <a:r>
              <a:rPr lang="en-US" b="1" dirty="0"/>
              <a:t>confusion matrix</a:t>
            </a:r>
          </a:p>
          <a:p>
            <a:pPr marL="0" indent="0">
              <a:buNone/>
            </a:pPr>
            <a:r>
              <a:rPr lang="en-US" dirty="0"/>
              <a:t>Let’s say we have a model that predicts a yes or no response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69097A5-94A5-571E-2526-8A781A990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134915"/>
              </p:ext>
            </p:extLst>
          </p:nvPr>
        </p:nvGraphicFramePr>
        <p:xfrm>
          <a:off x="6333762" y="4459489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C0D4870-6F1C-16B6-08B7-0B1396636F99}"/>
              </a:ext>
            </a:extLst>
          </p:cNvPr>
          <p:cNvGraphicFramePr>
            <a:graphicFrameLocks noGrp="1"/>
          </p:cNvGraphicFramePr>
          <p:nvPr/>
        </p:nvGraphicFramePr>
        <p:xfrm>
          <a:off x="1111172" y="3370811"/>
          <a:ext cx="3071149" cy="32116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1527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61641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27981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63660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Observed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response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  <a:tr h="339469"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Yes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No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76018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2A8158B-E14C-6DCD-DF1C-F2B53A6DC04B}"/>
              </a:ext>
            </a:extLst>
          </p:cNvPr>
          <p:cNvSpPr txBox="1"/>
          <p:nvPr/>
        </p:nvSpPr>
        <p:spPr>
          <a:xfrm>
            <a:off x="5752618" y="3733503"/>
            <a:ext cx="31078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Confusion matrix:</a:t>
            </a:r>
          </a:p>
        </p:txBody>
      </p:sp>
    </p:spTree>
    <p:extLst>
      <p:ext uri="{BB962C8B-B14F-4D97-AF65-F5344CB8AC3E}">
        <p14:creationId xmlns:p14="http://schemas.microsoft.com/office/powerpoint/2010/main" val="164404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5AF7E-01A2-38D9-4A5B-B3FCC302B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BE37C-FB29-FA49-04EA-4102C2F34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FB84772-4B5B-7374-5218-CB28AA9D0B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3516443"/>
              </p:ext>
            </p:extLst>
          </p:nvPr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1092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CF2C8-D14D-061D-2295-6A394AAF1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0C006-D034-5D18-9203-0B6B5EB6D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17D9D65-F588-6ECD-9D83-0E0176902204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0ACFF34-4EBA-D4F2-E021-BC0F24098E43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</a:t>
                </a:r>
                <a:r>
                  <a:rPr lang="en-US" sz="2000" dirty="0">
                    <a:solidFill>
                      <a:schemeClr val="bg1"/>
                    </a:solidFill>
                  </a:rPr>
                  <a:t>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0ACFF34-4EBA-D4F2-E021-BC0F24098E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62745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23B00-5CA0-BD0D-FD01-D78D16CDF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D3A0D-5C4A-3E96-DC44-A2E082FDE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EAD0B90-3EA5-85CF-054D-03185334688C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178D1C9-4AF2-8FE1-0A8A-0D09F9FCD61D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178D1C9-4AF2-8FE1-0A8A-0D09F9FCD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48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A8814-F7F7-A22C-79D7-9759A701B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97B7D-3EE6-582D-154B-138CA974D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DA06A5B-D637-6920-19F3-2BA714DB7B5E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795DA27-229A-F7D8-2A77-D5FB075FC6B8}"/>
              </a:ext>
            </a:extLst>
          </p:cNvPr>
          <p:cNvSpPr txBox="1"/>
          <p:nvPr/>
        </p:nvSpPr>
        <p:spPr>
          <a:xfrm>
            <a:off x="6632292" y="2124221"/>
            <a:ext cx="504656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Elements of the confusion matrix are </a:t>
            </a:r>
            <a:r>
              <a:rPr lang="en-US" sz="2400" b="1" dirty="0"/>
              <a:t>not</a:t>
            </a:r>
            <a:r>
              <a:rPr lang="en-US" sz="2400" dirty="0"/>
              <a:t> created equal:</a:t>
            </a:r>
          </a:p>
          <a:p>
            <a:endParaRPr lang="en-US" sz="24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>
                <a:solidFill>
                  <a:schemeClr val="bg1"/>
                </a:solidFill>
              </a:rPr>
              <a:t>Suppose “Yes” means an email is spam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>
                <a:solidFill>
                  <a:schemeClr val="bg1"/>
                </a:solidFill>
              </a:rPr>
              <a:t>Suppose “Yes” means testing positive for Covid19</a:t>
            </a:r>
          </a:p>
          <a:p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Model performance metrics can get at different components of the confusion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9AA0677-25BF-2F4C-ACB8-2E64418A8934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9AA0677-25BF-2F4C-ACB8-2E64418A8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98768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FB42E-8D34-A5F1-DC8F-9FF2114AB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C81DD-6049-4160-F4DB-0341B00B8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427B90B-A970-46FD-F6FA-B67657E3429F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6C7927C-7854-AB40-4563-7D9B0C73BA1C}"/>
              </a:ext>
            </a:extLst>
          </p:cNvPr>
          <p:cNvSpPr txBox="1"/>
          <p:nvPr/>
        </p:nvSpPr>
        <p:spPr>
          <a:xfrm>
            <a:off x="6632292" y="2124221"/>
            <a:ext cx="504656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Elements of the confusion matrix are </a:t>
            </a:r>
            <a:r>
              <a:rPr lang="en-US" sz="2400" b="1" dirty="0"/>
              <a:t>not</a:t>
            </a:r>
            <a:r>
              <a:rPr lang="en-US" sz="2400" dirty="0"/>
              <a:t> created equal:</a:t>
            </a:r>
          </a:p>
          <a:p>
            <a:endParaRPr lang="en-US" sz="24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an email is spam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>
                <a:solidFill>
                  <a:schemeClr val="bg1"/>
                </a:solidFill>
              </a:rPr>
              <a:t>Suppose “Yes” means testing positive for Covid19</a:t>
            </a:r>
          </a:p>
          <a:p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Model performance metrics can get at different components of the confusion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FC653BA-D53D-D07D-8E3E-45374B5751E3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FC653BA-D53D-D07D-8E3E-45374B575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99219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042C3-8DBA-BCDF-E003-5769720E1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FBFDB-17E8-CD6A-39DA-4507C6264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A69740D-4EE8-84C8-AE96-B92CBF3A1D31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ADFF016-483E-B101-AC70-3BC2A05FF7F9}"/>
              </a:ext>
            </a:extLst>
          </p:cNvPr>
          <p:cNvSpPr txBox="1"/>
          <p:nvPr/>
        </p:nvSpPr>
        <p:spPr>
          <a:xfrm>
            <a:off x="6632292" y="2124221"/>
            <a:ext cx="504656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Elements of the confusion matrix are </a:t>
            </a:r>
            <a:r>
              <a:rPr lang="en-US" sz="2400" b="1" dirty="0"/>
              <a:t>not</a:t>
            </a:r>
            <a:r>
              <a:rPr lang="en-US" sz="2400" dirty="0"/>
              <a:t> created equal:</a:t>
            </a:r>
          </a:p>
          <a:p>
            <a:endParaRPr lang="en-US" sz="24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an email is spam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testing positive for Covid19</a:t>
            </a:r>
          </a:p>
          <a:p>
            <a:endParaRPr lang="en-US" sz="2400" dirty="0"/>
          </a:p>
          <a:p>
            <a:r>
              <a:rPr lang="en-US" sz="2400" dirty="0">
                <a:solidFill>
                  <a:schemeClr val="bg1"/>
                </a:solidFill>
              </a:rPr>
              <a:t>Model performance metrics can get at different components of the confusion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BBE339-32A4-0151-7DEE-A49DF5DEB16D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BBE339-32A4-0151-7DEE-A49DF5DEB1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5507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8FD44-9631-EA4E-5F22-EC6D1335A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A6B53-9293-0450-1B30-27EA11ECB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0B1FE64-8B5F-40C1-FE08-6087ABEF73EF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F3060F5-B888-CAAE-F021-56DD6688C719}"/>
              </a:ext>
            </a:extLst>
          </p:cNvPr>
          <p:cNvSpPr txBox="1"/>
          <p:nvPr/>
        </p:nvSpPr>
        <p:spPr>
          <a:xfrm>
            <a:off x="6632292" y="2124221"/>
            <a:ext cx="504656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Elements of the confusion matrix are </a:t>
            </a:r>
            <a:r>
              <a:rPr lang="en-US" sz="2400" b="1" dirty="0"/>
              <a:t>not</a:t>
            </a:r>
            <a:r>
              <a:rPr lang="en-US" sz="2400" dirty="0"/>
              <a:t> created equal:</a:t>
            </a:r>
          </a:p>
          <a:p>
            <a:endParaRPr lang="en-US" sz="24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an email is spam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testing positive for Covid19</a:t>
            </a:r>
          </a:p>
          <a:p>
            <a:endParaRPr lang="en-US" sz="2400" dirty="0"/>
          </a:p>
          <a:p>
            <a:r>
              <a:rPr lang="en-US" sz="2400" dirty="0"/>
              <a:t>Some model performance metrics can get at different components of the confusion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1DD69ED-6F2F-4249-425E-176C76C799A0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1DD69ED-6F2F-4249-425E-176C76C799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9051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F0651-AE52-368E-6D42-2143F6AF2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803D6-2E14-38B9-2027-EF7C15624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92CCBB1-BFBA-5572-AF20-B9A739ED45BE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9BEAC59-C2A2-C089-D602-CE1FE94443BB}"/>
              </a:ext>
            </a:extLst>
          </p:cNvPr>
          <p:cNvSpPr txBox="1"/>
          <p:nvPr/>
        </p:nvSpPr>
        <p:spPr>
          <a:xfrm>
            <a:off x="6632292" y="2124221"/>
            <a:ext cx="504656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Elements of the confusion matrix are </a:t>
            </a:r>
            <a:r>
              <a:rPr lang="en-US" sz="2400" b="1" dirty="0"/>
              <a:t>not</a:t>
            </a:r>
            <a:r>
              <a:rPr lang="en-US" sz="2400" dirty="0"/>
              <a:t> created equal:</a:t>
            </a:r>
          </a:p>
          <a:p>
            <a:endParaRPr lang="en-US" sz="24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an email is spam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testing positive for Covid19</a:t>
            </a:r>
          </a:p>
          <a:p>
            <a:endParaRPr lang="en-US" sz="2400" dirty="0"/>
          </a:p>
          <a:p>
            <a:r>
              <a:rPr lang="en-US" sz="2400" dirty="0"/>
              <a:t>Some model performance metrics can get at different components of the confusion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7C2E498-C458-A5C3-06E5-66B8FDF7BF23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7C2E498-C458-A5C3-06E5-66B8FDF7B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FA1C15D0-8945-DE7F-5798-9D19F95160E9}"/>
              </a:ext>
            </a:extLst>
          </p:cNvPr>
          <p:cNvSpPr txBox="1"/>
          <p:nvPr/>
        </p:nvSpPr>
        <p:spPr>
          <a:xfrm>
            <a:off x="295604" y="4292786"/>
            <a:ext cx="4606724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Metrics from confusion matrix: </a:t>
            </a:r>
            <a:br>
              <a:rPr lang="en-US" sz="1400" dirty="0"/>
            </a:br>
            <a:r>
              <a:rPr lang="en-US" sz="1400" dirty="0">
                <a:hlinkClick r:id="rId4"/>
              </a:rPr>
              <a:t>https://www.geeksforgeeks.org/machine-learning/confusion-matrix-machine-learning/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Metrics for classification:</a:t>
            </a:r>
          </a:p>
          <a:p>
            <a:r>
              <a:rPr lang="en-US" sz="1400" dirty="0">
                <a:hlinkClick r:id="rId5"/>
              </a:rPr>
              <a:t>https://developers.google.com/machine-learning/crash-course/classification/accuracy-precision-recall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Link to ROC and AUC details:</a:t>
            </a:r>
            <a:br>
              <a:rPr lang="en-US" sz="1400" dirty="0"/>
            </a:br>
            <a:r>
              <a:rPr lang="en-US" sz="1400" dirty="0">
                <a:hlinkClick r:id="rId6"/>
              </a:rPr>
              <a:t>https://developers.google.com/machine-learning/crash-course/classification/roc-and-auc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34501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C8008CE-A425-C829-619C-BE4777D9A0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" y="0"/>
            <a:ext cx="12190854" cy="6858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2189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C75A2-FCEE-AC51-F73A-CB4F2B814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10E5A-7FCB-388C-51A5-09FAC998C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EB8E4-A375-BC0E-5501-14B6FE525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2717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Most ask in some way: </a:t>
            </a:r>
            <a:r>
              <a:rPr lang="en-US" b="1" dirty="0"/>
              <a:t>how big are the residuals?</a:t>
            </a:r>
          </a:p>
          <a:p>
            <a:r>
              <a:rPr lang="en-US" dirty="0">
                <a:solidFill>
                  <a:schemeClr val="bg1"/>
                </a:solidFill>
              </a:rPr>
              <a:t>Root mean squared error (RMSE) </a:t>
            </a:r>
          </a:p>
          <a:p>
            <a:r>
              <a:rPr lang="en-US" dirty="0">
                <a:solidFill>
                  <a:schemeClr val="bg1"/>
                </a:solidFill>
              </a:rPr>
              <a:t>Mean absolute error</a:t>
            </a:r>
          </a:p>
          <a:p>
            <a:r>
              <a:rPr lang="en-US" dirty="0">
                <a:solidFill>
                  <a:schemeClr val="bg1"/>
                </a:solidFill>
              </a:rPr>
              <a:t>…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Many are related to R</a:t>
            </a:r>
            <a:r>
              <a:rPr lang="en-US" baseline="30000" dirty="0">
                <a:solidFill>
                  <a:schemeClr val="bg1"/>
                </a:solidFill>
              </a:rPr>
              <a:t>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3BCD8D-077E-63A0-D51D-7B7E8E8E6C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6EC86B-55BD-EE75-6F27-A5BEFFDA9AD9}"/>
              </a:ext>
            </a:extLst>
          </p:cNvPr>
          <p:cNvSpPr txBox="1"/>
          <p:nvPr/>
        </p:nvSpPr>
        <p:spPr>
          <a:xfrm>
            <a:off x="8519886" y="5177393"/>
            <a:ext cx="11508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Observed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EFBA01-E235-F0D3-410A-485D051A6C45}"/>
              </a:ext>
            </a:extLst>
          </p:cNvPr>
          <p:cNvSpPr txBox="1"/>
          <p:nvPr/>
        </p:nvSpPr>
        <p:spPr>
          <a:xfrm>
            <a:off x="6081486" y="3244334"/>
            <a:ext cx="114313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Predicted</a:t>
            </a:r>
          </a:p>
        </p:txBody>
      </p:sp>
    </p:spTree>
    <p:extLst>
      <p:ext uri="{BB962C8B-B14F-4D97-AF65-F5344CB8AC3E}">
        <p14:creationId xmlns:p14="http://schemas.microsoft.com/office/powerpoint/2010/main" val="23368918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5B8BA-51F4-54F9-9505-ADB86D22D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6656-CF82-34ED-210B-1DF290D57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E0F177-F88F-F2F2-36E8-FB8A03EEF5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2717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Most ask in some way: </a:t>
            </a:r>
            <a:r>
              <a:rPr lang="en-US" b="1" dirty="0"/>
              <a:t>how big are the residuals?</a:t>
            </a:r>
          </a:p>
          <a:p>
            <a:r>
              <a:rPr lang="en-US" dirty="0"/>
              <a:t>Root mean squared error (RMSE) </a:t>
            </a:r>
          </a:p>
          <a:p>
            <a:r>
              <a:rPr lang="en-US" dirty="0"/>
              <a:t>Mean absolute error</a:t>
            </a:r>
          </a:p>
          <a:p>
            <a:r>
              <a:rPr lang="en-US" dirty="0"/>
              <a:t>Many more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Many are related to R</a:t>
            </a:r>
            <a:r>
              <a:rPr lang="en-US" baseline="30000" dirty="0">
                <a:solidFill>
                  <a:schemeClr val="bg1"/>
                </a:solidFill>
              </a:rPr>
              <a:t>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D52426-CE50-2A1E-570C-19E08F64DC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A763658-58A5-9773-DC65-8A5F0794D09D}"/>
              </a:ext>
            </a:extLst>
          </p:cNvPr>
          <p:cNvSpPr txBox="1"/>
          <p:nvPr/>
        </p:nvSpPr>
        <p:spPr>
          <a:xfrm>
            <a:off x="8519886" y="5177393"/>
            <a:ext cx="11508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Observed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AC34A0-ED74-AF2D-6CF4-FB3A9A1860E5}"/>
              </a:ext>
            </a:extLst>
          </p:cNvPr>
          <p:cNvSpPr txBox="1"/>
          <p:nvPr/>
        </p:nvSpPr>
        <p:spPr>
          <a:xfrm>
            <a:off x="6081486" y="3244334"/>
            <a:ext cx="114313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Predicted</a:t>
            </a:r>
          </a:p>
        </p:txBody>
      </p:sp>
    </p:spTree>
    <p:extLst>
      <p:ext uri="{BB962C8B-B14F-4D97-AF65-F5344CB8AC3E}">
        <p14:creationId xmlns:p14="http://schemas.microsoft.com/office/powerpoint/2010/main" val="5546574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E2D19-6821-D20C-4F8F-D6A282144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6C8B2-75EE-193C-CA28-7F613EDD0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3A39B1-91A7-AD54-BDE6-0F6D42F0BC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2717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Most ask in some way: </a:t>
            </a:r>
            <a:r>
              <a:rPr lang="en-US" b="1" dirty="0"/>
              <a:t>how big are the residuals?</a:t>
            </a:r>
          </a:p>
          <a:p>
            <a:r>
              <a:rPr lang="en-US" dirty="0"/>
              <a:t>Root mean squared error (RMSE) </a:t>
            </a:r>
          </a:p>
          <a:p>
            <a:r>
              <a:rPr lang="en-US" dirty="0"/>
              <a:t>Mean absolute error</a:t>
            </a:r>
          </a:p>
          <a:p>
            <a:r>
              <a:rPr lang="en-US" dirty="0"/>
              <a:t>Many more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Many are related to R</a:t>
            </a:r>
            <a:r>
              <a:rPr lang="en-US" baseline="30000" dirty="0">
                <a:solidFill>
                  <a:schemeClr val="bg1"/>
                </a:solidFill>
              </a:rPr>
              <a:t>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AB14B6-B915-F4A0-53B4-DB8515609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EC8605-E485-84A8-61F1-DA4644F92418}"/>
              </a:ext>
            </a:extLst>
          </p:cNvPr>
          <p:cNvSpPr txBox="1"/>
          <p:nvPr/>
        </p:nvSpPr>
        <p:spPr>
          <a:xfrm>
            <a:off x="8519886" y="5177393"/>
            <a:ext cx="11508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Observed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C20604-9CF2-BC20-9D80-29108BF78490}"/>
              </a:ext>
            </a:extLst>
          </p:cNvPr>
          <p:cNvSpPr txBox="1"/>
          <p:nvPr/>
        </p:nvSpPr>
        <p:spPr>
          <a:xfrm>
            <a:off x="6081486" y="3244334"/>
            <a:ext cx="114313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Predicted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9B3AF30-CBA4-8E30-E72B-CF818B185CC8}"/>
                  </a:ext>
                </a:extLst>
              </p:cNvPr>
              <p:cNvSpPr txBox="1"/>
              <p:nvPr/>
            </p:nvSpPr>
            <p:spPr>
              <a:xfrm>
                <a:off x="722085" y="5827693"/>
                <a:ext cx="4443332" cy="665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𝑜𝑏𝑠𝑒𝑟𝑣𝑒𝑑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𝑝𝑟𝑒𝑑𝑖𝑐𝑡𝑒𝑑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rad>
                        </m:num>
                        <m:den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9B3AF30-CBA4-8E30-E72B-CF818B185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085" y="5827693"/>
                <a:ext cx="4443332" cy="665182"/>
              </a:xfrm>
              <a:prstGeom prst="rect">
                <a:avLst/>
              </a:prstGeom>
              <a:blipFill>
                <a:blip r:embed="rId4"/>
                <a:stretch>
                  <a:fillRect l="-855" r="-1994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37848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5BF54-725F-47B4-8B43-5194E08F2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DA8EF-FF4F-6607-2ED5-DBFE434A1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53235-59FC-D6F9-0AFA-9B332829F0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2717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Most ask in some way: </a:t>
            </a:r>
            <a:r>
              <a:rPr lang="en-US" b="1" dirty="0"/>
              <a:t>how big are the residuals?</a:t>
            </a:r>
          </a:p>
          <a:p>
            <a:r>
              <a:rPr lang="en-US" dirty="0"/>
              <a:t>Root mean squared error (RMSE) </a:t>
            </a:r>
          </a:p>
          <a:p>
            <a:r>
              <a:rPr lang="en-US" dirty="0"/>
              <a:t>Mean absolute error</a:t>
            </a:r>
          </a:p>
          <a:p>
            <a:r>
              <a:rPr lang="en-US" dirty="0"/>
              <a:t>Many more</a:t>
            </a:r>
          </a:p>
          <a:p>
            <a:pPr marL="0" indent="0">
              <a:buNone/>
            </a:pPr>
            <a:r>
              <a:rPr lang="en-US" dirty="0"/>
              <a:t>Many are related to R</a:t>
            </a:r>
            <a:r>
              <a:rPr lang="en-US" baseline="30000" dirty="0"/>
              <a:t>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908B90-227A-38BE-8EB7-A01FF581C8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A658049-1301-39CA-453C-5AAEAB20AAC2}"/>
              </a:ext>
            </a:extLst>
          </p:cNvPr>
          <p:cNvSpPr txBox="1"/>
          <p:nvPr/>
        </p:nvSpPr>
        <p:spPr>
          <a:xfrm>
            <a:off x="8519886" y="5177393"/>
            <a:ext cx="11508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Observed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3E39C9-86BA-C285-EFD1-7FD10346530D}"/>
              </a:ext>
            </a:extLst>
          </p:cNvPr>
          <p:cNvSpPr txBox="1"/>
          <p:nvPr/>
        </p:nvSpPr>
        <p:spPr>
          <a:xfrm>
            <a:off x="6081486" y="3244334"/>
            <a:ext cx="114313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Predicted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464E96-9BAD-55E3-BF96-DDBD85118FEF}"/>
                  </a:ext>
                </a:extLst>
              </p:cNvPr>
              <p:cNvSpPr txBox="1"/>
              <p:nvPr/>
            </p:nvSpPr>
            <p:spPr>
              <a:xfrm>
                <a:off x="722085" y="5827693"/>
                <a:ext cx="4443332" cy="665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𝑜𝑏𝑠𝑒𝑟𝑣𝑒𝑑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𝑝𝑟𝑒𝑑𝑖𝑐𝑡𝑒𝑑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rad>
                        </m:num>
                        <m:den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464E96-9BAD-55E3-BF96-DDBD85118F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085" y="5827693"/>
                <a:ext cx="4443332" cy="665182"/>
              </a:xfrm>
              <a:prstGeom prst="rect">
                <a:avLst/>
              </a:prstGeom>
              <a:blipFill>
                <a:blip r:embed="rId4"/>
                <a:stretch>
                  <a:fillRect l="-855" r="-1994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579044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AB319-C19F-78DD-8AC9-DF7EE3596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4EEC0-38FE-1CC9-8E2E-025672603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492D0-0D83-1968-8DD0-5A1FF9E44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2717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Most ask in some way: </a:t>
            </a:r>
            <a:r>
              <a:rPr lang="en-US" b="1" dirty="0"/>
              <a:t>how big are the residuals?</a:t>
            </a:r>
          </a:p>
          <a:p>
            <a:r>
              <a:rPr lang="en-US" dirty="0"/>
              <a:t>Root mean squared error (RMSE) </a:t>
            </a:r>
          </a:p>
          <a:p>
            <a:r>
              <a:rPr lang="en-US" dirty="0"/>
              <a:t>Mean absolute error</a:t>
            </a:r>
          </a:p>
          <a:p>
            <a:r>
              <a:rPr lang="en-US" dirty="0"/>
              <a:t>Many more</a:t>
            </a:r>
          </a:p>
          <a:p>
            <a:pPr marL="0" indent="0">
              <a:buNone/>
            </a:pPr>
            <a:r>
              <a:rPr lang="en-US" dirty="0"/>
              <a:t>Many are related to R</a:t>
            </a:r>
            <a:r>
              <a:rPr lang="en-US" baseline="30000" dirty="0"/>
              <a:t>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D93D3A-55E2-ACFA-7858-50554DB365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67B959C-DFB6-6362-C4DD-8276AEC37EA4}"/>
              </a:ext>
            </a:extLst>
          </p:cNvPr>
          <p:cNvSpPr txBox="1"/>
          <p:nvPr/>
        </p:nvSpPr>
        <p:spPr>
          <a:xfrm>
            <a:off x="8519886" y="5177393"/>
            <a:ext cx="11508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Observed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46FD65-6972-4CFA-D79C-69A595264EED}"/>
              </a:ext>
            </a:extLst>
          </p:cNvPr>
          <p:cNvSpPr txBox="1"/>
          <p:nvPr/>
        </p:nvSpPr>
        <p:spPr>
          <a:xfrm>
            <a:off x="6081486" y="3244334"/>
            <a:ext cx="114313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Predicted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4B539C1-3967-CD8E-EF4D-3D6798C481CF}"/>
                  </a:ext>
                </a:extLst>
              </p:cNvPr>
              <p:cNvSpPr txBox="1"/>
              <p:nvPr/>
            </p:nvSpPr>
            <p:spPr>
              <a:xfrm>
                <a:off x="722085" y="5827693"/>
                <a:ext cx="4443332" cy="665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𝑜𝑏𝑠𝑒𝑟𝑣𝑒𝑑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𝑝𝑟𝑒𝑑𝑖𝑐𝑡𝑒𝑑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rad>
                        </m:num>
                        <m:den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4B539C1-3967-CD8E-EF4D-3D6798C48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085" y="5827693"/>
                <a:ext cx="4443332" cy="665182"/>
              </a:xfrm>
              <a:prstGeom prst="rect">
                <a:avLst/>
              </a:prstGeom>
              <a:blipFill>
                <a:blip r:embed="rId4"/>
                <a:stretch>
                  <a:fillRect l="-855" r="-1994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DC3D50-6F14-ED9E-55EF-24B2C311E890}"/>
                  </a:ext>
                </a:extLst>
              </p:cNvPr>
              <p:cNvSpPr txBox="1"/>
              <p:nvPr/>
            </p:nvSpPr>
            <p:spPr>
              <a:xfrm>
                <a:off x="6226631" y="5827693"/>
                <a:ext cx="1929887" cy="672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= 1 − 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RMSE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Var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DC3D50-6F14-ED9E-55EF-24B2C311E8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6631" y="5827693"/>
                <a:ext cx="1929887" cy="672172"/>
              </a:xfrm>
              <a:prstGeom prst="rect">
                <a:avLst/>
              </a:prstGeom>
              <a:blipFill>
                <a:blip r:embed="rId5"/>
                <a:stretch>
                  <a:fillRect l="-4575" r="-9804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017BC4DC-C730-3904-FA1D-04DC7140DEC2}"/>
              </a:ext>
            </a:extLst>
          </p:cNvPr>
          <p:cNvSpPr txBox="1"/>
          <p:nvPr/>
        </p:nvSpPr>
        <p:spPr>
          <a:xfrm>
            <a:off x="9942600" y="5546725"/>
            <a:ext cx="2249400" cy="14875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RMSE vs R</a:t>
            </a:r>
            <a:r>
              <a:rPr lang="en-US" sz="1600" baseline="30000" dirty="0"/>
              <a:t>2</a:t>
            </a:r>
          </a:p>
          <a:p>
            <a:r>
              <a:rPr lang="en-US" sz="1600" dirty="0">
                <a:hlinkClick r:id="rId6"/>
              </a:rPr>
              <a:t>https://datascience.stackexchange.com/questions/100605/rmse-vs-r-squared</a:t>
            </a:r>
            <a:endParaRPr lang="en-US" sz="1600" dirty="0"/>
          </a:p>
          <a:p>
            <a:endParaRPr lang="en-US" sz="1600" baseline="30000" dirty="0"/>
          </a:p>
        </p:txBody>
      </p:sp>
    </p:spTree>
    <p:extLst>
      <p:ext uri="{BB962C8B-B14F-4D97-AF65-F5344CB8AC3E}">
        <p14:creationId xmlns:p14="http://schemas.microsoft.com/office/powerpoint/2010/main" val="8968301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17247-EBB9-5F0B-7A7F-FB769C2FC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7F731-18D1-3BC7-D5EA-21BE7C60FF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77114" cy="4351338"/>
          </a:xfrm>
        </p:spPr>
        <p:txBody>
          <a:bodyPr/>
          <a:lstStyle/>
          <a:p>
            <a:r>
              <a:rPr lang="en-US" dirty="0"/>
              <a:t>Many metrics compute some sort of “average” to get at overall performance</a:t>
            </a:r>
          </a:p>
          <a:p>
            <a:r>
              <a:rPr lang="en-US" dirty="0">
                <a:solidFill>
                  <a:schemeClr val="bg1"/>
                </a:solidFill>
              </a:rPr>
              <a:t>Some metrics: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Are more sensitive to extremes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consider over-estimation differently than under-estimation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Etc.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E2A833-3B92-4156-7018-7855AE19A9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5716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9E2F6-5277-D2C3-B2EE-68A5FA319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F826C-02B9-4EC8-DBDE-5D4C68B23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6DD5D-1221-813F-923A-BA94E3D3A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77114" cy="4351338"/>
          </a:xfrm>
        </p:spPr>
        <p:txBody>
          <a:bodyPr/>
          <a:lstStyle/>
          <a:p>
            <a:r>
              <a:rPr lang="en-US" dirty="0"/>
              <a:t>Many metrics compute some sort of “average” to get at overall performance</a:t>
            </a:r>
          </a:p>
          <a:p>
            <a:r>
              <a:rPr lang="en-US" dirty="0"/>
              <a:t>Some metrics:</a:t>
            </a:r>
          </a:p>
          <a:p>
            <a:pPr lvl="1"/>
            <a:r>
              <a:rPr lang="en-US" dirty="0"/>
              <a:t>Are more sensitive to extremes</a:t>
            </a:r>
          </a:p>
          <a:p>
            <a:pPr lvl="1"/>
            <a:r>
              <a:rPr lang="en-US" dirty="0"/>
              <a:t>Consider over-estimation differently than under-estimation</a:t>
            </a:r>
          </a:p>
          <a:p>
            <a:pPr lvl="1"/>
            <a:r>
              <a:rPr lang="en-US" dirty="0"/>
              <a:t>Etc.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64B868-C60B-27D6-EB8A-364AF75D9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6722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115CD-6D9F-E60B-2ACF-8AA296808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5C555-BF33-529B-7057-2913D8021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0588AA-A053-63F2-57A9-85B73BF588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77114" cy="4351338"/>
          </a:xfrm>
        </p:spPr>
        <p:txBody>
          <a:bodyPr/>
          <a:lstStyle/>
          <a:p>
            <a:r>
              <a:rPr lang="en-US" dirty="0"/>
              <a:t>Many metrics compute some sort of “average” to get at overall performance</a:t>
            </a:r>
          </a:p>
          <a:p>
            <a:r>
              <a:rPr lang="en-US" dirty="0"/>
              <a:t>Some metrics:</a:t>
            </a:r>
          </a:p>
          <a:p>
            <a:pPr lvl="1"/>
            <a:r>
              <a:rPr lang="en-US" dirty="0"/>
              <a:t>Are more sensitive to extremes</a:t>
            </a:r>
          </a:p>
          <a:p>
            <a:pPr lvl="1"/>
            <a:r>
              <a:rPr lang="en-US" dirty="0"/>
              <a:t>Consider over-estimation differently than under-estimation</a:t>
            </a:r>
          </a:p>
          <a:p>
            <a:pPr lvl="1"/>
            <a:r>
              <a:rPr lang="en-US" dirty="0"/>
              <a:t>Etc.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7A8EA8-573D-25C4-DCE4-2C4D017083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7D5CE3D-2C95-E02D-D717-BCB11F6B1C3A}"/>
              </a:ext>
            </a:extLst>
          </p:cNvPr>
          <p:cNvSpPr txBox="1"/>
          <p:nvPr/>
        </p:nvSpPr>
        <p:spPr>
          <a:xfrm>
            <a:off x="3133351" y="5002855"/>
            <a:ext cx="415108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Here’s a link with lots of metrics that can be calculated, with some practical examples:</a:t>
            </a:r>
          </a:p>
          <a:p>
            <a:r>
              <a:rPr lang="en-US" dirty="0">
                <a:hlinkClick r:id="rId3"/>
              </a:rPr>
              <a:t>https://towardsai.net/p/artificial-intelligence/the-essential-guide-to-ml-evaluation-metrics-for-regression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72406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E95B8-4A71-743D-70FA-DCBDB3356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– key takeaways</a:t>
            </a:r>
          </a:p>
        </p:txBody>
      </p:sp>
    </p:spTree>
    <p:extLst>
      <p:ext uri="{BB962C8B-B14F-4D97-AF65-F5344CB8AC3E}">
        <p14:creationId xmlns:p14="http://schemas.microsoft.com/office/powerpoint/2010/main" val="10278950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CE2F3-95F3-577E-4B63-ADB183B60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7F292-4BDD-179B-7DB5-9D6FC66BB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– 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EE82D-B15B-8622-3912-B77258F394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652612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Model performance metrics are:</a:t>
            </a:r>
          </a:p>
          <a:p>
            <a:r>
              <a:rPr lang="en-US" dirty="0"/>
              <a:t>Diverse and variable</a:t>
            </a:r>
          </a:p>
          <a:p>
            <a:r>
              <a:rPr lang="en-US" dirty="0"/>
              <a:t>Able to change your perception of the model</a:t>
            </a:r>
          </a:p>
          <a:p>
            <a:r>
              <a:rPr lang="en-US" dirty="0"/>
              <a:t>Deserving of thoughtful consideration – costs and benefits to each decision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Because the model is completely focused on mimicking the outputs, how you measure how well it mimics them is highly important</a:t>
            </a:r>
          </a:p>
        </p:txBody>
      </p:sp>
    </p:spTree>
    <p:extLst>
      <p:ext uri="{BB962C8B-B14F-4D97-AF65-F5344CB8AC3E}">
        <p14:creationId xmlns:p14="http://schemas.microsoft.com/office/powerpoint/2010/main" val="9901664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F8EB4-72BA-761A-54AF-C7F45E354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23E60-04ED-25E5-5DDE-AE4D362AD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– 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86194-EA3F-9A2E-9258-788784249D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652612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Model performance metrics are:</a:t>
            </a:r>
          </a:p>
          <a:p>
            <a:r>
              <a:rPr lang="en-US" dirty="0"/>
              <a:t>Diverse and variable</a:t>
            </a:r>
          </a:p>
          <a:p>
            <a:r>
              <a:rPr lang="en-US" dirty="0"/>
              <a:t>Able to change your perception of the model</a:t>
            </a:r>
          </a:p>
          <a:p>
            <a:r>
              <a:rPr lang="en-US" dirty="0"/>
              <a:t>Deserving of thoughtful consideration – costs and benefits to each decision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Because the model is completely focused on mimicking the outputs, how you measure how well it mimics them is highly important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2261F2E-D904-99BA-0B1A-B6E539468A78}"/>
              </a:ext>
            </a:extLst>
          </p:cNvPr>
          <p:cNvGrpSpPr/>
          <p:nvPr/>
        </p:nvGrpSpPr>
        <p:grpSpPr>
          <a:xfrm>
            <a:off x="7012352" y="4545346"/>
            <a:ext cx="5712083" cy="1454037"/>
            <a:chOff x="6479917" y="4857863"/>
            <a:chExt cx="5712083" cy="145403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7B20464-35D9-15A9-E597-06405B3C0E9A}"/>
                </a:ext>
              </a:extLst>
            </p:cNvPr>
            <p:cNvGrpSpPr/>
            <p:nvPr/>
          </p:nvGrpSpPr>
          <p:grpSpPr>
            <a:xfrm>
              <a:off x="6479917" y="4857863"/>
              <a:ext cx="5712083" cy="644073"/>
              <a:chOff x="6484817" y="601883"/>
              <a:chExt cx="5712083" cy="644073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200DA6D-19FC-B871-14EE-7BF2B7F70490}"/>
                  </a:ext>
                </a:extLst>
              </p:cNvPr>
              <p:cNvSpPr txBox="1"/>
              <p:nvPr/>
            </p:nvSpPr>
            <p:spPr>
              <a:xfrm>
                <a:off x="10888394" y="661181"/>
                <a:ext cx="130850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b="1" dirty="0"/>
                  <a:t>Y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0DE76CF-24A8-C395-4799-F8B01651F789}"/>
                  </a:ext>
                </a:extLst>
              </p:cNvPr>
              <p:cNvSpPr/>
              <p:nvPr/>
            </p:nvSpPr>
            <p:spPr>
              <a:xfrm>
                <a:off x="7882360" y="601883"/>
                <a:ext cx="1921397" cy="625033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B63499-19CF-9A78-59D4-2EB87BC58D98}"/>
                  </a:ext>
                </a:extLst>
              </p:cNvPr>
              <p:cNvSpPr txBox="1"/>
              <p:nvPr/>
            </p:nvSpPr>
            <p:spPr>
              <a:xfrm>
                <a:off x="6484817" y="661181"/>
                <a:ext cx="42992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b="1" dirty="0"/>
                  <a:t>X</a:t>
                </a: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A222854A-8CD6-5D34-3413-55C950F5B62D}"/>
                  </a:ext>
                </a:extLst>
              </p:cNvPr>
              <p:cNvCxnSpPr/>
              <p:nvPr/>
            </p:nvCxnSpPr>
            <p:spPr>
              <a:xfrm>
                <a:off x="7047914" y="914399"/>
                <a:ext cx="618978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88F67554-188E-1A1C-10BD-F1737B250550}"/>
                  </a:ext>
                </a:extLst>
              </p:cNvPr>
              <p:cNvCxnSpPr/>
              <p:nvPr/>
            </p:nvCxnSpPr>
            <p:spPr>
              <a:xfrm>
                <a:off x="10084191" y="914399"/>
                <a:ext cx="618978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F427AC01-6411-0A7A-0ABA-4DF20902B279}"/>
                </a:ext>
              </a:extLst>
            </p:cNvPr>
            <p:cNvCxnSpPr/>
            <p:nvPr/>
          </p:nvCxnSpPr>
          <p:spPr>
            <a:xfrm>
              <a:off x="6909843" y="5501936"/>
              <a:ext cx="967617" cy="535452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2457D00-9E96-C15F-6B50-6F87E64B66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614957" y="5566531"/>
              <a:ext cx="1268537" cy="470857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69151FF-BFB1-50D3-C885-6CA4112898BD}"/>
                </a:ext>
              </a:extLst>
            </p:cNvPr>
            <p:cNvSpPr txBox="1"/>
            <p:nvPr/>
          </p:nvSpPr>
          <p:spPr>
            <a:xfrm>
              <a:off x="8150532" y="5850235"/>
              <a:ext cx="119135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MODEL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51925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E13A741-7C89-7BF4-BCCA-EEB84255FA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" y="0"/>
            <a:ext cx="121897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1501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76550-8CD7-203A-5447-7DBD5A0B6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66EB6-3C76-80A9-073B-04D4A26EC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example…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8AF13C-40EF-97FC-E6D8-54D5890259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682"/>
            <a:ext cx="5736220" cy="48172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build a model to predict a lake’s fish abundance over time based on fishing pressure and weather.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train the model using data from 1990-2025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It predicts those years perfectly.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Is this a good model?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7D2A59-4F9E-4215-0F1C-0B66559468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905" y="2640750"/>
            <a:ext cx="3927813" cy="1749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942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F34CC-4686-0F2B-9C53-AF601D654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069AA-E08B-0623-0F5A-276A18E31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example…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970974-575D-F577-E0C4-C39D567B0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682"/>
            <a:ext cx="5736220" cy="48172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build a model to predict a lake’s fish abundance over time based on fishing pressure and weather.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train the model using data from 1990-2025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It predicts those years perfectly.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Is this a good model?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BE263E-646B-49C9-9144-55226D6155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905" y="2640750"/>
            <a:ext cx="3927813" cy="17492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16D79B0-12C1-C9B4-BDDF-C78A723332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905" y="4592723"/>
            <a:ext cx="3927812" cy="1749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8772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05E51-3476-A92A-0EC0-FC68DE1F2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B17DD-7966-83BD-C029-1E1CBE50E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example…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D526E-0AD1-8701-CE14-BEDB157F44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682"/>
            <a:ext cx="5736220" cy="48172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build a model to predict a lake’s fish abundance over time based on fishing pressure and weather.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train the model using data from 1990-2025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It predicts those years perfectly.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Is this a good model?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271644-17DF-3EBE-4CC7-1DF65408DD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905" y="2640750"/>
            <a:ext cx="3927813" cy="17492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E47954-EC7E-ADA2-9567-0361C7CC23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905" y="4592723"/>
            <a:ext cx="3927812" cy="1749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8836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D7E77-9AD5-BF13-14E5-0CFE035B3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8EE1A-1FA8-735D-F7FB-EAA7809B4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example…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C32D91-F338-A6FA-1313-B9E939A527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682"/>
            <a:ext cx="5736220" cy="48172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build a model to predict a lake’s fish abundance over time based on fishing pressure and weather.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train the model using data from 1990-2025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It predicts those years perfectly.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Is this a good model?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66E6BC-BF49-F038-BC46-C4F81E58F9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905" y="2640750"/>
            <a:ext cx="3927813" cy="17492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1FD3728-47E6-4AF7-6209-0279CFF13E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905" y="4592723"/>
            <a:ext cx="3927812" cy="17492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611B50-249A-AF96-09EC-52F2A575C6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9519" y="92597"/>
            <a:ext cx="3249523" cy="3249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7392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A2218-85B4-E954-67D6-F0AB4B75A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sets of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FAD46A-AE3F-57BE-85F2-19E6610EE8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Training set</a:t>
            </a:r>
            <a:r>
              <a:rPr lang="en-US" dirty="0"/>
              <a:t>: used to train the model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Validation set</a:t>
            </a:r>
            <a:r>
              <a:rPr lang="en-US" dirty="0"/>
              <a:t>: used by the model/researcher to adjust parameters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Test set</a:t>
            </a:r>
            <a:r>
              <a:rPr lang="en-US" dirty="0"/>
              <a:t>: used to evaluate the model performance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06BFEF3-B135-E71E-168E-EC1F29F1C821}"/>
              </a:ext>
            </a:extLst>
          </p:cNvPr>
          <p:cNvGrpSpPr/>
          <p:nvPr/>
        </p:nvGrpSpPr>
        <p:grpSpPr>
          <a:xfrm>
            <a:off x="1669144" y="4934857"/>
            <a:ext cx="8352971" cy="928915"/>
            <a:chOff x="1422400" y="3976914"/>
            <a:chExt cx="8352971" cy="9289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E165E50-73E4-7DB2-0FB3-ED160EFF25E1}"/>
                </a:ext>
              </a:extLst>
            </p:cNvPr>
            <p:cNvSpPr/>
            <p:nvPr/>
          </p:nvSpPr>
          <p:spPr>
            <a:xfrm>
              <a:off x="1422400" y="3976914"/>
              <a:ext cx="4673600" cy="92891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Training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72D70A0-782E-2D38-1BF9-E5BD631CEC1A}"/>
                </a:ext>
              </a:extLst>
            </p:cNvPr>
            <p:cNvSpPr/>
            <p:nvPr/>
          </p:nvSpPr>
          <p:spPr>
            <a:xfrm>
              <a:off x="6096000" y="3976914"/>
              <a:ext cx="1538514" cy="92891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Validation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FF65440-80BD-FE4A-977E-A052F9A5F5C6}"/>
                </a:ext>
              </a:extLst>
            </p:cNvPr>
            <p:cNvSpPr/>
            <p:nvPr/>
          </p:nvSpPr>
          <p:spPr>
            <a:xfrm>
              <a:off x="7634514" y="3976914"/>
              <a:ext cx="2140857" cy="928915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Test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567478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AE8CB-AEE7-A90A-F888-93C55C021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79C1994-AFBD-078E-2E48-CA1467BAF226}"/>
              </a:ext>
            </a:extLst>
          </p:cNvPr>
          <p:cNvSpPr/>
          <p:nvPr/>
        </p:nvSpPr>
        <p:spPr>
          <a:xfrm>
            <a:off x="653143" y="1690688"/>
            <a:ext cx="10813143" cy="1738312"/>
          </a:xfrm>
          <a:prstGeom prst="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9B36DB-D5D3-0A1A-D371-EA591A964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sets of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B6A586-2AF9-F616-2A3D-2AD504D7C4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Training set</a:t>
            </a:r>
            <a:r>
              <a:rPr lang="en-US" dirty="0"/>
              <a:t>: used to train the model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Validation set</a:t>
            </a:r>
            <a:r>
              <a:rPr lang="en-US" dirty="0"/>
              <a:t>: used by the model/researcher to adjust parameters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Test set</a:t>
            </a:r>
            <a:r>
              <a:rPr lang="en-US" dirty="0"/>
              <a:t>: used to evaluate the model performance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B1B9546-DF9B-6433-FD92-4F6C7806A76B}"/>
              </a:ext>
            </a:extLst>
          </p:cNvPr>
          <p:cNvGrpSpPr/>
          <p:nvPr/>
        </p:nvGrpSpPr>
        <p:grpSpPr>
          <a:xfrm>
            <a:off x="1669144" y="4934857"/>
            <a:ext cx="8352971" cy="928915"/>
            <a:chOff x="1422400" y="3976914"/>
            <a:chExt cx="8352971" cy="9289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3238F58-44D5-6407-B6F7-10C718DA8D44}"/>
                </a:ext>
              </a:extLst>
            </p:cNvPr>
            <p:cNvSpPr/>
            <p:nvPr/>
          </p:nvSpPr>
          <p:spPr>
            <a:xfrm>
              <a:off x="1422400" y="3976914"/>
              <a:ext cx="4673600" cy="92891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Training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12E9F36-C0B5-1C09-0D49-11A75E01B573}"/>
                </a:ext>
              </a:extLst>
            </p:cNvPr>
            <p:cNvSpPr/>
            <p:nvPr/>
          </p:nvSpPr>
          <p:spPr>
            <a:xfrm>
              <a:off x="6096000" y="3976914"/>
              <a:ext cx="1538514" cy="92891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Validation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77FDEBE-C7D1-4D51-4954-5EF3458F5A90}"/>
                </a:ext>
              </a:extLst>
            </p:cNvPr>
            <p:cNvSpPr/>
            <p:nvPr/>
          </p:nvSpPr>
          <p:spPr>
            <a:xfrm>
              <a:off x="7634514" y="3976914"/>
              <a:ext cx="2140857" cy="928915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Test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657E00E-F9F3-AA4E-2D1F-8885AE230202}"/>
              </a:ext>
            </a:extLst>
          </p:cNvPr>
          <p:cNvSpPr txBox="1"/>
          <p:nvPr/>
        </p:nvSpPr>
        <p:spPr>
          <a:xfrm>
            <a:off x="8694058" y="447775"/>
            <a:ext cx="29609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Often handled internally in the code packages that build the models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38AAE4E-4CC0-7A84-876D-2ABD1D643C5B}"/>
              </a:ext>
            </a:extLst>
          </p:cNvPr>
          <p:cNvCxnSpPr/>
          <p:nvPr/>
        </p:nvCxnSpPr>
        <p:spPr>
          <a:xfrm flipV="1">
            <a:off x="8650514" y="1393371"/>
            <a:ext cx="301172" cy="297317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67747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D8BD5-1866-8949-4A75-E045188B0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 should </a:t>
            </a:r>
            <a:r>
              <a:rPr lang="en-US" i="1" dirty="0"/>
              <a:t>always </a:t>
            </a:r>
            <a:r>
              <a:rPr lang="en-US" dirty="0"/>
              <a:t>evaluate your model with an </a:t>
            </a:r>
            <a:r>
              <a:rPr lang="en-US" b="1" dirty="0"/>
              <a:t>independent test set</a:t>
            </a:r>
            <a:endParaRPr lang="en-US" b="1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D81AE-EEF4-2FD6-10E6-7E3EC20FFF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simplest option is to:</a:t>
            </a:r>
          </a:p>
          <a:p>
            <a:r>
              <a:rPr lang="en-US" dirty="0"/>
              <a:t>Hold out 20% of your dataset as the </a:t>
            </a:r>
            <a:r>
              <a:rPr lang="en-US" b="1" dirty="0"/>
              <a:t>test set</a:t>
            </a:r>
          </a:p>
          <a:p>
            <a:r>
              <a:rPr lang="en-US" dirty="0"/>
              <a:t>Train your model on the 80% </a:t>
            </a:r>
            <a:r>
              <a:rPr lang="en-US" b="1" dirty="0"/>
              <a:t>training set</a:t>
            </a:r>
          </a:p>
          <a:p>
            <a:r>
              <a:rPr lang="en-US" dirty="0"/>
              <a:t>Calculate performance metrics on the test set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866A68-2498-F3B1-38FB-4AE0B2236D18}"/>
              </a:ext>
            </a:extLst>
          </p:cNvPr>
          <p:cNvSpPr txBox="1"/>
          <p:nvPr/>
        </p:nvSpPr>
        <p:spPr>
          <a:xfrm>
            <a:off x="5572772" y="6169709"/>
            <a:ext cx="71169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Sometimes, sample size makes this impractical or requires alternatives for a specific application...we'll talk about those later.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67D469-D2DC-9B73-0E34-8695057EA1D1}"/>
              </a:ext>
            </a:extLst>
          </p:cNvPr>
          <p:cNvGrpSpPr/>
          <p:nvPr/>
        </p:nvGrpSpPr>
        <p:grpSpPr>
          <a:xfrm>
            <a:off x="1529444" y="4601717"/>
            <a:ext cx="8352971" cy="928915"/>
            <a:chOff x="1422400" y="3976914"/>
            <a:chExt cx="8352971" cy="92891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29CB867-CEF1-C28A-11FA-D3384A3910A6}"/>
                </a:ext>
              </a:extLst>
            </p:cNvPr>
            <p:cNvSpPr/>
            <p:nvPr/>
          </p:nvSpPr>
          <p:spPr>
            <a:xfrm>
              <a:off x="1422400" y="3976914"/>
              <a:ext cx="6212114" cy="92891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Model training and validation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8D51357-FCA5-58B5-C0D9-045F58E82FDE}"/>
                </a:ext>
              </a:extLst>
            </p:cNvPr>
            <p:cNvSpPr/>
            <p:nvPr/>
          </p:nvSpPr>
          <p:spPr>
            <a:xfrm>
              <a:off x="7634514" y="3976914"/>
              <a:ext cx="2140857" cy="928915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Test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33858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64831-9647-66C8-2A0D-733435F4D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K-fold cross-validation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79D711-7D13-2205-A8E9-B1B89D199D1E}"/>
              </a:ext>
            </a:extLst>
          </p:cNvPr>
          <p:cNvSpPr txBox="1"/>
          <p:nvPr/>
        </p:nvSpPr>
        <p:spPr>
          <a:xfrm>
            <a:off x="8293100" y="6322109"/>
            <a:ext cx="43434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hlinkClick r:id="rId3"/>
              </a:rPr>
              <a:t>https://towardsdatascience.com/how-to-cross-validation-with-time-series-data-9802a06272c6/</a:t>
            </a:r>
            <a:endParaRPr lang="en-US" sz="1400" dirty="0"/>
          </a:p>
          <a:p>
            <a:endParaRPr lang="en-US" sz="14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827F72F-31D1-2756-4591-BFF5565142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2513608"/>
            <a:ext cx="7772400" cy="338018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5EF64A1-E179-5E94-D747-B30C14387ADA}"/>
              </a:ext>
            </a:extLst>
          </p:cNvPr>
          <p:cNvSpPr txBox="1"/>
          <p:nvPr/>
        </p:nvSpPr>
        <p:spPr>
          <a:xfrm>
            <a:off x="1524708" y="2282775"/>
            <a:ext cx="13701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For k = 5: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63C5FC-0F5A-D1AE-9D34-95A0C202C3FB}"/>
              </a:ext>
            </a:extLst>
          </p:cNvPr>
          <p:cNvSpPr txBox="1"/>
          <p:nvPr/>
        </p:nvSpPr>
        <p:spPr>
          <a:xfrm>
            <a:off x="838200" y="1654403"/>
            <a:ext cx="63748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Randomly split your training data into k subsets (“folds”)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E94D4E-FFF9-21C0-8599-F38CF8BC08A1}"/>
              </a:ext>
            </a:extLst>
          </p:cNvPr>
          <p:cNvSpPr txBox="1"/>
          <p:nvPr/>
        </p:nvSpPr>
        <p:spPr>
          <a:xfrm>
            <a:off x="931667" y="5709126"/>
            <a:ext cx="63046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When k = number of rows, it’s a leave-one-out cross validation</a:t>
            </a:r>
          </a:p>
        </p:txBody>
      </p:sp>
    </p:spTree>
    <p:extLst>
      <p:ext uri="{BB962C8B-B14F-4D97-AF65-F5344CB8AC3E}">
        <p14:creationId xmlns:p14="http://schemas.microsoft.com/office/powerpoint/2010/main" val="16992369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238B0-72F7-2ACA-F2BE-3DF32754A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evaluation should reflect the structure of your prediction problem</a:t>
            </a:r>
          </a:p>
        </p:txBody>
      </p:sp>
    </p:spTree>
    <p:extLst>
      <p:ext uri="{BB962C8B-B14F-4D97-AF65-F5344CB8AC3E}">
        <p14:creationId xmlns:p14="http://schemas.microsoft.com/office/powerpoint/2010/main" val="63257730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CFFD6F-F879-6D6C-4CE7-B7302A94F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F50AE-7BB4-4BED-BC23-1D55510AC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evaluation should reflect the structure of your prediction problem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9C4F164-BCC7-1C01-05D3-4DF8149134AA}"/>
              </a:ext>
            </a:extLst>
          </p:cNvPr>
          <p:cNvGrpSpPr/>
          <p:nvPr/>
        </p:nvGrpSpPr>
        <p:grpSpPr>
          <a:xfrm>
            <a:off x="421118" y="2415202"/>
            <a:ext cx="4389421" cy="2902233"/>
            <a:chOff x="278296" y="3404946"/>
            <a:chExt cx="3529331" cy="217566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77AC89E-5783-1B01-17E1-41BA6A51B7E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7103" y="4183615"/>
              <a:ext cx="3136900" cy="13970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2AE2298-CB39-1384-86D5-3084E98A0ED1}"/>
                </a:ext>
              </a:extLst>
            </p:cNvPr>
            <p:cNvSpPr txBox="1"/>
            <p:nvPr/>
          </p:nvSpPr>
          <p:spPr>
            <a:xfrm>
              <a:off x="278296" y="3404946"/>
              <a:ext cx="3529331" cy="4845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For our fish example, we might be most interested in </a:t>
              </a:r>
              <a:r>
                <a:rPr lang="en-US" b="1" dirty="0"/>
                <a:t>predicting the future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4AB30E7-AC2B-8098-523C-6625600FD720}"/>
                </a:ext>
              </a:extLst>
            </p:cNvPr>
            <p:cNvSpPr/>
            <p:nvPr/>
          </p:nvSpPr>
          <p:spPr>
            <a:xfrm>
              <a:off x="934279" y="4183615"/>
              <a:ext cx="1803951" cy="99467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50196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0CDD254-7DDE-0B74-B93A-4E88A178A43F}"/>
                </a:ext>
              </a:extLst>
            </p:cNvPr>
            <p:cNvSpPr txBox="1"/>
            <p:nvPr/>
          </p:nvSpPr>
          <p:spPr>
            <a:xfrm>
              <a:off x="1361662" y="4183615"/>
              <a:ext cx="78521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Training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7FAFC70-9DBA-07BA-E31D-BF43E1375527}"/>
                </a:ext>
              </a:extLst>
            </p:cNvPr>
            <p:cNvSpPr/>
            <p:nvPr/>
          </p:nvSpPr>
          <p:spPr>
            <a:xfrm>
              <a:off x="2738231" y="4183615"/>
              <a:ext cx="670892" cy="994672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50196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31EA69F-29D7-E0EF-8F86-97AD31AA7411}"/>
                </a:ext>
              </a:extLst>
            </p:cNvPr>
            <p:cNvSpPr txBox="1"/>
            <p:nvPr/>
          </p:nvSpPr>
          <p:spPr>
            <a:xfrm>
              <a:off x="2831973" y="4183614"/>
              <a:ext cx="4946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Test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060993B-F6C3-14AE-27C9-42BF9992F34E}"/>
              </a:ext>
            </a:extLst>
          </p:cNvPr>
          <p:cNvSpPr txBox="1"/>
          <p:nvPr/>
        </p:nvSpPr>
        <p:spPr>
          <a:xfrm>
            <a:off x="574674" y="5348116"/>
            <a:ext cx="35681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More options for time series: </a:t>
            </a:r>
            <a:r>
              <a:rPr lang="en-US" sz="1200" dirty="0">
                <a:hlinkClick r:id="rId3"/>
              </a:rPr>
              <a:t>https://towardsdatascience.com/how-to-cross-validation-with-time-series-data-9802a06272c6/</a:t>
            </a:r>
            <a:r>
              <a:rPr 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7563150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CBAC6-E1A7-583E-BB46-96C26F5E9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C51AD-2010-6C16-68DE-B4DE0B85C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evaluation should reflect the structure of your prediction problem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9FF0B86-8A1E-9755-640B-61EC475CEBD2}"/>
              </a:ext>
            </a:extLst>
          </p:cNvPr>
          <p:cNvGrpSpPr/>
          <p:nvPr/>
        </p:nvGrpSpPr>
        <p:grpSpPr>
          <a:xfrm>
            <a:off x="421118" y="2415202"/>
            <a:ext cx="4389421" cy="2902233"/>
            <a:chOff x="278296" y="3404946"/>
            <a:chExt cx="3529331" cy="217566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2D7DF5A-790E-9B3D-EE27-2930A50293E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7103" y="4183615"/>
              <a:ext cx="3136900" cy="13970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2867182-29D2-7398-4E74-940349BC4D7D}"/>
                </a:ext>
              </a:extLst>
            </p:cNvPr>
            <p:cNvSpPr txBox="1"/>
            <p:nvPr/>
          </p:nvSpPr>
          <p:spPr>
            <a:xfrm>
              <a:off x="278296" y="3404946"/>
              <a:ext cx="3529331" cy="4845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For our fish example, we might be most interested in </a:t>
              </a:r>
              <a:r>
                <a:rPr lang="en-US" b="1" dirty="0"/>
                <a:t>predicting the future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41A3DEB-BAA5-5FC6-0A15-1764CB4490E7}"/>
                </a:ext>
              </a:extLst>
            </p:cNvPr>
            <p:cNvSpPr/>
            <p:nvPr/>
          </p:nvSpPr>
          <p:spPr>
            <a:xfrm>
              <a:off x="934279" y="4183615"/>
              <a:ext cx="1803951" cy="99467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50196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E85304D-3571-63F5-F754-614DFB2BE799}"/>
                </a:ext>
              </a:extLst>
            </p:cNvPr>
            <p:cNvSpPr txBox="1"/>
            <p:nvPr/>
          </p:nvSpPr>
          <p:spPr>
            <a:xfrm>
              <a:off x="1361662" y="4183615"/>
              <a:ext cx="78521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Training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8501176-9659-052A-3922-5B8EDA9F72CE}"/>
                </a:ext>
              </a:extLst>
            </p:cNvPr>
            <p:cNvSpPr/>
            <p:nvPr/>
          </p:nvSpPr>
          <p:spPr>
            <a:xfrm>
              <a:off x="2738231" y="4183615"/>
              <a:ext cx="670892" cy="994672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50196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A6BA06-827A-AF21-A41F-6DC6B97ADAB3}"/>
                </a:ext>
              </a:extLst>
            </p:cNvPr>
            <p:cNvSpPr txBox="1"/>
            <p:nvPr/>
          </p:nvSpPr>
          <p:spPr>
            <a:xfrm>
              <a:off x="2831973" y="4183614"/>
              <a:ext cx="4946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Test</a:t>
              </a: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72EC808D-F1CD-29AA-D87B-5449D38534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784" y="2941983"/>
            <a:ext cx="4305300" cy="25908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1215C69-B41C-6B05-EF29-4A43D05B8953}"/>
              </a:ext>
            </a:extLst>
          </p:cNvPr>
          <p:cNvSpPr txBox="1"/>
          <p:nvPr/>
        </p:nvSpPr>
        <p:spPr>
          <a:xfrm>
            <a:off x="6532962" y="2415201"/>
            <a:ext cx="54764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our prediction problem is spatial, we should probably </a:t>
            </a:r>
            <a:r>
              <a:rPr lang="en-US" b="1" dirty="0"/>
              <a:t>consider space </a:t>
            </a:r>
            <a:r>
              <a:rPr lang="en-US" dirty="0"/>
              <a:t>in the model evaluation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39A7C8-9230-EB48-456F-9E265AABFA3F}"/>
              </a:ext>
            </a:extLst>
          </p:cNvPr>
          <p:cNvSpPr txBox="1"/>
          <p:nvPr/>
        </p:nvSpPr>
        <p:spPr>
          <a:xfrm>
            <a:off x="6532962" y="5532781"/>
            <a:ext cx="31316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blockCV</a:t>
            </a:r>
            <a:r>
              <a:rPr lang="en-US" sz="1200" dirty="0"/>
              <a:t>: </a:t>
            </a:r>
            <a:r>
              <a:rPr lang="en-US" sz="1200" dirty="0">
                <a:hlinkClick r:id="rId4"/>
              </a:rPr>
              <a:t>https://github.com/rvalavi/blockcv</a:t>
            </a:r>
            <a:r>
              <a:rPr lang="en-US" sz="12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3A185A-91E2-512F-7E23-9DBE5B9D52AE}"/>
              </a:ext>
            </a:extLst>
          </p:cNvPr>
          <p:cNvSpPr txBox="1"/>
          <p:nvPr/>
        </p:nvSpPr>
        <p:spPr>
          <a:xfrm>
            <a:off x="574674" y="5348116"/>
            <a:ext cx="35681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More options for time series: </a:t>
            </a:r>
            <a:r>
              <a:rPr lang="en-US" sz="1200" dirty="0">
                <a:hlinkClick r:id="rId5"/>
              </a:rPr>
              <a:t>https://towardsdatascience.com/how-to-cross-validation-with-time-series-data-9802a06272c6/</a:t>
            </a:r>
            <a:r>
              <a:rPr 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93387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DFF8-0C73-49BF-B0DE-5DFCB2DC4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thoughts on what constitutes a “final model”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07327-CA88-138E-35F5-C276ABDB7C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196787" cy="44862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If you’re interested in making predictions outside the available dataset…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you probably want to make final predictions using all of the available data…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but using all of the data doesn’t leave any available for model evaluation…</a:t>
            </a:r>
          </a:p>
        </p:txBody>
      </p:sp>
    </p:spTree>
    <p:extLst>
      <p:ext uri="{BB962C8B-B14F-4D97-AF65-F5344CB8AC3E}">
        <p14:creationId xmlns:p14="http://schemas.microsoft.com/office/powerpoint/2010/main" val="250744053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7698A-4ABC-E7DA-D6FD-518E70329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BCEC0-5233-403C-5ADB-460812D2E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thoughts on what constitutes a “final model”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2FCE7-A3CF-5D55-0B01-6151E3DD8B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196787" cy="44862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If you’re interested in making predictions outside the available dataset…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probably want to make final predictions using all of the available data…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but using all of the data doesn’t leave any available for model evaluation…</a:t>
            </a:r>
          </a:p>
        </p:txBody>
      </p:sp>
    </p:spTree>
    <p:extLst>
      <p:ext uri="{BB962C8B-B14F-4D97-AF65-F5344CB8AC3E}">
        <p14:creationId xmlns:p14="http://schemas.microsoft.com/office/powerpoint/2010/main" val="6454890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638A2-D313-382F-8031-AD1D1B60B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37FCEE-C233-FD33-1906-4528D8D44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thoughts on what constitutes a “final model”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6FB4-5CFB-4C04-E7B8-F8A6FABDA5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196787" cy="44862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If you’re interested in making predictions outside the available dataset…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probably want to make final predictions using all of the available data…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but using all of the data doesn’t leave any available for model evaluation…</a:t>
            </a:r>
          </a:p>
        </p:txBody>
      </p:sp>
    </p:spTree>
    <p:extLst>
      <p:ext uri="{BB962C8B-B14F-4D97-AF65-F5344CB8AC3E}">
        <p14:creationId xmlns:p14="http://schemas.microsoft.com/office/powerpoint/2010/main" val="376464914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1F160-6051-0DCB-4FB4-51EBE9181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CD660-4585-A6D3-6CE0-DA512EDF9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thoughts on what constitutes a “final model”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239AD-BC70-9688-ED75-934E0D4DD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196787" cy="44862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If you’re interested in making predictions outside the available dataset…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probably want to make final predictions using all of the available data…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but using all of the data doesn’t leave any available for model evaluation…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82D7CA9-1DCD-57C1-1BFD-D9ED8873B27D}"/>
              </a:ext>
            </a:extLst>
          </p:cNvPr>
          <p:cNvSpPr txBox="1">
            <a:spLocks/>
          </p:cNvSpPr>
          <p:nvPr/>
        </p:nvSpPr>
        <p:spPr>
          <a:xfrm>
            <a:off x="6096000" y="1726196"/>
            <a:ext cx="4941425" cy="448627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One way that works:</a:t>
            </a:r>
          </a:p>
          <a:p>
            <a:r>
              <a:rPr lang="en-US" dirty="0"/>
              <a:t>Build a model using the training set(s)</a:t>
            </a:r>
          </a:p>
          <a:p>
            <a:r>
              <a:rPr lang="en-US" dirty="0"/>
              <a:t>Evaluate the model using the test set(s)</a:t>
            </a:r>
          </a:p>
          <a:p>
            <a:r>
              <a:rPr lang="en-US" dirty="0"/>
              <a:t>Re-build the model </a:t>
            </a:r>
          </a:p>
          <a:p>
            <a:pPr lvl="1"/>
            <a:r>
              <a:rPr lang="en-US" dirty="0"/>
              <a:t>Full dataset</a:t>
            </a:r>
          </a:p>
          <a:p>
            <a:pPr lvl="1"/>
            <a:r>
              <a:rPr lang="en-US" dirty="0"/>
              <a:t>Same parameters</a:t>
            </a:r>
          </a:p>
          <a:p>
            <a:pPr lvl="1"/>
            <a:r>
              <a:rPr lang="en-US" dirty="0"/>
              <a:t>“Final model”</a:t>
            </a:r>
          </a:p>
          <a:p>
            <a:r>
              <a:rPr lang="en-US" dirty="0"/>
              <a:t>Make predictions using the final model</a:t>
            </a:r>
          </a:p>
        </p:txBody>
      </p:sp>
    </p:spTree>
    <p:extLst>
      <p:ext uri="{BB962C8B-B14F-4D97-AF65-F5344CB8AC3E}">
        <p14:creationId xmlns:p14="http://schemas.microsoft.com/office/powerpoint/2010/main" val="10117138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E9052F8-1246-4BE2-07DE-2DBF35F61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" y="0"/>
            <a:ext cx="12190854" cy="6858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44170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D51B6-F824-2DF4-0E39-A904E8ED9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29588-D1DF-122B-4F68-AEAA3CA1C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FC6CD10-3DD9-517A-338F-6F7F9E28F98E}"/>
              </a:ext>
            </a:extLst>
          </p:cNvPr>
          <p:cNvGrpSpPr/>
          <p:nvPr/>
        </p:nvGrpSpPr>
        <p:grpSpPr>
          <a:xfrm>
            <a:off x="6564223" y="2369713"/>
            <a:ext cx="4179418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095633A-ABC7-F729-F6DA-E89BC10C846C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9C3E9C8-B89D-4C74-5206-B6A835D91119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543A37D-7224-5DA4-49B1-D01AA77F540B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9041EF3-7F7C-AC60-40AD-576DF5279509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6C4C346D-A0DC-0B6C-EF5B-6932B2E54136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8216F9B-A959-C1AB-C95E-F6AC5C909421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AB2E903-12B1-0AC5-B95F-5BFF2F3726ED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8F9170D-3D1D-5515-76A0-9E3ED013DF36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C1B609B-E24E-943B-82E6-D7EFC04D6DA5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1CF5D1D4-80A5-77D3-20CF-899FDC45A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27484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None/>
            </a:pPr>
            <a:r>
              <a:rPr lang="en-US" dirty="0"/>
              <a:t>   Select the optimal split</a:t>
            </a:r>
          </a:p>
          <a:p>
            <a:pPr marL="0" indent="0">
              <a:buNone/>
            </a:pPr>
            <a:r>
              <a:rPr lang="en-US" dirty="0"/>
              <a:t>   Create new nodes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Stopping conditions: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Maximum tree depth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Minimum number of samples per node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No improvement in performance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Node is all one class / value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15535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7F50D-33CF-D59D-D3F0-1252A736E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40696-A699-5D81-5F7A-3ACE26834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AE0B02B-D8A8-3118-B088-9C0D87DA76F6}"/>
              </a:ext>
            </a:extLst>
          </p:cNvPr>
          <p:cNvGrpSpPr/>
          <p:nvPr/>
        </p:nvGrpSpPr>
        <p:grpSpPr>
          <a:xfrm>
            <a:off x="6564223" y="2369713"/>
            <a:ext cx="4179418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179F5FB-34BA-4F35-AF02-B8EF9E3EB458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B1059F1-22AC-122D-648A-F6A7A4450DB0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BCFD99D-0A51-0890-5CA3-63215896C96C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DABE6E76-0280-4999-B235-6F796BB09639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3112CB4-B0CC-7DC6-F76A-B4AF4BC836CB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8D75A48-53A9-966E-EBA4-B7877B566385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F01BBC7-EE73-CE20-F9B5-E6429A021D62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9299437-2466-64C5-65BB-59B8436713AB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C0DD1BC-5814-5942-0704-920AC59B1E84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CD3A6942-1B6D-9236-A0D9-218296CFE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27484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None/>
            </a:pPr>
            <a:r>
              <a:rPr lang="en-US" dirty="0"/>
              <a:t>   Select the optimal split</a:t>
            </a:r>
          </a:p>
          <a:p>
            <a:pPr marL="0" indent="0">
              <a:buNone/>
            </a:pPr>
            <a:r>
              <a:rPr lang="en-US" dirty="0"/>
              <a:t>   Create new nodes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Stopping conditions:</a:t>
            </a:r>
          </a:p>
          <a:p>
            <a:pPr marL="0" indent="0">
              <a:buNone/>
            </a:pPr>
            <a:r>
              <a:rPr lang="en-US" dirty="0"/>
              <a:t>   Maximum tree depth</a:t>
            </a:r>
          </a:p>
          <a:p>
            <a:pPr marL="0" indent="0">
              <a:buNone/>
            </a:pPr>
            <a:r>
              <a:rPr lang="en-US" dirty="0"/>
              <a:t>   Minimum number of samples per node</a:t>
            </a:r>
          </a:p>
          <a:p>
            <a:pPr marL="0" indent="0">
              <a:buNone/>
            </a:pPr>
            <a:r>
              <a:rPr lang="en-US" dirty="0"/>
              <a:t>   No improvement in performance</a:t>
            </a:r>
          </a:p>
          <a:p>
            <a:pPr marL="0" indent="0">
              <a:buNone/>
            </a:pPr>
            <a:r>
              <a:rPr lang="en-US" dirty="0"/>
              <a:t>   Node is all one class / value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607093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7B431-1B11-42AE-FE0D-022037EEB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43BF0-B502-3BA9-3C6D-93C872935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A12920A-176B-BA96-F4CD-E196FCA8B30A}"/>
              </a:ext>
            </a:extLst>
          </p:cNvPr>
          <p:cNvGrpSpPr/>
          <p:nvPr/>
        </p:nvGrpSpPr>
        <p:grpSpPr>
          <a:xfrm>
            <a:off x="6564223" y="2369713"/>
            <a:ext cx="4179418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4E0F771-71F6-3955-9472-15E0BE3ADF03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C358CAB-C8D8-7FC4-C6EF-BE3EB026D3FA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1233729-E0CB-8349-BDE8-2D53A48AFF1D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75FEAD8-B180-2410-D61C-74541263A6BE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2DD74D86-5911-216D-43A6-C68DA5F01940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12B1550-5C53-A34A-A35F-3E94461333E5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46E4D7C-E91E-7545-188C-FD0731F6B7BB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BFC7E7E-07B7-2056-BD1A-23BB843CE6A7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1AB2E65-1444-C23F-D49F-BA07D1A985DE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95846E5C-ED90-F17F-C274-F07FCFFE31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81770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Example:</a:t>
            </a:r>
          </a:p>
          <a:p>
            <a:pPr marL="0" indent="0">
              <a:buNone/>
            </a:pPr>
            <a:r>
              <a:rPr lang="en-US" dirty="0"/>
              <a:t>Penguin species ~ flipper length + body mass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414707B-3E1D-DFA2-9B56-8AEBDADFF55F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277140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AFD7D-712C-32D0-A2C5-01B4B5A96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AC418-F0E0-A13E-0968-2E80ABF97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1D27FCD-59B0-2A73-E8FF-4FDB1CEC2A57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A7B323F-6F0D-9CFA-9B17-98BCC73711A0}"/>
              </a:ext>
            </a:extLst>
          </p:cNvPr>
          <p:cNvSpPr txBox="1"/>
          <p:nvPr/>
        </p:nvSpPr>
        <p:spPr>
          <a:xfrm>
            <a:off x="10581704" y="37782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Adelie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D54936-524E-5DDA-344C-F9F7FA9148C7}"/>
              </a:ext>
            </a:extLst>
          </p:cNvPr>
          <p:cNvSpPr txBox="1"/>
          <p:nvPr/>
        </p:nvSpPr>
        <p:spPr>
          <a:xfrm>
            <a:off x="8451807" y="4373029"/>
            <a:ext cx="9240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EF2781-75FA-1991-AC4E-BBF2474D7921}"/>
              </a:ext>
            </a:extLst>
          </p:cNvPr>
          <p:cNvSpPr txBox="1"/>
          <p:nvPr/>
        </p:nvSpPr>
        <p:spPr>
          <a:xfrm>
            <a:off x="5136103" y="4511529"/>
            <a:ext cx="1162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Chinstrap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0D4F16FF-B142-10BA-745A-64BDEEC4BE9F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21057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B4176-047A-5A6E-F15A-FF5E6F21B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8F248-C8E0-E8A5-DDE8-A34BFA323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7C3C351-973C-A118-C1E7-CD6C2C407D49}"/>
              </a:ext>
            </a:extLst>
          </p:cNvPr>
          <p:cNvGrpSpPr/>
          <p:nvPr/>
        </p:nvGrpSpPr>
        <p:grpSpPr>
          <a:xfrm>
            <a:off x="6698077" y="2369713"/>
            <a:ext cx="4916090" cy="2017582"/>
            <a:chOff x="1291291" y="2125014"/>
            <a:chExt cx="3141703" cy="201758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6E64488-0924-B2D8-BFB0-7F98DE078C82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FB5CF8E-9C31-12B9-7A20-CF452F719AB6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AA45916-3366-7DD0-C582-6D19B2F9D827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97D05B4-9F8B-FAAB-B1FA-D319A3B032EF}"/>
                </a:ext>
              </a:extLst>
            </p:cNvPr>
            <p:cNvCxnSpPr>
              <a:cxnSpLocks/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E6A55C2-0434-D69A-FDB1-1CF9BF86998D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C887011-2602-52CE-923E-36451B86C2BE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12E532-EDC0-A93E-8D2A-692180FFE9A4}"/>
              </a:ext>
            </a:extLst>
          </p:cNvPr>
          <p:cNvSpPr txBox="1"/>
          <p:nvPr/>
        </p:nvSpPr>
        <p:spPr>
          <a:xfrm>
            <a:off x="8139712" y="3174079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Flipper length &gt; 80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D96F2A-433E-A608-7ECA-6231E376327C}"/>
              </a:ext>
            </a:extLst>
          </p:cNvPr>
          <p:cNvSpPr txBox="1"/>
          <p:nvPr/>
        </p:nvSpPr>
        <p:spPr>
          <a:xfrm>
            <a:off x="8451807" y="4373029"/>
            <a:ext cx="9240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4DE6D8-99D2-19A9-7F94-53641388D9E4}"/>
              </a:ext>
            </a:extLst>
          </p:cNvPr>
          <p:cNvSpPr txBox="1"/>
          <p:nvPr/>
        </p:nvSpPr>
        <p:spPr>
          <a:xfrm>
            <a:off x="5136103" y="4511529"/>
            <a:ext cx="1162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Chinstrap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C299F0BC-69B1-3100-FC3E-8E4ADF3AC472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841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1966B-9994-E6A9-A83C-335207418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48588-956C-2636-6CA1-BED502EDE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375A6C9-68B6-9D14-0892-45E9D1D30ABB}"/>
              </a:ext>
            </a:extLst>
          </p:cNvPr>
          <p:cNvGrpSpPr/>
          <p:nvPr/>
        </p:nvGrpSpPr>
        <p:grpSpPr>
          <a:xfrm>
            <a:off x="6698077" y="2369713"/>
            <a:ext cx="4916090" cy="2017582"/>
            <a:chOff x="1291291" y="2125014"/>
            <a:chExt cx="3141703" cy="201758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A02D455-EC3E-5F1D-61F4-FCEA606EA360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DAFD5D0-F1B0-3DCE-EDE2-7EE40A1AECC7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73D7BE3-82AE-F0DE-977C-D555F2967022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ECA7AD-F919-1819-DD29-F2C11AF56714}"/>
                </a:ext>
              </a:extLst>
            </p:cNvPr>
            <p:cNvCxnSpPr>
              <a:cxnSpLocks/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D5597DA-A282-3828-81EA-A822AB2CAE4C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BF58DB1-298C-3B35-417F-D7FAA0B0C11B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685BDF4-E656-AFC1-8AB4-552E37A759EF}"/>
              </a:ext>
            </a:extLst>
          </p:cNvPr>
          <p:cNvSpPr txBox="1"/>
          <p:nvPr/>
        </p:nvSpPr>
        <p:spPr>
          <a:xfrm>
            <a:off x="8139712" y="3174079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Flipper length &gt; 80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289F7E-9B65-FEAD-8F8C-5C6D2EEE1EDB}"/>
              </a:ext>
            </a:extLst>
          </p:cNvPr>
          <p:cNvSpPr txBox="1"/>
          <p:nvPr/>
        </p:nvSpPr>
        <p:spPr>
          <a:xfrm>
            <a:off x="10581704" y="37782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Adelie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EC7D3D-E2A7-F7D4-B9CC-C47BCD078CE6}"/>
              </a:ext>
            </a:extLst>
          </p:cNvPr>
          <p:cNvSpPr txBox="1"/>
          <p:nvPr/>
        </p:nvSpPr>
        <p:spPr>
          <a:xfrm>
            <a:off x="8451807" y="4373029"/>
            <a:ext cx="9240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36E797-0EB5-1B14-A45F-BB76C5095A42}"/>
              </a:ext>
            </a:extLst>
          </p:cNvPr>
          <p:cNvSpPr txBox="1"/>
          <p:nvPr/>
        </p:nvSpPr>
        <p:spPr>
          <a:xfrm>
            <a:off x="5136103" y="4511529"/>
            <a:ext cx="1162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Chinstrap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0DC6356C-6B97-5FD4-8AB0-BB57CF7AF16C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815140-E87F-8B78-DFA4-33BDEBE5040E}"/>
              </a:ext>
            </a:extLst>
          </p:cNvPr>
          <p:cNvSpPr/>
          <p:nvPr/>
        </p:nvSpPr>
        <p:spPr>
          <a:xfrm>
            <a:off x="428263" y="4306841"/>
            <a:ext cx="4271059" cy="369331"/>
          </a:xfrm>
          <a:prstGeom prst="rect">
            <a:avLst/>
          </a:prstGeom>
          <a:solidFill>
            <a:srgbClr val="000000">
              <a:alpha val="4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59682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9030A-0054-6957-3C4E-A96C92296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2BF6F-6357-6B28-FB99-BC252155A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4E0FDD7-90B8-8017-CB03-041E2F74476E}"/>
              </a:ext>
            </a:extLst>
          </p:cNvPr>
          <p:cNvGrpSpPr/>
          <p:nvPr/>
        </p:nvGrpSpPr>
        <p:grpSpPr>
          <a:xfrm>
            <a:off x="6698077" y="2369713"/>
            <a:ext cx="4916090" cy="2017582"/>
            <a:chOff x="1291291" y="2125014"/>
            <a:chExt cx="3141703" cy="201758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8462A07-5515-B049-F219-BA09754126E6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06D07F63-A7A4-ACF2-67C0-6C1DB64791A8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6A464BC-A43E-3575-1A0F-36C66998A01D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1567168-B3AA-7A5A-CABE-E6D85954BF32}"/>
                </a:ext>
              </a:extLst>
            </p:cNvPr>
            <p:cNvCxnSpPr>
              <a:cxnSpLocks/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BD6176F-B700-A4C8-CBC8-07BB1CB1798B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09A6777-30CD-DED5-2451-A0830CBCBF67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9624B2B-5D6A-5ADD-285B-79AEC2E59045}"/>
              </a:ext>
            </a:extLst>
          </p:cNvPr>
          <p:cNvSpPr txBox="1"/>
          <p:nvPr/>
        </p:nvSpPr>
        <p:spPr>
          <a:xfrm>
            <a:off x="8139712" y="3174079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Flipper length &gt; 80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4333B4-5A22-3F57-EAD5-9CFDD8E90594}"/>
              </a:ext>
            </a:extLst>
          </p:cNvPr>
          <p:cNvSpPr txBox="1"/>
          <p:nvPr/>
        </p:nvSpPr>
        <p:spPr>
          <a:xfrm>
            <a:off x="10581704" y="37782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Adelie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9059DA-1554-B209-4D95-80EF0DD61160}"/>
              </a:ext>
            </a:extLst>
          </p:cNvPr>
          <p:cNvSpPr txBox="1"/>
          <p:nvPr/>
        </p:nvSpPr>
        <p:spPr>
          <a:xfrm>
            <a:off x="6452389" y="4010004"/>
            <a:ext cx="1739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Body mass &gt; 18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811112-4CD7-40F9-C177-624CE7BCC612}"/>
              </a:ext>
            </a:extLst>
          </p:cNvPr>
          <p:cNvSpPr txBox="1"/>
          <p:nvPr/>
        </p:nvSpPr>
        <p:spPr>
          <a:xfrm>
            <a:off x="5136103" y="4511529"/>
            <a:ext cx="1162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Chinstrap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D7C07C8C-41BC-0AF7-62C7-E1922F2CE665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74609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B90EE-1E76-28A0-542C-3233C0A3A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A62FE-89A4-8C02-6297-CD42CAA26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9A776A9-3DCD-0E03-5236-19F9AA581B43}"/>
              </a:ext>
            </a:extLst>
          </p:cNvPr>
          <p:cNvGrpSpPr/>
          <p:nvPr/>
        </p:nvGrpSpPr>
        <p:grpSpPr>
          <a:xfrm>
            <a:off x="5074276" y="2369713"/>
            <a:ext cx="6539891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E95FCDC-59DF-FDDF-3FA9-95740542284E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E6A8EB6-7983-0A84-A2B2-BE38C7874604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2F27990-1ED1-48C3-1D7B-FFC7EA3D6004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FEDC6FF-B88B-6C79-212C-E5D31332D17F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1F041FE-E0AA-0A0C-FF16-1BE0D9CCBE11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DD614FC-D06B-849D-B6EF-B4002C8EF34C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96D6B1B-0DBD-8663-CC82-41FDC5A52DCC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422479F-F0E4-1810-71A3-7A00B74C86BB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B4F6CC0-205F-1234-FE10-827C24ECA6EF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B91855C-1D9E-5502-DC5C-BEDF2A0C8C43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33FACB9-5A11-D0A9-C498-9564E60F3B0F}"/>
              </a:ext>
            </a:extLst>
          </p:cNvPr>
          <p:cNvSpPr txBox="1"/>
          <p:nvPr/>
        </p:nvSpPr>
        <p:spPr>
          <a:xfrm>
            <a:off x="8139712" y="3174079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Flipper length &gt; 80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735AFE-C6B4-D973-F097-F9314B27678D}"/>
              </a:ext>
            </a:extLst>
          </p:cNvPr>
          <p:cNvSpPr txBox="1"/>
          <p:nvPr/>
        </p:nvSpPr>
        <p:spPr>
          <a:xfrm>
            <a:off x="10581704" y="37782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Adelie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7C8D36-626F-6164-9933-545E068DE295}"/>
              </a:ext>
            </a:extLst>
          </p:cNvPr>
          <p:cNvSpPr txBox="1"/>
          <p:nvPr/>
        </p:nvSpPr>
        <p:spPr>
          <a:xfrm>
            <a:off x="6452389" y="3986854"/>
            <a:ext cx="1739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Body mass &gt; 18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54BC2618-5F67-7389-94CF-3F7479801403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61806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1CA57-BD9D-2463-2D86-72B3EA02C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EAB02-9BAC-5B7F-6F52-F72109841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25B1A5C-5A18-097D-CFBB-A3DDACCADE05}"/>
              </a:ext>
            </a:extLst>
          </p:cNvPr>
          <p:cNvGrpSpPr/>
          <p:nvPr/>
        </p:nvGrpSpPr>
        <p:grpSpPr>
          <a:xfrm>
            <a:off x="5074276" y="2369713"/>
            <a:ext cx="6539891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6720257-D382-E371-43B9-884F99E724DE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78D42EA-AA92-4DD3-5BC8-DB5D17ACC3E1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FCC8956-0B2F-C30C-9FEB-48473099E99D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658B678-C7D9-9EEE-64EA-CD2CFFF856CA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CEF44A-F3F6-A3B6-D5D5-666FFDF205C4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7BBFFA25-E75F-215E-89DA-33B1F5649F31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0B84E95-BECA-8B10-F4FA-E1612A9EDB72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5CA10E0-8AFC-6FA5-2A32-8066D1E5467F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06EF836-723E-C61B-6915-B1E6060EBAE0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2363AA1-4C19-D57A-59E5-96585262A7BF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75EC552-53F4-3A5A-37D5-3670AD7FB6C5}"/>
              </a:ext>
            </a:extLst>
          </p:cNvPr>
          <p:cNvSpPr txBox="1"/>
          <p:nvPr/>
        </p:nvSpPr>
        <p:spPr>
          <a:xfrm>
            <a:off x="8139712" y="3174079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Flipper length &gt; 80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E9179A-105D-2291-52E6-D7421F446FAD}"/>
              </a:ext>
            </a:extLst>
          </p:cNvPr>
          <p:cNvSpPr txBox="1"/>
          <p:nvPr/>
        </p:nvSpPr>
        <p:spPr>
          <a:xfrm>
            <a:off x="10581704" y="37782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Adelie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B57BFB-B064-4DB3-40F4-6A50E259F06D}"/>
              </a:ext>
            </a:extLst>
          </p:cNvPr>
          <p:cNvSpPr txBox="1"/>
          <p:nvPr/>
        </p:nvSpPr>
        <p:spPr>
          <a:xfrm>
            <a:off x="6452389" y="3986854"/>
            <a:ext cx="1739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Body mass &gt; 18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D8C681-4D52-4578-E0DE-C98415D000DE}"/>
              </a:ext>
            </a:extLst>
          </p:cNvPr>
          <p:cNvSpPr txBox="1"/>
          <p:nvPr/>
        </p:nvSpPr>
        <p:spPr>
          <a:xfrm>
            <a:off x="8451807" y="4373029"/>
            <a:ext cx="9240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F627AE-D04F-BC4C-46CF-EFEA79E4BBDA}"/>
              </a:ext>
            </a:extLst>
          </p:cNvPr>
          <p:cNvSpPr txBox="1"/>
          <p:nvPr/>
        </p:nvSpPr>
        <p:spPr>
          <a:xfrm>
            <a:off x="5136103" y="4511529"/>
            <a:ext cx="1162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Chinstrap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88B188E2-DC8A-A2A5-456E-571FC29F2124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E99C7C-00CB-4E53-AA02-A3384CFA4BBA}"/>
              </a:ext>
            </a:extLst>
          </p:cNvPr>
          <p:cNvSpPr txBox="1"/>
          <p:nvPr/>
        </p:nvSpPr>
        <p:spPr>
          <a:xfrm>
            <a:off x="7068083" y="5687955"/>
            <a:ext cx="42889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All nodes are “pure” so we stop</a:t>
            </a:r>
          </a:p>
        </p:txBody>
      </p:sp>
    </p:spTree>
    <p:extLst>
      <p:ext uri="{BB962C8B-B14F-4D97-AF65-F5344CB8AC3E}">
        <p14:creationId xmlns:p14="http://schemas.microsoft.com/office/powerpoint/2010/main" val="167032395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EB099-EDFE-49C0-F92A-5A06671FA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to a hands-on coding example…</a:t>
            </a:r>
          </a:p>
        </p:txBody>
      </p:sp>
    </p:spTree>
    <p:extLst>
      <p:ext uri="{BB962C8B-B14F-4D97-AF65-F5344CB8AC3E}">
        <p14:creationId xmlns:p14="http://schemas.microsoft.com/office/powerpoint/2010/main" val="363321130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E18F0-EFDC-C465-E1D4-6B880F14D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228E9-ACB5-951C-B29E-AB028ED63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to a hands-on coding example…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4F21A-E233-E2E6-902B-FEF9EDA2D6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to: </a:t>
            </a:r>
            <a:r>
              <a:rPr lang="en-US" dirty="0">
                <a:hlinkClick r:id="rId2"/>
              </a:rPr>
              <a:t>https://github.com/grantvagle/ml_methods_workshop</a:t>
            </a:r>
            <a:endParaRPr lang="en-US" dirty="0"/>
          </a:p>
          <a:p>
            <a:r>
              <a:rPr lang="en-US" dirty="0"/>
              <a:t>Click the green “Code” button</a:t>
            </a:r>
          </a:p>
          <a:p>
            <a:r>
              <a:rPr lang="en-US" dirty="0"/>
              <a:t>Download the .zip file</a:t>
            </a:r>
          </a:p>
          <a:p>
            <a:r>
              <a:rPr lang="en-US" dirty="0"/>
              <a:t>Unzip the folder</a:t>
            </a:r>
          </a:p>
          <a:p>
            <a:r>
              <a:rPr lang="en-US" dirty="0"/>
              <a:t>Click to open the .</a:t>
            </a:r>
            <a:r>
              <a:rPr lang="en-US" dirty="0" err="1"/>
              <a:t>Rproj</a:t>
            </a:r>
            <a:r>
              <a:rPr lang="en-US" dirty="0"/>
              <a:t> file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954FCD-2700-8A8B-9BE0-19AF74476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4704" y="2448616"/>
            <a:ext cx="4521200" cy="275590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0DDF171-1205-EA3A-8246-D17072CFF2E5}"/>
              </a:ext>
            </a:extLst>
          </p:cNvPr>
          <p:cNvCxnSpPr>
            <a:cxnSpLocks/>
          </p:cNvCxnSpPr>
          <p:nvPr/>
        </p:nvCxnSpPr>
        <p:spPr>
          <a:xfrm flipH="1">
            <a:off x="11543471" y="2574234"/>
            <a:ext cx="384866" cy="31805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34134EB-8721-2702-F893-4B5518BF5490}"/>
              </a:ext>
            </a:extLst>
          </p:cNvPr>
          <p:cNvCxnSpPr>
            <a:cxnSpLocks/>
          </p:cNvCxnSpPr>
          <p:nvPr/>
        </p:nvCxnSpPr>
        <p:spPr>
          <a:xfrm flipH="1">
            <a:off x="9906827" y="4525617"/>
            <a:ext cx="384866" cy="31805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E488267D-308A-00B2-E348-B7236750CC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1268" y="4525617"/>
            <a:ext cx="3577344" cy="2232992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D8C815E-4EB6-A1BD-C77B-CA63E9CD173B}"/>
              </a:ext>
            </a:extLst>
          </p:cNvPr>
          <p:cNvCxnSpPr>
            <a:cxnSpLocks/>
          </p:cNvCxnSpPr>
          <p:nvPr/>
        </p:nvCxnSpPr>
        <p:spPr>
          <a:xfrm flipH="1">
            <a:off x="4006297" y="5954263"/>
            <a:ext cx="384866" cy="31805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9EEF235-01DF-3007-6D0B-C5F68198724E}"/>
              </a:ext>
            </a:extLst>
          </p:cNvPr>
          <p:cNvSpPr txBox="1"/>
          <p:nvPr/>
        </p:nvSpPr>
        <p:spPr>
          <a:xfrm>
            <a:off x="6096000" y="5454612"/>
            <a:ext cx="60960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Once you’re set up, work through the </a:t>
            </a:r>
            <a:r>
              <a:rPr lang="en-US" sz="2800" b="1" dirty="0">
                <a:solidFill>
                  <a:schemeClr val="accent2"/>
                </a:solidFill>
              </a:rPr>
              <a:t>01_cart_examples.qmd </a:t>
            </a:r>
            <a:r>
              <a:rPr lang="en-US" sz="2800" dirty="0"/>
              <a:t>file in the </a:t>
            </a:r>
            <a:r>
              <a:rPr lang="en-US" sz="2800" b="1" dirty="0">
                <a:solidFill>
                  <a:schemeClr val="accent2"/>
                </a:solidFill>
              </a:rPr>
              <a:t>code</a:t>
            </a:r>
            <a:r>
              <a:rPr lang="en-US" sz="2800" dirty="0"/>
              <a:t> folder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64562742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437544B-D8D3-8FA0-6A22-3995549898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" y="0"/>
            <a:ext cx="12190854" cy="6858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5298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3EEAE-7C1E-7E84-E710-BCAF923BE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AB462A-BCE3-2BF8-051B-76EC252423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8154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512</TotalTime>
  <Words>2933</Words>
  <Application>Microsoft Macintosh PowerPoint</Application>
  <PresentationFormat>Widescreen</PresentationFormat>
  <Paragraphs>631</Paragraphs>
  <Slides>56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2" baseType="lpstr">
      <vt:lpstr>Aptos</vt:lpstr>
      <vt:lpstr>Aptos Display</vt:lpstr>
      <vt:lpstr>Arial</vt:lpstr>
      <vt:lpstr>Cambria Math</vt:lpstr>
      <vt:lpstr>Wingdings</vt:lpstr>
      <vt:lpstr>Office Theme</vt:lpstr>
      <vt:lpstr>Model evaluation and cross validation</vt:lpstr>
      <vt:lpstr>Overview of this section</vt:lpstr>
      <vt:lpstr>How do we measure how well a model mimics the outputs of nature?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PowerPoint Presentation</vt:lpstr>
      <vt:lpstr>Model performance metrics - regression</vt:lpstr>
      <vt:lpstr>Model performance metrics - regression</vt:lpstr>
      <vt:lpstr>Model performance metrics - regression</vt:lpstr>
      <vt:lpstr>Model performance metrics - regression</vt:lpstr>
      <vt:lpstr>Model performance metrics - regression</vt:lpstr>
      <vt:lpstr>Model performance metrics - regression</vt:lpstr>
      <vt:lpstr>Model performance metrics - regression</vt:lpstr>
      <vt:lpstr>Model performance metrics - regression</vt:lpstr>
      <vt:lpstr>Model performance metrics – key takeaways</vt:lpstr>
      <vt:lpstr>Model performance metrics – key takeaways</vt:lpstr>
      <vt:lpstr>Model performance metrics – key takeaways</vt:lpstr>
      <vt:lpstr>PowerPoint Presentation</vt:lpstr>
      <vt:lpstr>An example…</vt:lpstr>
      <vt:lpstr>An example…</vt:lpstr>
      <vt:lpstr>An example…</vt:lpstr>
      <vt:lpstr>An example…</vt:lpstr>
      <vt:lpstr>3 sets of data</vt:lpstr>
      <vt:lpstr>3 sets of data</vt:lpstr>
      <vt:lpstr>You should always evaluate your model with an independent test set</vt:lpstr>
      <vt:lpstr>K-fold cross-validation</vt:lpstr>
      <vt:lpstr>Model evaluation should reflect the structure of your prediction problem</vt:lpstr>
      <vt:lpstr>Model evaluation should reflect the structure of your prediction problem</vt:lpstr>
      <vt:lpstr>Model evaluation should reflect the structure of your prediction problem</vt:lpstr>
      <vt:lpstr>Some thoughts on what constitutes a “final model”</vt:lpstr>
      <vt:lpstr>Some thoughts on what constitutes a “final model”</vt:lpstr>
      <vt:lpstr>Some thoughts on what constitutes a “final model”</vt:lpstr>
      <vt:lpstr>Some thoughts on what constitutes a “final model”</vt:lpstr>
      <vt:lpstr>PowerPoint Presentation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Now to a hands-on coding example…</vt:lpstr>
      <vt:lpstr>Now to a hands-on coding example…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Grant L Vagle</dc:creator>
  <cp:lastModifiedBy>Grant L Vagle</cp:lastModifiedBy>
  <cp:revision>47</cp:revision>
  <dcterms:created xsi:type="dcterms:W3CDTF">2026-03-30T15:57:43Z</dcterms:created>
  <dcterms:modified xsi:type="dcterms:W3CDTF">2026-04-15T21:34:29Z</dcterms:modified>
</cp:coreProperties>
</file>