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modernComment_10A_9574819A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72" r:id="rId4"/>
    <p:sldId id="274" r:id="rId5"/>
    <p:sldId id="273" r:id="rId6"/>
    <p:sldId id="275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70" r:id="rId17"/>
    <p:sldId id="271" r:id="rId18"/>
    <p:sldId id="268" r:id="rId19"/>
    <p:sldId id="269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79C0E9E-0845-2857-41B9-A515027B7F34}" name="Grant L Vagle" initials="GLV" userId="S::vagle019@umn.edu::40902a55-dc63-4c17-95df-ff32dc99a57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58"/>
    <p:restoredTop sz="94673"/>
  </p:normalViewPr>
  <p:slideViewPr>
    <p:cSldViewPr snapToGrid="0">
      <p:cViewPr varScale="1">
        <p:scale>
          <a:sx n="111" d="100"/>
          <a:sy n="111" d="100"/>
        </p:scale>
        <p:origin x="40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8/10/relationships/authors" Target="author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omments/modernComment_10A_9574819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F1740FA-DFFC-FA41-93E9-4EED6689432B}" authorId="{579C0E9E-0845-2857-41B9-A515027B7F34}" created="2026-03-30T16:17:39.136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507440538" sldId="266"/>
      <ac:spMk id="4" creationId="{03BC5CEF-C326-2047-A4E7-CCB0ECA30959}"/>
      <ac:txMk cp="20" len="176">
        <ac:context len="236" hash="2921183158"/>
      </ac:txMk>
    </ac:txMkLst>
    <p188:pos x="4959927" y="878459"/>
    <p188:txBody>
      <a:bodyPr/>
      <a:lstStyle/>
      <a:p>
        <a:r>
          <a:rPr lang="en-US"/>
          <a:t>Could also flip, I've done both but not sure which I'd rather teach in the workshop...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DD8851-E0C4-5646-8CC5-734891EC49CD}" type="datetimeFigureOut">
              <a:rPr lang="en-US" smtClean="0"/>
              <a:t>4/13/26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330999-8BAC-FF4E-BF5A-F75E56417D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6693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[link to accuracy metrics](https://</a:t>
            </a:r>
            <a:r>
              <a:rPr lang="en-US" dirty="0" err="1"/>
              <a:t>developers.google.com</a:t>
            </a:r>
            <a:r>
              <a:rPr lang="en-US" dirty="0"/>
              <a:t>/machine-learning/crash-course/classification/accuracy-precision-recall)</a:t>
            </a:r>
          </a:p>
          <a:p>
            <a:r>
              <a:rPr lang="en-US" dirty="0"/>
              <a:t>- [link to ROC and AUC](https://</a:t>
            </a:r>
            <a:r>
              <a:rPr lang="en-US" dirty="0" err="1"/>
              <a:t>developers.google.com</a:t>
            </a:r>
            <a:r>
              <a:rPr lang="en-US" dirty="0"/>
              <a:t>/machine-learning/crash-course/classification/roc-and-</a:t>
            </a:r>
            <a:r>
              <a:rPr lang="en-US" dirty="0" err="1"/>
              <a:t>auc</a:t>
            </a:r>
            <a:r>
              <a:rPr lang="en-US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72945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[*] [stack exchange discussion on RMSE and R-squared](https://</a:t>
            </a:r>
            <a:r>
              <a:rPr lang="en-US" dirty="0" err="1"/>
              <a:t>datascience.stackexchange.com</a:t>
            </a:r>
            <a:r>
              <a:rPr lang="en-US" dirty="0"/>
              <a:t>/questions/100605/</a:t>
            </a:r>
            <a:r>
              <a:rPr lang="en-US" dirty="0" err="1"/>
              <a:t>rmse</a:t>
            </a:r>
            <a:r>
              <a:rPr lang="en-US" dirty="0"/>
              <a:t>-vs-r-squared)</a:t>
            </a:r>
          </a:p>
          <a:p>
            <a:pPr marL="0" indent="0">
              <a:buNone/>
            </a:pPr>
            <a:r>
              <a:rPr lang="en-US" dirty="0"/>
              <a:t>  [**] [link to article with many other evaluation metrics](https://</a:t>
            </a:r>
            <a:r>
              <a:rPr lang="en-US" dirty="0" err="1"/>
              <a:t>towardsai.net</a:t>
            </a:r>
            <a:r>
              <a:rPr lang="en-US" dirty="0"/>
              <a:t>/p/artificial-intelligence/the-essential-guide-to-ml-evaluation-metrics-for-regression)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4953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971E4-30FA-9BF2-3487-ABF771BB56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CD5B32-5FBE-FB8A-0EB6-9A9C5F685A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D4D994-60EC-2E80-D507-7B2129F49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9D916B-5E81-C866-7C19-D930DFC05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9C5FE7-0E2B-F759-E052-2BC1E6090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43738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61F05-22CC-EBCF-1DC9-2D78266FC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9344F9-C4E6-839F-7E5C-9E4D59EABF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8CC009-E5C6-81AA-3CA7-1867D9AA3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8E481A-28DC-F29B-2F75-8490D44CC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47D95-AB9E-3592-F99F-6AB71E3CA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6138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D14EF-DA90-095E-040B-CF1A9B7F5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84FBAD-6DB0-3295-9698-DB2CE97A02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0D3D9C-41B3-78F0-BB7E-733AE0570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E530FD-3A9A-A125-07F8-CE89033B4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FA7672-2E7F-5E16-29CC-C17286673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8062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50D85-2132-C4E9-0A70-D6019723B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98B1B-AE3D-1E90-69DD-D1B0F24431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C414D1-5B31-CCF5-9FA9-983A713B93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E77F95-AE45-77A3-70EC-F606F6A22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F53F66-8154-F361-B610-9517741340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196578-31DE-D85E-1F4A-D590910A2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0473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EEAA7-20B5-C37E-87D0-580ABBB9A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1AB0EF-5DBE-C0A4-960C-3C9AC25941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F0108D-CA89-08B5-501E-7406B8505F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8A2CC4-DB2C-768A-AF9D-20C639676D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E66CF5-E992-0019-4D56-CA4F54F36D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1ADCD8-814B-7C34-C654-CD8B5F3D7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C188C2-F4C5-8312-A84B-BA896082B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029C34-66E0-9EA6-2889-2145B9B84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559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6150E-C876-BA24-799E-CA6F7460E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DC7FAE-7976-CFE6-DEA4-54D26A1152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1AE4F8-5149-162A-18B5-7DE74F0F0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91956E-E6D5-AC3A-CA4B-131BED651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5095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274C3F-2D4E-9D94-6B05-6C38229149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11B908-195C-5646-0949-C3C530F75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584C62-314E-FD18-A75B-B05C2D3DB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6315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9AF8B-1495-918C-1BAA-B6F383BEC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DA500D-221D-6207-0410-26F0B2D232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46849E-5C94-3CF0-0C51-7ED4625776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66FACB-9F45-8CF7-D4B9-7DDCE33AA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BCADCB-9AE6-0CAB-73B4-3E5EEAFF9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E51C6-8EED-4A2F-BBE5-22328E48F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8051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2AB51-0A4E-93E4-D63D-1C1D465E4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ACA271A-6137-977D-7064-508070D1C4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2D5D12-CC08-91CE-58A2-AD149CD287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E66DE0-5653-6D2A-9CFB-4B8CD5ED9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4957D0-E28F-3549-8DB5-36299EA1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FD93EC-B47A-D748-00B8-A29941132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3113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15C8A-85CF-A833-B16D-DF727D7C6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C720EE-1419-279A-6E17-38B1143C4C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035A01-0BDF-5AD6-43A3-62C080DF9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2579E0-EE7D-8571-967A-F796397EF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8737A2-146C-FCB2-041F-3DC34C653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595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60E5E5E-8262-082B-ED3F-7D8A838B97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8B83DF-4053-6F85-DAF1-65119C8634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CC1EE4-147B-B287-B46A-B82DF5F5B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984E42-0408-23B1-3F41-E6415CF0A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56E419-0553-ACBD-3152-A503DAA3B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550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61F522-F913-4F60-61B7-98474024E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21A13E-C3E5-5998-F62D-E6D7922C3E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432B75-F306-257D-8564-F44F414142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E2ACAA-75FA-AD45-8679-E5834893ECEC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4E544B-B5F0-4CAF-2CF6-028F1F0E59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120664-F89C-1124-FDFE-F9DB354136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449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A_9574819A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197EA-A7D0-79B2-295E-1624E34FA9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Model evaluation and cross validation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86EE02-CD74-3E24-9C07-FC52D726FE3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Grant Vagle, Jeremiah </a:t>
            </a:r>
            <a:r>
              <a:rPr lang="en-US" dirty="0" err="1"/>
              <a:t>Shrovnal</a:t>
            </a:r>
            <a:r>
              <a:rPr lang="en-US" dirty="0"/>
              <a:t>, Lynn Waterhouse</a:t>
            </a:r>
          </a:p>
        </p:txBody>
      </p:sp>
    </p:spTree>
    <p:extLst>
      <p:ext uri="{BB962C8B-B14F-4D97-AF65-F5344CB8AC3E}">
        <p14:creationId xmlns:p14="http://schemas.microsoft.com/office/powerpoint/2010/main" val="15102346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FEE43-3E38-0E3E-D961-776F83702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this section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6F78E-25BB-904F-58EC-329917D566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Introduce Classification and Regression Trees (CART)</a:t>
            </a:r>
          </a:p>
          <a:p>
            <a:pPr lvl="1"/>
            <a:r>
              <a:rPr lang="en-US" dirty="0"/>
              <a:t>Model training algorithm</a:t>
            </a:r>
          </a:p>
          <a:p>
            <a:pPr lvl="1"/>
            <a:r>
              <a:rPr lang="en-US" dirty="0"/>
              <a:t>Performance metrics</a:t>
            </a:r>
          </a:p>
          <a:p>
            <a:r>
              <a:rPr lang="en-US" dirty="0"/>
              <a:t>Show how to evaluate prediction performance via:</a:t>
            </a:r>
          </a:p>
          <a:p>
            <a:pPr lvl="1"/>
            <a:r>
              <a:rPr lang="en-US" dirty="0"/>
              <a:t>Independent test set</a:t>
            </a:r>
          </a:p>
          <a:p>
            <a:pPr lvl="1"/>
            <a:r>
              <a:rPr lang="en-US" dirty="0"/>
              <a:t>K-fold cross-validation</a:t>
            </a:r>
          </a:p>
          <a:p>
            <a:pPr lvl="1"/>
            <a:r>
              <a:rPr lang="en-US" dirty="0"/>
              <a:t>Spatial and temporal evaluations</a:t>
            </a:r>
          </a:p>
          <a:p>
            <a:r>
              <a:rPr lang="en-US" dirty="0"/>
              <a:t>How to work with unbalanced data, small data sets, etc.</a:t>
            </a:r>
          </a:p>
          <a:p>
            <a:pPr lvl="1"/>
            <a:r>
              <a:rPr lang="en-US" dirty="0"/>
              <a:t>Which performance metric should be the focus?</a:t>
            </a:r>
          </a:p>
          <a:p>
            <a:pPr lvl="1"/>
            <a:r>
              <a:rPr lang="en-US" dirty="0"/>
              <a:t>Weighting input rows</a:t>
            </a:r>
          </a:p>
          <a:p>
            <a:pPr lvl="1"/>
            <a:r>
              <a:rPr lang="en-US" dirty="0"/>
              <a:t>Synthetic Minority Oversampling </a:t>
            </a:r>
            <a:r>
              <a:rPr lang="en-US" dirty="0" err="1"/>
              <a:t>TEchnique</a:t>
            </a:r>
            <a:r>
              <a:rPr lang="en-US" dirty="0"/>
              <a:t> (SMOTE) for augmenting small datasets</a:t>
            </a:r>
          </a:p>
          <a:p>
            <a:r>
              <a:rPr lang="en-US" dirty="0"/>
              <a:t>Hands-on coding example</a:t>
            </a:r>
          </a:p>
        </p:txBody>
      </p:sp>
    </p:spTree>
    <p:extLst>
      <p:ext uri="{BB962C8B-B14F-4D97-AF65-F5344CB8AC3E}">
        <p14:creationId xmlns:p14="http://schemas.microsoft.com/office/powerpoint/2010/main" val="10824128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D51B6-F824-2DF4-0E39-A904E8ED9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B29588-D1DF-122B-4F68-AEAA3CA1C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FC6CD10-3DD9-517A-338F-6F7F9E28F98E}"/>
              </a:ext>
            </a:extLst>
          </p:cNvPr>
          <p:cNvGrpSpPr/>
          <p:nvPr/>
        </p:nvGrpSpPr>
        <p:grpSpPr>
          <a:xfrm>
            <a:off x="6564223" y="2369713"/>
            <a:ext cx="4179418" cy="2736153"/>
            <a:chOff x="253576" y="2125014"/>
            <a:chExt cx="4179418" cy="2736153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095633A-ABC7-F729-F6DA-E89BC10C846C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9C3E9C8-B89D-4C74-5206-B6A835D91119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543A37D-7224-5DA4-49B1-D01AA77F540B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9041EF3-7F7C-AC60-40AD-576DF5279509}"/>
                </a:ext>
              </a:extLst>
            </p:cNvPr>
            <p:cNvSpPr/>
            <p:nvPr/>
          </p:nvSpPr>
          <p:spPr>
            <a:xfrm>
              <a:off x="253576" y="404182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6C4C346D-A0DC-0B6C-EF5B-6932B2E54136}"/>
                </a:ext>
              </a:extLst>
            </p:cNvPr>
            <p:cNvSpPr/>
            <p:nvPr/>
          </p:nvSpPr>
          <p:spPr>
            <a:xfrm>
              <a:off x="2296413" y="4041830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8216F9B-A959-C1AB-C95E-F6AC5C909421}"/>
                </a:ext>
              </a:extLst>
            </p:cNvPr>
            <p:cNvCxnSpPr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DAB2E903-12B1-0AC5-B95F-5BFF2F3726ED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8F9170D-3D1D-5515-76A0-9E3ED013DF36}"/>
                </a:ext>
              </a:extLst>
            </p:cNvPr>
            <p:cNvCxnSpPr>
              <a:cxnSpLocks/>
              <a:stCxn id="7" idx="3"/>
              <a:endCxn id="9" idx="7"/>
            </p:cNvCxnSpPr>
            <p:nvPr/>
          </p:nvCxnSpPr>
          <p:spPr>
            <a:xfrm flipH="1">
              <a:off x="955037" y="3734302"/>
              <a:ext cx="456606" cy="4275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C1B609B-E24E-943B-82E6-D7EFC04D6DA5}"/>
                </a:ext>
              </a:extLst>
            </p:cNvPr>
            <p:cNvCxnSpPr>
              <a:cxnSpLocks/>
              <a:stCxn id="7" idx="5"/>
              <a:endCxn id="10" idx="1"/>
            </p:cNvCxnSpPr>
            <p:nvPr/>
          </p:nvCxnSpPr>
          <p:spPr>
            <a:xfrm>
              <a:off x="1992752" y="3734302"/>
              <a:ext cx="424013" cy="4275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1CF5D1D4-80A5-77D3-20CF-899FDC45A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27484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None/>
            </a:pPr>
            <a:r>
              <a:rPr lang="en-US" dirty="0"/>
              <a:t>   Select the optimal split</a:t>
            </a:r>
          </a:p>
          <a:p>
            <a:pPr marL="0" indent="0">
              <a:buNone/>
            </a:pPr>
            <a:r>
              <a:rPr lang="en-US" dirty="0"/>
              <a:t>   Create new nodes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Stopping conditions: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   Maximum tree depth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   Minimum number of samples per node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   No improvement in performance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   Node is all one class / value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91990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87F50D-33CF-D59D-D3F0-1252A736E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40696-A699-5D81-5F7A-3ACE26834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AE0B02B-D8A8-3118-B088-9C0D87DA76F6}"/>
              </a:ext>
            </a:extLst>
          </p:cNvPr>
          <p:cNvGrpSpPr/>
          <p:nvPr/>
        </p:nvGrpSpPr>
        <p:grpSpPr>
          <a:xfrm>
            <a:off x="6564223" y="2369713"/>
            <a:ext cx="4179418" cy="2736153"/>
            <a:chOff x="253576" y="2125014"/>
            <a:chExt cx="4179418" cy="2736153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179F5FB-34BA-4F35-AF02-B8EF9E3EB458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B1059F1-22AC-122D-648A-F6A7A4450DB0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BCFD99D-0A51-0890-5CA3-63215896C96C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DABE6E76-0280-4999-B235-6F796BB09639}"/>
                </a:ext>
              </a:extLst>
            </p:cNvPr>
            <p:cNvSpPr/>
            <p:nvPr/>
          </p:nvSpPr>
          <p:spPr>
            <a:xfrm>
              <a:off x="253576" y="404182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3112CB4-B0CC-7DC6-F76A-B4AF4BC836CB}"/>
                </a:ext>
              </a:extLst>
            </p:cNvPr>
            <p:cNvSpPr/>
            <p:nvPr/>
          </p:nvSpPr>
          <p:spPr>
            <a:xfrm>
              <a:off x="2296413" y="4041830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8D75A48-53A9-966E-EBA4-B7877B566385}"/>
                </a:ext>
              </a:extLst>
            </p:cNvPr>
            <p:cNvCxnSpPr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F01BBC7-EE73-CE20-F9B5-E6429A021D62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9299437-2466-64C5-65BB-59B8436713AB}"/>
                </a:ext>
              </a:extLst>
            </p:cNvPr>
            <p:cNvCxnSpPr>
              <a:cxnSpLocks/>
              <a:stCxn id="7" idx="3"/>
              <a:endCxn id="9" idx="7"/>
            </p:cNvCxnSpPr>
            <p:nvPr/>
          </p:nvCxnSpPr>
          <p:spPr>
            <a:xfrm flipH="1">
              <a:off x="955037" y="3734302"/>
              <a:ext cx="456606" cy="4275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C0DD1BC-5814-5942-0704-920AC59B1E84}"/>
                </a:ext>
              </a:extLst>
            </p:cNvPr>
            <p:cNvCxnSpPr>
              <a:cxnSpLocks/>
              <a:stCxn id="7" idx="5"/>
              <a:endCxn id="10" idx="1"/>
            </p:cNvCxnSpPr>
            <p:nvPr/>
          </p:nvCxnSpPr>
          <p:spPr>
            <a:xfrm>
              <a:off x="1992752" y="3734302"/>
              <a:ext cx="424013" cy="4275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CD3A6942-1B6D-9236-A0D9-218296CFED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27484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None/>
            </a:pPr>
            <a:r>
              <a:rPr lang="en-US" dirty="0"/>
              <a:t>   Select the optimal split</a:t>
            </a:r>
          </a:p>
          <a:p>
            <a:pPr marL="0" indent="0">
              <a:buNone/>
            </a:pPr>
            <a:r>
              <a:rPr lang="en-US" dirty="0"/>
              <a:t>   Create new nodes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Stopping conditions:</a:t>
            </a:r>
          </a:p>
          <a:p>
            <a:pPr marL="0" indent="0">
              <a:buNone/>
            </a:pPr>
            <a:r>
              <a:rPr lang="en-US" dirty="0"/>
              <a:t>   Maximum tree depth</a:t>
            </a:r>
          </a:p>
          <a:p>
            <a:pPr marL="0" indent="0">
              <a:buNone/>
            </a:pPr>
            <a:r>
              <a:rPr lang="en-US" dirty="0"/>
              <a:t>   Minimum number of samples per node</a:t>
            </a:r>
          </a:p>
          <a:p>
            <a:pPr marL="0" indent="0">
              <a:buNone/>
            </a:pPr>
            <a:r>
              <a:rPr lang="en-US" dirty="0"/>
              <a:t>   No improvement in performance</a:t>
            </a:r>
          </a:p>
          <a:p>
            <a:pPr marL="0" indent="0">
              <a:buNone/>
            </a:pPr>
            <a:r>
              <a:rPr lang="en-US" dirty="0"/>
              <a:t>   Node is all one class / value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41145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7B431-1B11-42AE-FE0D-022037EEB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43BF0-B502-3BA9-3C6D-93C872935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A12920A-176B-BA96-F4CD-E196FCA8B30A}"/>
              </a:ext>
            </a:extLst>
          </p:cNvPr>
          <p:cNvGrpSpPr/>
          <p:nvPr/>
        </p:nvGrpSpPr>
        <p:grpSpPr>
          <a:xfrm>
            <a:off x="6564223" y="2369713"/>
            <a:ext cx="4179418" cy="2736153"/>
            <a:chOff x="253576" y="2125014"/>
            <a:chExt cx="4179418" cy="2736153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4E0F771-71F6-3955-9472-15E0BE3ADF03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C358CAB-C8D8-7FC4-C6EF-BE3EB026D3FA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1233729-E0CB-8349-BDE8-2D53A48AFF1D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075FEAD8-B180-2410-D61C-74541263A6BE}"/>
                </a:ext>
              </a:extLst>
            </p:cNvPr>
            <p:cNvSpPr/>
            <p:nvPr/>
          </p:nvSpPr>
          <p:spPr>
            <a:xfrm>
              <a:off x="253576" y="404182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2DD74D86-5911-216D-43A6-C68DA5F01940}"/>
                </a:ext>
              </a:extLst>
            </p:cNvPr>
            <p:cNvSpPr/>
            <p:nvPr/>
          </p:nvSpPr>
          <p:spPr>
            <a:xfrm>
              <a:off x="2296413" y="4041830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12B1550-5C53-A34A-A35F-3E94461333E5}"/>
                </a:ext>
              </a:extLst>
            </p:cNvPr>
            <p:cNvCxnSpPr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46E4D7C-E91E-7545-188C-FD0731F6B7BB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BFC7E7E-07B7-2056-BD1A-23BB843CE6A7}"/>
                </a:ext>
              </a:extLst>
            </p:cNvPr>
            <p:cNvCxnSpPr>
              <a:cxnSpLocks/>
              <a:stCxn id="7" idx="3"/>
              <a:endCxn id="9" idx="7"/>
            </p:cNvCxnSpPr>
            <p:nvPr/>
          </p:nvCxnSpPr>
          <p:spPr>
            <a:xfrm flipH="1">
              <a:off x="955037" y="3734302"/>
              <a:ext cx="456606" cy="4275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1AB2E65-1444-C23F-D49F-BA07D1A985DE}"/>
                </a:ext>
              </a:extLst>
            </p:cNvPr>
            <p:cNvCxnSpPr>
              <a:cxnSpLocks/>
              <a:stCxn id="7" idx="5"/>
              <a:endCxn id="10" idx="1"/>
            </p:cNvCxnSpPr>
            <p:nvPr/>
          </p:nvCxnSpPr>
          <p:spPr>
            <a:xfrm>
              <a:off x="1992752" y="3734302"/>
              <a:ext cx="424013" cy="4275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95846E5C-ED90-F17F-C274-F07FCFFE31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181770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Example:</a:t>
            </a:r>
          </a:p>
          <a:p>
            <a:pPr marL="0" indent="0">
              <a:buNone/>
            </a:pPr>
            <a:r>
              <a:rPr lang="en-US" dirty="0"/>
              <a:t>Penguin species ~ flipper length + body mass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414707B-3E1D-DFA2-9B56-8AEBDADFF5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1446837"/>
              </p:ext>
            </p:extLst>
          </p:nvPr>
        </p:nvGraphicFramePr>
        <p:xfrm>
          <a:off x="577833" y="3391084"/>
          <a:ext cx="3762348" cy="300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116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907235">
                <a:tc>
                  <a:txBody>
                    <a:bodyPr/>
                    <a:lstStyle/>
                    <a:p>
                      <a:r>
                        <a:rPr lang="en-US" dirty="0"/>
                        <a:t>Penguin 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Flipper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Body mass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207608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5AFD7D-712C-32D0-A2C5-01B4B5A96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AC418-F0E0-A13E-0968-2E80ABF97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49BDF57-2004-326A-1A02-EC49A5DD22AA}"/>
              </a:ext>
            </a:extLst>
          </p:cNvPr>
          <p:cNvGrpSpPr/>
          <p:nvPr/>
        </p:nvGrpSpPr>
        <p:grpSpPr>
          <a:xfrm>
            <a:off x="5074276" y="2369713"/>
            <a:ext cx="6539891" cy="2736153"/>
            <a:chOff x="253576" y="2125014"/>
            <a:chExt cx="4179418" cy="2736153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C3CF5AA-F8A1-3690-0CBD-60E43E8E2455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372B615-7BB3-9669-F308-E42AB1AE1DBE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F0EAD58-C6BB-4FD8-1CF8-8A0168C5041B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8DBBEA4-03FB-2DC1-DBF6-C627D2EB5AD5}"/>
                </a:ext>
              </a:extLst>
            </p:cNvPr>
            <p:cNvSpPr/>
            <p:nvPr/>
          </p:nvSpPr>
          <p:spPr>
            <a:xfrm>
              <a:off x="253576" y="404182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3A9E68EE-7FFC-EC19-FD01-5571CD3CD4AA}"/>
                </a:ext>
              </a:extLst>
            </p:cNvPr>
            <p:cNvSpPr/>
            <p:nvPr/>
          </p:nvSpPr>
          <p:spPr>
            <a:xfrm>
              <a:off x="2296413" y="4041830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BB8BDDA-5D86-059A-418C-D88A684EB4B1}"/>
                </a:ext>
              </a:extLst>
            </p:cNvPr>
            <p:cNvCxnSpPr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5531276-962C-2766-53B7-CEB8C3BA0185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DED6975-142E-9844-E646-AA7309EEBFE6}"/>
                </a:ext>
              </a:extLst>
            </p:cNvPr>
            <p:cNvCxnSpPr>
              <a:cxnSpLocks/>
              <a:stCxn id="7" idx="3"/>
              <a:endCxn id="9" idx="7"/>
            </p:cNvCxnSpPr>
            <p:nvPr/>
          </p:nvCxnSpPr>
          <p:spPr>
            <a:xfrm flipH="1">
              <a:off x="955037" y="3734302"/>
              <a:ext cx="456606" cy="4275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9BA25F2-4ECD-0272-B7EF-70104CEA3135}"/>
                </a:ext>
              </a:extLst>
            </p:cNvPr>
            <p:cNvCxnSpPr>
              <a:cxnSpLocks/>
              <a:stCxn id="7" idx="5"/>
              <a:endCxn id="10" idx="1"/>
            </p:cNvCxnSpPr>
            <p:nvPr/>
          </p:nvCxnSpPr>
          <p:spPr>
            <a:xfrm>
              <a:off x="1992752" y="3734302"/>
              <a:ext cx="424013" cy="4275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589AADF8-1423-F874-1CB3-9E9EAF9F9A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181770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Penguin species ~ flipper length + body mass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1D27FCD-59B0-2A73-E8FF-4FDB1CEC2A57}"/>
              </a:ext>
            </a:extLst>
          </p:cNvPr>
          <p:cNvGraphicFramePr>
            <a:graphicFrameLocks noGrp="1"/>
          </p:cNvGraphicFramePr>
          <p:nvPr/>
        </p:nvGraphicFramePr>
        <p:xfrm>
          <a:off x="577833" y="3391084"/>
          <a:ext cx="3762348" cy="300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116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907235">
                <a:tc>
                  <a:txBody>
                    <a:bodyPr/>
                    <a:lstStyle/>
                    <a:p>
                      <a:r>
                        <a:rPr lang="en-US" dirty="0"/>
                        <a:t>Penguin 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Flipper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Body mass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B7E6931-BBAB-BADF-7E2C-06B13D046B9E}"/>
              </a:ext>
            </a:extLst>
          </p:cNvPr>
          <p:cNvSpPr txBox="1"/>
          <p:nvPr/>
        </p:nvSpPr>
        <p:spPr>
          <a:xfrm>
            <a:off x="8139712" y="3174079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Flipper length &gt; 80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7B323F-6F0D-9CFA-9B17-98BCC73711A0}"/>
              </a:ext>
            </a:extLst>
          </p:cNvPr>
          <p:cNvSpPr txBox="1"/>
          <p:nvPr/>
        </p:nvSpPr>
        <p:spPr>
          <a:xfrm>
            <a:off x="10581704" y="3778299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Adelie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731C642-AAEB-5B1F-8E80-FC758683E2B2}"/>
              </a:ext>
            </a:extLst>
          </p:cNvPr>
          <p:cNvSpPr txBox="1"/>
          <p:nvPr/>
        </p:nvSpPr>
        <p:spPr>
          <a:xfrm>
            <a:off x="6452389" y="3986854"/>
            <a:ext cx="1739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Body mass &gt; 18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D54936-524E-5DDA-344C-F9F7FA9148C7}"/>
              </a:ext>
            </a:extLst>
          </p:cNvPr>
          <p:cNvSpPr txBox="1"/>
          <p:nvPr/>
        </p:nvSpPr>
        <p:spPr>
          <a:xfrm>
            <a:off x="8451807" y="4373029"/>
            <a:ext cx="9240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EEF2781-75FA-1991-AC4E-BBF2474D7921}"/>
              </a:ext>
            </a:extLst>
          </p:cNvPr>
          <p:cNvSpPr txBox="1"/>
          <p:nvPr/>
        </p:nvSpPr>
        <p:spPr>
          <a:xfrm>
            <a:off x="5136103" y="4511529"/>
            <a:ext cx="1162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Chinstrap</a:t>
            </a:r>
          </a:p>
        </p:txBody>
      </p:sp>
    </p:spTree>
    <p:extLst>
      <p:ext uri="{BB962C8B-B14F-4D97-AF65-F5344CB8AC3E}">
        <p14:creationId xmlns:p14="http://schemas.microsoft.com/office/powerpoint/2010/main" val="3727554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5B0B8-D711-CAEB-FE86-2D7A61020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531D8D-36CE-D3D9-865F-879E6E664B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4710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6F9C5C-39AB-B9C9-E471-2303A9FC3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5DD50A-DB67-C2B7-4EDC-A5B5745F4E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INSERT figure that shows observed vs predicted with some variability, to kick off the slide of how we measure the accuracy of the predictions</a:t>
            </a:r>
          </a:p>
          <a:p>
            <a:r>
              <a:rPr lang="en-US" dirty="0"/>
              <a:t>RMSE is very common, many others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$$ RMSE = \sqrt{ \frac{\sum (observed - predicted)^2 }{n} } $$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It's related to $R^2$: $$ R^2 = 1 - \frac{RMSE^2}{Var(y)}$$</a:t>
            </a:r>
          </a:p>
          <a:p>
            <a:pPr marL="0" indent="0">
              <a:buNone/>
            </a:pPr>
            <a:r>
              <a:rPr lang="en-US" dirty="0"/>
              <a:t>Typically, $R^2$ is calculated on **training data**, and $RMSE$ is calculated on a **test set**.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52189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E95B8-4A71-743D-70FA-DCBDB3356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30D6EF-15BD-BE47-CDCA-566FDE878B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78950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95654-A376-21A2-5DCD-FACCFCC5B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evaluation and cross-validation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2056A0-B353-C081-017D-281B629E7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First, an example…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INSERT</a:t>
            </a:r>
            <a:r>
              <a:rPr lang="en-US" dirty="0"/>
              <a:t> example of model (probably classification) that performs well on the training data, but poorly on new data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Is this a good model? Or a bad model? It depends how we evaluate it...</a:t>
            </a:r>
          </a:p>
        </p:txBody>
      </p:sp>
    </p:spTree>
    <p:extLst>
      <p:ext uri="{BB962C8B-B14F-4D97-AF65-F5344CB8AC3E}">
        <p14:creationId xmlns:p14="http://schemas.microsoft.com/office/powerpoint/2010/main" val="1776750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D8BD5-1866-8949-4A75-E045188B0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 should </a:t>
            </a:r>
            <a:r>
              <a:rPr lang="en-US" i="1" dirty="0"/>
              <a:t>always </a:t>
            </a:r>
            <a:r>
              <a:rPr lang="en-US" dirty="0"/>
              <a:t>evaluate your model with an </a:t>
            </a:r>
            <a:r>
              <a:rPr lang="en-US" b="1" dirty="0"/>
              <a:t>independent test set</a:t>
            </a:r>
            <a:endParaRPr lang="en-US" b="1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6D81AE-EEF4-2FD6-10E6-7E3EC20FFF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simplest option is to:</a:t>
            </a:r>
          </a:p>
          <a:p>
            <a:r>
              <a:rPr lang="en-US" dirty="0"/>
              <a:t>Hold out 20% of your dataset as the </a:t>
            </a:r>
            <a:r>
              <a:rPr lang="en-US" b="1" dirty="0"/>
              <a:t>test set</a:t>
            </a:r>
          </a:p>
          <a:p>
            <a:r>
              <a:rPr lang="en-US" dirty="0"/>
              <a:t>Train your model on the 80% </a:t>
            </a:r>
            <a:r>
              <a:rPr lang="en-US" b="1" dirty="0"/>
              <a:t>training set</a:t>
            </a:r>
          </a:p>
          <a:p>
            <a:r>
              <a:rPr lang="en-US" dirty="0"/>
              <a:t>Calculate performance metrics on the test set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866A68-2498-F3B1-38FB-4AE0B2236D18}"/>
              </a:ext>
            </a:extLst>
          </p:cNvPr>
          <p:cNvSpPr txBox="1"/>
          <p:nvPr/>
        </p:nvSpPr>
        <p:spPr>
          <a:xfrm>
            <a:off x="5572772" y="6169709"/>
            <a:ext cx="71169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Sometimes, sample size makes this impractical or requires alternatives for a specific application...we'll talk about those later.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BA9765-44B7-8C47-2DB8-F54935B27004}"/>
              </a:ext>
            </a:extLst>
          </p:cNvPr>
          <p:cNvSpPr txBox="1"/>
          <p:nvPr/>
        </p:nvSpPr>
        <p:spPr>
          <a:xfrm>
            <a:off x="1319514" y="4676172"/>
            <a:ext cx="25916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INSERT GRAPHIC</a:t>
            </a:r>
          </a:p>
        </p:txBody>
      </p:sp>
    </p:spTree>
    <p:extLst>
      <p:ext uri="{BB962C8B-B14F-4D97-AF65-F5344CB8AC3E}">
        <p14:creationId xmlns:p14="http://schemas.microsoft.com/office/powerpoint/2010/main" val="633858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64831-9647-66C8-2A0D-733435F4D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K-fold cross-validation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B4B68D-001C-0E24-5F1A-4F72F1B64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Another common way to evaluate a model is via k-fold cross validation.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INSERT GRAPHIC FOR EXPLANATION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If `k = 10`, you train a model using a randomized 90% of the data, then evaluate it on the remaining 10%. Repeat this for 10 "folds" of the data, then take the average&lt;sup&gt;*&lt;/sup&gt; performance across the ten folds.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This way, every row in the dataset is evaluated in one test set.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Leave-one-out cross-validation is when `k = # of rows`, is very useful but sometimes too computationally heavy, since you have to train k models.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E41563-C349-12D7-E220-408A66F6861A}"/>
              </a:ext>
            </a:extLst>
          </p:cNvPr>
          <p:cNvSpPr txBox="1"/>
          <p:nvPr/>
        </p:nvSpPr>
        <p:spPr>
          <a:xfrm>
            <a:off x="4930815" y="6211669"/>
            <a:ext cx="73499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Summarizing a performance across folds is typically done using the arithmetic mean but could be summarized in a number of relevant ways.</a:t>
            </a:r>
          </a:p>
        </p:txBody>
      </p:sp>
    </p:spTree>
    <p:extLst>
      <p:ext uri="{BB962C8B-B14F-4D97-AF65-F5344CB8AC3E}">
        <p14:creationId xmlns:p14="http://schemas.microsoft.com/office/powerpoint/2010/main" val="16992369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238B0-72F7-2ACA-F2BE-3DF32754A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and temporal (or other structural)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6D2084-CDC5-7E97-1C0E-C8C0D8AA90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It’s a good idea to structure your model evaluation depending on the prediction problem you’re most interested in…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83B914-E3EC-B526-54BC-26AF18964B5F}"/>
              </a:ext>
            </a:extLst>
          </p:cNvPr>
          <p:cNvSpPr txBox="1"/>
          <p:nvPr/>
        </p:nvSpPr>
        <p:spPr>
          <a:xfrm>
            <a:off x="347241" y="4525701"/>
            <a:ext cx="2931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INSERT AIS project example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DA4894-2B83-C193-CFC0-BF78212F513C}"/>
              </a:ext>
            </a:extLst>
          </p:cNvPr>
          <p:cNvSpPr txBox="1"/>
          <p:nvPr/>
        </p:nvSpPr>
        <p:spPr>
          <a:xfrm>
            <a:off x="4919240" y="4001294"/>
            <a:ext cx="6691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INSERT another example with leave one lake out approach (Alex’s)</a:t>
            </a:r>
          </a:p>
        </p:txBody>
      </p:sp>
    </p:spTree>
    <p:extLst>
      <p:ext uri="{BB962C8B-B14F-4D97-AF65-F5344CB8AC3E}">
        <p14:creationId xmlns:p14="http://schemas.microsoft.com/office/powerpoint/2010/main" val="6325773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DFF8-0C73-49BF-B0DE-5DFCB2DC4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thoughts on what constitutes a “final model”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07327-CA88-138E-35F5-C276ABDB7C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196787" cy="44862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If you’re interested in making predictions outside the available dataset…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probably want to make final predictions using all of the available data…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but using all of the data doesn’t leave any available for model evaluation…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3BC5CEF-C326-2047-A4E7-CCB0ECA30959}"/>
              </a:ext>
            </a:extLst>
          </p:cNvPr>
          <p:cNvSpPr txBox="1">
            <a:spLocks/>
          </p:cNvSpPr>
          <p:nvPr/>
        </p:nvSpPr>
        <p:spPr>
          <a:xfrm>
            <a:off x="6096000" y="1726196"/>
            <a:ext cx="4941425" cy="448627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One way that works:</a:t>
            </a:r>
          </a:p>
          <a:p>
            <a:r>
              <a:rPr lang="en-US" dirty="0"/>
              <a:t>Build a model using the training set(s)</a:t>
            </a:r>
          </a:p>
          <a:p>
            <a:r>
              <a:rPr lang="en-US" dirty="0"/>
              <a:t>Evaluate the model using the test set(s)</a:t>
            </a:r>
          </a:p>
          <a:p>
            <a:r>
              <a:rPr lang="en-US" dirty="0"/>
              <a:t>Re-build the model (using the same parameters) with the full dataset, call it the “final model”</a:t>
            </a:r>
          </a:p>
          <a:p>
            <a:r>
              <a:rPr lang="en-US" dirty="0"/>
              <a:t>Make predictions using the final model</a:t>
            </a:r>
          </a:p>
        </p:txBody>
      </p:sp>
    </p:spTree>
    <p:extLst>
      <p:ext uri="{BB962C8B-B14F-4D97-AF65-F5344CB8AC3E}">
        <p14:creationId xmlns:p14="http://schemas.microsoft.com/office/powerpoint/2010/main" val="250744053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9EA71-7B3C-12EA-AFED-BF652B54B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EDAA9D-D15D-2A71-CF6C-74A97DB581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4417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01954-72B5-A072-BA66-4298F8106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0BDF31-7C2C-7AB3-28CC-C1C18B4277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5769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0EB099-EDFE-49C0-F92A-5A06671FA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 to a hands-on coding example…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3E5F25-6642-7C5A-28C2-4F63673F26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INSERT details on where to find, how long, etc.</a:t>
            </a:r>
          </a:p>
          <a:p>
            <a:r>
              <a:rPr lang="en-US"/>
              <a:t>SCREENSHOTS OF HOW TO DOWNLOAD AND OPEN 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32113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11CD7-89B4-B643-CF66-E9D8F9BC6B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EE21D5-146D-7C17-18B4-08D54AEF91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5298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3EEAE-7C1E-7E84-E710-BCAF923BE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AB462A-BCE3-2BF8-051B-76EC252423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8154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914</Words>
  <Application>Microsoft Macintosh PowerPoint</Application>
  <PresentationFormat>Widescreen</PresentationFormat>
  <Paragraphs>135</Paragraphs>
  <Slides>19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Aptos Display</vt:lpstr>
      <vt:lpstr>Arial</vt:lpstr>
      <vt:lpstr>Office Theme</vt:lpstr>
      <vt:lpstr>Model evaluation and cross validation</vt:lpstr>
      <vt:lpstr>Overview of this section</vt:lpstr>
      <vt:lpstr>Classification and Regression Trees (CART)</vt:lpstr>
      <vt:lpstr>Classification and Regression Trees (CART)</vt:lpstr>
      <vt:lpstr>Classification and Regression Trees (CART)</vt:lpstr>
      <vt:lpstr>Classification and Regression Trees (CART)</vt:lpstr>
      <vt:lpstr>Model performance metrics - classification</vt:lpstr>
      <vt:lpstr>Model performance metrics - regression</vt:lpstr>
      <vt:lpstr>PowerPoint Presentation</vt:lpstr>
      <vt:lpstr>Model evaluation and cross-validation</vt:lpstr>
      <vt:lpstr>You should always evaluate your model with an independent test set</vt:lpstr>
      <vt:lpstr>K-fold cross-validation</vt:lpstr>
      <vt:lpstr>Spatial and temporal (or other structural) considerations</vt:lpstr>
      <vt:lpstr>Some thoughts on what constitutes a “final model”</vt:lpstr>
      <vt:lpstr>PowerPoint Presentation</vt:lpstr>
      <vt:lpstr>PowerPoint Presentation</vt:lpstr>
      <vt:lpstr>Now to a hands-on coding example…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Grant L Vagle</dc:creator>
  <cp:lastModifiedBy>Grant L Vagle</cp:lastModifiedBy>
  <cp:revision>9</cp:revision>
  <dcterms:created xsi:type="dcterms:W3CDTF">2026-03-30T15:57:43Z</dcterms:created>
  <dcterms:modified xsi:type="dcterms:W3CDTF">2026-04-13T15:42:23Z</dcterms:modified>
</cp:coreProperties>
</file>