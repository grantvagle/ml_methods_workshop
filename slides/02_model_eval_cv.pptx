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94" r:id="rId3"/>
    <p:sldId id="295" r:id="rId4"/>
    <p:sldId id="259" r:id="rId5"/>
    <p:sldId id="285" r:id="rId6"/>
    <p:sldId id="284" r:id="rId7"/>
    <p:sldId id="286" r:id="rId8"/>
    <p:sldId id="288" r:id="rId9"/>
    <p:sldId id="289" r:id="rId10"/>
    <p:sldId id="287" r:id="rId11"/>
    <p:sldId id="292" r:id="rId12"/>
    <p:sldId id="293" r:id="rId13"/>
    <p:sldId id="291" r:id="rId14"/>
    <p:sldId id="290" r:id="rId15"/>
    <p:sldId id="260" r:id="rId16"/>
    <p:sldId id="296" r:id="rId17"/>
    <p:sldId id="311" r:id="rId18"/>
    <p:sldId id="310" r:id="rId19"/>
    <p:sldId id="309" r:id="rId20"/>
    <p:sldId id="313" r:id="rId21"/>
    <p:sldId id="299" r:id="rId22"/>
    <p:sldId id="317" r:id="rId23"/>
    <p:sldId id="316" r:id="rId24"/>
    <p:sldId id="261" r:id="rId25"/>
    <p:sldId id="318" r:id="rId26"/>
    <p:sldId id="319" r:id="rId27"/>
    <p:sldId id="308" r:id="rId28"/>
    <p:sldId id="262" r:id="rId29"/>
    <p:sldId id="300" r:id="rId30"/>
    <p:sldId id="301" r:id="rId31"/>
    <p:sldId id="263" r:id="rId32"/>
    <p:sldId id="264" r:id="rId33"/>
    <p:sldId id="265" r:id="rId34"/>
    <p:sldId id="303" r:id="rId35"/>
    <p:sldId id="302" r:id="rId36"/>
    <p:sldId id="266" r:id="rId37"/>
    <p:sldId id="305" r:id="rId38"/>
    <p:sldId id="304" r:id="rId39"/>
    <p:sldId id="307" r:id="rId40"/>
    <p:sldId id="267" r:id="rId41"/>
    <p:sldId id="272" r:id="rId42"/>
    <p:sldId id="274" r:id="rId43"/>
    <p:sldId id="273" r:id="rId44"/>
    <p:sldId id="275" r:id="rId45"/>
    <p:sldId id="278" r:id="rId46"/>
    <p:sldId id="282" r:id="rId47"/>
    <p:sldId id="281" r:id="rId48"/>
    <p:sldId id="280" r:id="rId49"/>
    <p:sldId id="279" r:id="rId50"/>
    <p:sldId id="271" r:id="rId51"/>
    <p:sldId id="320" r:id="rId52"/>
    <p:sldId id="268" r:id="rId53"/>
    <p:sldId id="269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8"/>
    <p:restoredTop sz="70907"/>
  </p:normalViewPr>
  <p:slideViewPr>
    <p:cSldViewPr snapToGrid="0">
      <p:cViewPr varScale="1">
        <p:scale>
          <a:sx n="128" d="100"/>
          <a:sy n="128" d="100"/>
        </p:scale>
        <p:origin x="1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298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64B5-52F3-A6A2-D55F-1673CF0F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38545-4204-5C87-AED8-D668BC71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17668-6C0B-35E3-5C39-CD6535A0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25608-A3C5-1E40-0DC4-46BC126E6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82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CBE-6008-F2CA-1A21-4B5A0D7B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F967A-8E98-40E0-384B-6E1EC3178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AFD6B-A74D-3F89-E3B0-371D8A127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C2A9-243D-53A4-1424-8B7A37648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65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AFBE-7321-7F0C-D970-49C6015A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D68BE-90A3-A978-F55B-FD77C1770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68AE9-6D9A-B430-6679-E577141A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A3E0-DF31-24E1-A638-7D018B841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2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CFD-7014-E4F3-9AC6-CE27E0C0C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5999-DE0B-A6A4-9301-7ECF9258A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FAC54-23B4-F130-BEA5-BEBAF2195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EDA0F-CA8E-058B-78D1-5CB29FDD4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6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A17D2-12EC-71C3-DB72-4A6DE5AE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F3FFF-64C2-C20C-3E3F-7684C0B2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A1C1D-4A81-D39E-B74E-EC61F186C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8C2D4-609C-838E-6FE6-6372988CC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8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FC4C-726F-EEE8-CF79-06285AD9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98DE-C398-856B-6C28-2A9FB6D1D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BEA1E-C30B-6018-E659-4065EE567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2EE9-8E7D-CDED-517D-DC9557930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83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AB84-9BAC-D968-CC56-A03DCEFF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9509-318B-1204-BECC-81A53BD9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E8146-9A6E-102D-1885-A9F66553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B668-2869-58E2-AA8F-16A08092B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5A052-0619-9DBD-3B4F-D46FF55FD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2E14-07BB-FC1C-8373-168662C4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0B6AA-0C05-911F-1B65-E95345129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D2885-FE5F-7186-FB35-292A145E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23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5E90-DB69-87CB-DB30-6A06B11E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1E6F0-ECDF-B717-0399-85EDE437D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8BAE2-C729-B8BC-9246-9E86508BB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292E-7B7C-5CA7-436B-FF1D61794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8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55AF-D679-0108-9F4A-54B7D2C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7E2DF-09F1-5D16-035E-272BAD974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F66F-15CA-656D-DA79-68C64E608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6AD6F-CEF1-EA5E-773E-650B83C38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01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953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F3BA-D737-436E-5A0F-5D8996F6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9A1A0-406F-BC70-497F-D32614CBB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1235B-5F49-53B8-60D0-F628807D7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FB80-CAAE-8D2E-4B7A-6EE254FBA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406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E6A2-9CAF-7493-24CD-EB1EF737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1DF6-8540-2FCC-5CCC-BD422552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48C37-6490-4BA2-26C6-3A161BCB6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9AECC-3C76-22BE-9FF0-12520D725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9407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0BF04-CDFB-A6FB-84C5-A964A22B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DAF18-23B7-89F9-3D8A-1670BFC66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8301A-3FF3-995E-EF42-E54FBA777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F920F-F079-B83A-2969-24C723D0A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549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33E8-975A-0692-164F-3FBF11F4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82CE1-5488-584F-86C9-C07A2B2C3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2D8CB-AE8C-24AB-6A62-DC27A9B1F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80C7E-BAB1-1055-1463-204C5CA96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8250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04C3-4E54-9FA9-A1CB-DB20D305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9378-A134-E117-A4DC-5282377DA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D1ECB-7D81-3BEC-9BD9-7392A66EE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AF900-A0ED-43B2-B8C1-9543CE40A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3822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4151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96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6E2A-0D95-ECA0-49E1-CAF1EA77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421CB-4689-82FC-067D-4AC461371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14E82-41CD-D020-B085-9E4269E90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5FB2C-DBB3-8F4A-E594-113BE8657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061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6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google.com/machine-learning/crash-course/classification/roc-and-auc" TargetMode="External"/><Relationship Id="rId5" Type="http://schemas.openxmlformats.org/officeDocument/2006/relationships/hyperlink" Target="https://developers.google.com/machine-learning/crash-course/classification/accuracy-precision-recall" TargetMode="External"/><Relationship Id="rId4" Type="http://schemas.openxmlformats.org/officeDocument/2006/relationships/hyperlink" Target="https://www.geeksforgeeks.org/machine-learning/confusion-matrix-machine-learning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science.stackexchange.com/questions/100605/rmse-vs-r-squared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ai.net/p/artificial-intelligence/the-essential-guide-to-ml-evaluation-metrics-for-regress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owardsdatascience.com/how-to-cross-validation-with-time-series-data-9802a06272c6/" TargetMode="External"/><Relationship Id="rId4" Type="http://schemas.openxmlformats.org/officeDocument/2006/relationships/hyperlink" Target="https://github.com/rvalavi/blockcv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grantvagle/ml_methods_worksh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E754F-8EB2-DAE9-9AA4-5417E00F5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C697EA-0510-7329-5FA6-4C1F38812D6C}"/>
              </a:ext>
            </a:extLst>
          </p:cNvPr>
          <p:cNvSpPr/>
          <p:nvPr/>
        </p:nvSpPr>
        <p:spPr>
          <a:xfrm>
            <a:off x="1524000" y="1600200"/>
            <a:ext cx="9144000" cy="2743200"/>
          </a:xfrm>
          <a:prstGeom prst="round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86EE02-CD74-3E24-9C07-FC52D726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15102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D0CD4-09DF-AAED-BF50-4082EE4E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68A7-F4E7-6630-7B04-0757F693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CB3B-034D-4F08-7B3F-2EDF93FD2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Understanding how well a model is performing</a:t>
            </a:r>
          </a:p>
          <a:p>
            <a:pPr lvl="1"/>
            <a:r>
              <a:rPr lang="en-US" dirty="0"/>
              <a:t>Performance metrics</a:t>
            </a:r>
          </a:p>
          <a:p>
            <a:pPr lvl="1"/>
            <a:r>
              <a:rPr lang="en-US" dirty="0"/>
              <a:t>Evaluation / cross-validation</a:t>
            </a:r>
          </a:p>
          <a:p>
            <a:r>
              <a:rPr lang="en-US" dirty="0"/>
              <a:t>Introduce Classification and Regression Trees (CART)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301427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EEA-D952-3E6A-C24C-95480BA4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measure how well a model mimics the outputs of nature?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D278D-75F1-B6A1-29CF-6A4FE0FAD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2681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performance metrics – </a:t>
            </a:r>
            <a:r>
              <a:rPr lang="en-US" i="1" dirty="0"/>
              <a:t>what</a:t>
            </a:r>
            <a:r>
              <a:rPr lang="en-US" dirty="0"/>
              <a:t> we calculate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validation – </a:t>
            </a:r>
            <a:r>
              <a:rPr lang="en-US" i="1" dirty="0"/>
              <a:t>which data </a:t>
            </a:r>
            <a:r>
              <a:rPr lang="en-US" dirty="0"/>
              <a:t>we use to make the calculation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3D34AB-B851-9CEC-5D82-63DFF93936F4}"/>
              </a:ext>
            </a:extLst>
          </p:cNvPr>
          <p:cNvGrpSpPr/>
          <p:nvPr/>
        </p:nvGrpSpPr>
        <p:grpSpPr>
          <a:xfrm>
            <a:off x="7012352" y="3211826"/>
            <a:ext cx="5712083" cy="1454037"/>
            <a:chOff x="6479917" y="4857863"/>
            <a:chExt cx="5712083" cy="14540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7B9F6D5-5CA3-3441-6121-F1186D2FE86E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6AB66A-04DB-7696-9D64-110E8902F526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F340ABC-0C5E-FB39-7229-048434955168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13C91B-B876-AC94-482B-A9B5FA6C22EF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FE4E08B-3776-AC06-5701-CAE6B5B98303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6160BE0-573C-CE33-5B30-30983ECD5E9E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4AEA1E-E490-62DF-1044-94AB1A234E45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BCA2525-FF58-A163-81C2-AC3768842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F38F69-9BCE-A00F-30E2-60ACA4F0A2F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9936D3-582E-B841-522E-22AD10054721}"/>
              </a:ext>
            </a:extLst>
          </p:cNvPr>
          <p:cNvGrpSpPr/>
          <p:nvPr/>
        </p:nvGrpSpPr>
        <p:grpSpPr>
          <a:xfrm>
            <a:off x="7012352" y="2028554"/>
            <a:ext cx="5712083" cy="644073"/>
            <a:chOff x="6484817" y="601883"/>
            <a:chExt cx="5712083" cy="64407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1ABD51-A93D-AD82-01FE-3075D2EE7BAC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E690ED2-7533-58D0-4BBF-DE0225E8177F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745F99-87E3-C921-C364-09020C6F5946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D640F91-7984-7FC7-2159-84703368DAD4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E3AB02-A614-4BCB-B7B4-05289BD3D9F4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E061EE-7351-A9C9-3D1A-46E6015192A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E03D8EE-F400-4AD7-40A1-F03CBFC4C172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33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64862B-2236-D9E8-96B5-1A4306AE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24721"/>
              </p:ext>
            </p:extLst>
          </p:nvPr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1FB2-7F87-7FA0-9F3D-D25D43F1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87E08-29B3-08B4-C4CE-92FF4FFF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87D43-4042-E553-28F6-920E67A02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01CF97-1A6B-C7C0-9D0E-AD62D84E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9622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A16705-783C-5043-5B00-294B10EF001C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BDF351-D7D8-86CC-889F-D488A2053752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268003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93DBC-C5B1-3C3C-69C7-BE312C0BE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BE47-FE25-34EC-17BA-85E8F76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08B3F-9EEB-8278-D1B6-A0C29D50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69097A5-94A5-571E-2526-8A781A990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134915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0D4870-6F1C-16B6-08B7-0B1396636F99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A8158B-E14C-6DCD-DF1C-F2B53A6DC04B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64404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AF7E-01A2-38D9-4A5B-B3FCC30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E37C-FB29-FA49-04EA-4102C2F3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B84772-4B5B-7374-5218-CB28AA9D0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516443"/>
              </p:ext>
            </p:extLst>
          </p:nvPr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9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F2C8-D14D-061D-2295-6A394AAF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0C006-D034-5D18-9203-0B6B5EB6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7D9D65-F588-6ECD-9D83-0E0176902204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bg1"/>
                    </a:solidFill>
                  </a:rPr>
                  <a:t>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274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3B00-5CA0-BD0D-FD01-D78D16CD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D3A0D-5C4A-3E96-DC44-A2E082FDE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AD0B90-3EA5-85CF-054D-03185334688C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4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8814-F7F7-A22C-79D7-9759A701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97B7D-3EE6-582D-154B-138CA974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06A5B-D637-6920-19F3-2BA714DB7B5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795DA27-229A-F7D8-2A77-D5FB075FC6B8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76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B42E-8D34-A5F1-DC8F-9FF2114A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81DD-6049-4160-F4DB-0341B00B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27B90B-A970-46FD-F6FA-B67657E3429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C7927C-7854-AB40-4563-7D9B0C73BA1C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921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042C3-8DBA-BCDF-E003-5769720E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FBFDB-17E8-CD6A-39DA-4507C626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69740D-4EE8-84C8-AE96-B92CBF3A1D31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ADFF016-483E-B101-AC70-3BC2A05FF7F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55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FD44-9631-EA4E-5F22-EC6D1335A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A6B53-9293-0450-1B30-27EA11E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B1FE64-8B5F-40C1-FE08-6087ABEF73E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F3060F5-B888-CAAE-F021-56DD6688C71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051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0651-AE52-368E-6D42-2143F6AF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03D6-2E14-38B9-2027-EF7C1562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2CCBB1-BFBA-5572-AF20-B9A739ED45B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9BEAC59-C2A2-C089-D602-CE1FE94443BB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A1C15D0-8945-DE7F-5798-9D19F95160E9}"/>
              </a:ext>
            </a:extLst>
          </p:cNvPr>
          <p:cNvSpPr txBox="1"/>
          <p:nvPr/>
        </p:nvSpPr>
        <p:spPr>
          <a:xfrm>
            <a:off x="295604" y="4292786"/>
            <a:ext cx="460672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Metrics from confusion matrix: </a:t>
            </a:r>
            <a:br>
              <a:rPr lang="en-US" sz="1400" dirty="0"/>
            </a:br>
            <a:r>
              <a:rPr lang="en-US" sz="1400" dirty="0">
                <a:hlinkClick r:id="rId4"/>
              </a:rPr>
              <a:t>https://www.geeksforgeeks.org/machine-learning/confusion-matrix-machine-learning/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Metrics for classification:</a:t>
            </a:r>
          </a:p>
          <a:p>
            <a:r>
              <a:rPr lang="en-US" sz="1400" dirty="0">
                <a:hlinkClick r:id="rId5"/>
              </a:rPr>
              <a:t>https://developers.google.com/machine-learning/crash-course/classification/accuracy-precision-recall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Link to ROC and AUC details: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https://developers.google.com/machine-learning/crash-course/classification/roc-and-auc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4501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C8008CE-A425-C829-619C-BE4777D9A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8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75A2-FCEE-AC51-F73A-CB4F2B814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10E5A-7FCB-388C-51A5-09FAC998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B8E4-A375-BC0E-5501-14B6FE52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>
                <a:solidFill>
                  <a:schemeClr val="bg1"/>
                </a:solidFill>
              </a:rPr>
              <a:t>Root mean squared error (RMSE) </a:t>
            </a:r>
          </a:p>
          <a:p>
            <a:r>
              <a:rPr lang="en-US" dirty="0">
                <a:solidFill>
                  <a:schemeClr val="bg1"/>
                </a:solidFill>
              </a:rPr>
              <a:t>Mean absolute error</a:t>
            </a:r>
          </a:p>
          <a:p>
            <a:r>
              <a:rPr lang="en-US" dirty="0">
                <a:solidFill>
                  <a:schemeClr val="bg1"/>
                </a:solidFill>
              </a:rPr>
              <a:t>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3BCD8D-077E-63A0-D51D-7B7E8E8E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EC86B-55BD-EE75-6F27-A5BEFFDA9AD9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FBA01-E235-F0D3-410A-485D051A6C4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2336891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5B8BA-51F4-54F9-9505-ADB86D22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6656-CF82-34ED-210B-1DF290D57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0F177-F88F-F2F2-36E8-FB8A03EEF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52426-CE50-2A1E-570C-19E08F64D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763658-58A5-9773-DC65-8A5F0794D09D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34A0-ED74-AF2D-6CF4-FB3A9A1860E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554657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E2D19-6821-D20C-4F8F-D6A28214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6C8B2-75EE-193C-CA28-7F613EDD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A39B1-91A7-AD54-BDE6-0F6D42F0B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B14B6-B915-F4A0-53B4-DB851560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C8605-E485-84A8-61F1-DA4644F92418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C20604-9CF2-BC20-9D80-29108BF78490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78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5BF54-725F-47B4-8B43-5194E08F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DA8EF-FF4F-6607-2ED5-DBFE434A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53235-59FC-D6F9-0AFA-9B332829F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08B90-227A-38BE-8EB7-A01FF581C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658049-1301-39CA-453C-5AAEAB20AAC2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3E39C9-86BA-C285-EFD1-7FD10346530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79044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AB319-C19F-78DD-8AC9-DF7EE359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4EEC0-38FE-1CC9-8E2E-025672603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92D0-0D83-1968-8DD0-5A1FF9E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D93D3A-55E2-ACFA-7858-50554DB36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7B959C-DFB6-6362-C4DD-8276AEC37EA4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6FD65-6972-4CFA-D79C-69A595264EE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/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1 −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RMSE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blipFill>
                <a:blip r:embed="rId5"/>
                <a:stretch>
                  <a:fillRect l="-4575" r="-980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17BC4DC-C730-3904-FA1D-04DC7140DEC2}"/>
              </a:ext>
            </a:extLst>
          </p:cNvPr>
          <p:cNvSpPr txBox="1"/>
          <p:nvPr/>
        </p:nvSpPr>
        <p:spPr>
          <a:xfrm>
            <a:off x="9942600" y="5546725"/>
            <a:ext cx="2249400" cy="1487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RMSE vs R</a:t>
            </a:r>
            <a:r>
              <a:rPr lang="en-US" sz="1600" baseline="30000" dirty="0"/>
              <a:t>2</a:t>
            </a:r>
          </a:p>
          <a:p>
            <a:r>
              <a:rPr lang="en-US" sz="1600" dirty="0">
                <a:hlinkClick r:id="rId6"/>
              </a:rPr>
              <a:t>https://datascience.stackexchange.com/questions/100605/rmse-vs-r-squared</a:t>
            </a:r>
            <a:endParaRPr lang="en-US" sz="1600" dirty="0"/>
          </a:p>
          <a:p>
            <a:endParaRPr lang="en-US" sz="1600" baseline="30000" dirty="0"/>
          </a:p>
        </p:txBody>
      </p:sp>
    </p:spTree>
    <p:extLst>
      <p:ext uri="{BB962C8B-B14F-4D97-AF65-F5344CB8AC3E}">
        <p14:creationId xmlns:p14="http://schemas.microsoft.com/office/powerpoint/2010/main" val="896830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7247-EBB9-5F0B-7A7F-FB769C2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F731-18D1-3BC7-D5EA-21BE7C60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>
                <a:solidFill>
                  <a:schemeClr val="bg1"/>
                </a:solidFill>
              </a:rPr>
              <a:t>Some metrics: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Are more sensitive to extremes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consider over-estimation differently than under-estimation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2A833-3B92-4156-7018-7855AE19A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71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9E2F6-5277-D2C3-B2EE-68A5FA31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826C-02B9-4EC8-DBDE-5D4C68B23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6DD5D-1221-813F-923A-BA94E3D3A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4B868-C60B-27D6-EB8A-364AF75D9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7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15CD-6D9F-E60B-2ACF-8AA296808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C555-BF33-529B-7057-2913D8021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588AA-A053-63F2-57A9-85B73BF58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A8EA8-573D-25C4-DCE4-2C4D01708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D5CE3D-2C95-E02D-D717-BCB11F6B1C3A}"/>
              </a:ext>
            </a:extLst>
          </p:cNvPr>
          <p:cNvSpPr txBox="1"/>
          <p:nvPr/>
        </p:nvSpPr>
        <p:spPr>
          <a:xfrm>
            <a:off x="3133351" y="5002855"/>
            <a:ext cx="41510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Here’s a link with lots of metrics that can be calculated, with some practical examples:</a:t>
            </a:r>
          </a:p>
          <a:p>
            <a:r>
              <a:rPr lang="en-US" dirty="0">
                <a:hlinkClick r:id="rId3"/>
              </a:rPr>
              <a:t>https://towardsai.net/p/artificial-intelligence/the-essential-guide-to-ml-evaluation-metrics-for-regression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2406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CE2F3-95F3-577E-4B63-ADB183B6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F292-4BDD-179B-7DB5-9D6FC66BB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E82D-B15B-8622-3912-B77258F3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Because the model is completely focused on mimicking the outputs, how you measure how well it mimics them is highly important</a:t>
            </a:r>
          </a:p>
        </p:txBody>
      </p:sp>
    </p:spTree>
    <p:extLst>
      <p:ext uri="{BB962C8B-B14F-4D97-AF65-F5344CB8AC3E}">
        <p14:creationId xmlns:p14="http://schemas.microsoft.com/office/powerpoint/2010/main" val="9901664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8EB4-72BA-761A-54AF-C7F45E3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3E60-04ED-25E5-5DDE-AE4D362A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86194-EA3F-9A2E-9258-788784249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Because the model is completely focused on mimicking the outputs, how you measure how well it mimics them is highly important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261F2E-D904-99BA-0B1A-B6E539468A78}"/>
              </a:ext>
            </a:extLst>
          </p:cNvPr>
          <p:cNvGrpSpPr/>
          <p:nvPr/>
        </p:nvGrpSpPr>
        <p:grpSpPr>
          <a:xfrm>
            <a:off x="7012352" y="4545346"/>
            <a:ext cx="5712083" cy="1454037"/>
            <a:chOff x="6479917" y="4857863"/>
            <a:chExt cx="5712083" cy="14540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7B20464-35D9-15A9-E597-06405B3C0E9A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00DA6D-19FC-B871-14EE-7BF2B7F70490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0DE76CF-24A8-C395-4799-F8B01651F789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63499-19CF-9A78-59D4-2EB87BC58D98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222854A-8CD6-5D34-3413-55C950F5B62D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8F67554-188E-1A1C-10BD-F1737B250550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27AC01-6411-0A7A-0ABA-4DF20902B279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457D00-9E96-C15F-6B50-6F87E64B66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9151FF-BFB1-50D3-C885-6CA4112898BD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1925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13A741-7C89-7BF4-BCCA-EEB84255F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1501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95654-A376-21A2-5DCD-FACCFCC5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056A0-B353-C081-017D-281B629E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1990-2025, and 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4365D-3B5E-D4BE-F619-8B735DC0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63" y="4547394"/>
            <a:ext cx="3136900" cy="1397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40AE2B-F452-0F70-64FE-0BCA66216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138" y="4547394"/>
            <a:ext cx="3136900" cy="139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5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2218-85B4-E954-67D6-F0AB4B75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D46A-AE3F-57BE-85F2-19E6610EE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6BFEF3-B135-E71E-168E-EC1F29F1C821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E165E50-73E4-7DB2-0FB3-ED160EFF25E1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2D70A0-782E-2D38-1BF9-E5BD631CEC1A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F65440-80BD-FE4A-977E-A052F9A5F5C6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67478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E8CB-AEE7-A90A-F888-93C55C02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79C1994-AFBD-078E-2E48-CA1467BAF226}"/>
              </a:ext>
            </a:extLst>
          </p:cNvPr>
          <p:cNvSpPr/>
          <p:nvPr/>
        </p:nvSpPr>
        <p:spPr>
          <a:xfrm>
            <a:off x="653143" y="1690688"/>
            <a:ext cx="10813143" cy="173831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B36DB-D5D3-0A1A-D371-EA591A9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6A586-2AF9-F616-2A3D-2AD504D7C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1B9546-DF9B-6433-FD92-4F6C7806A76B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238F58-44D5-6407-B6F7-10C718DA8D44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2E9F36-C0B5-1C09-0D49-11A75E01B573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FDEBE-C7D1-4D51-4954-5EF3458F5A90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657E00E-F9F3-AA4E-2D1F-8885AE230202}"/>
              </a:ext>
            </a:extLst>
          </p:cNvPr>
          <p:cNvSpPr txBox="1"/>
          <p:nvPr/>
        </p:nvSpPr>
        <p:spPr>
          <a:xfrm>
            <a:off x="8694058" y="447775"/>
            <a:ext cx="2960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Often handled internally in the code packages that build the models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8AAE4E-4CC0-7A84-876D-2ABD1D643C5B}"/>
              </a:ext>
            </a:extLst>
          </p:cNvPr>
          <p:cNvCxnSpPr/>
          <p:nvPr/>
        </p:nvCxnSpPr>
        <p:spPr>
          <a:xfrm flipV="1">
            <a:off x="8650514" y="1393371"/>
            <a:ext cx="301172" cy="297317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7747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D469-D2DC-9B73-0E34-8695057EA1D1}"/>
              </a:ext>
            </a:extLst>
          </p:cNvPr>
          <p:cNvGrpSpPr/>
          <p:nvPr/>
        </p:nvGrpSpPr>
        <p:grpSpPr>
          <a:xfrm>
            <a:off x="1529444" y="4601717"/>
            <a:ext cx="8352971" cy="928915"/>
            <a:chOff x="1422400" y="3976914"/>
            <a:chExt cx="8352971" cy="9289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9CB867-CEF1-C28A-11FA-D3384A3910A6}"/>
                </a:ext>
              </a:extLst>
            </p:cNvPr>
            <p:cNvSpPr/>
            <p:nvPr/>
          </p:nvSpPr>
          <p:spPr>
            <a:xfrm>
              <a:off x="1422400" y="3976914"/>
              <a:ext cx="6212114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Model training and validation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D51357-FCA5-58B5-C0D9-045F58E82FDE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D711-7D13-2205-A8E9-B1B89D199D1E}"/>
              </a:ext>
            </a:extLst>
          </p:cNvPr>
          <p:cNvSpPr txBox="1"/>
          <p:nvPr/>
        </p:nvSpPr>
        <p:spPr>
          <a:xfrm>
            <a:off x="8293100" y="6322109"/>
            <a:ext cx="4343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3"/>
              </a:rPr>
              <a:t>https://towardsdatascience.com/how-to-cross-validation-with-time-series-data-9802a06272c6/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7F72F-31D1-2756-4591-BFF556514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513608"/>
            <a:ext cx="7772400" cy="33801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EF64A1-E179-5E94-D747-B30C14387ADA}"/>
              </a:ext>
            </a:extLst>
          </p:cNvPr>
          <p:cNvSpPr txBox="1"/>
          <p:nvPr/>
        </p:nvSpPr>
        <p:spPr>
          <a:xfrm>
            <a:off x="1524708" y="2282775"/>
            <a:ext cx="137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k = 5: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3C5FC-0F5A-D1AE-9D34-95A0C202C3FB}"/>
              </a:ext>
            </a:extLst>
          </p:cNvPr>
          <p:cNvSpPr txBox="1"/>
          <p:nvPr/>
        </p:nvSpPr>
        <p:spPr>
          <a:xfrm>
            <a:off x="838200" y="1654403"/>
            <a:ext cx="6374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split your training data into k subsets (“folds”)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94D4E-FFF9-21C0-8599-F38CF8BC08A1}"/>
              </a:ext>
            </a:extLst>
          </p:cNvPr>
          <p:cNvSpPr txBox="1"/>
          <p:nvPr/>
        </p:nvSpPr>
        <p:spPr>
          <a:xfrm>
            <a:off x="931667" y="5709126"/>
            <a:ext cx="630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k = number of rows, it’s a leave-one-out 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FFD6F-F879-6D6C-4CE7-B7302A94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F50AE-7BB4-4BED-BC23-1D55510A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9C4F164-BCC7-1C01-05D3-4DF8149134AA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7AC89E-5783-1B01-17E1-41BA6A51B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AE2298-CB39-1384-86D5-3084E98A0ED1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AB30E7-AC2B-8098-523C-6625600FD720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CDD254-7DDE-0B74-B93A-4E88A178A43F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FAFC70-9DBA-07BA-E31D-BF43E1375527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1EA69F-29D7-E0EF-8F86-97AD31AA7411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060993B-F6C3-14AE-27C9-42BF9992F34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3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56315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CBAC6-E1A7-583E-BB46-96C26F5E9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51AD-2010-6C16-68DE-B4DE0B85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FF0B86-8A1E-9755-640B-61EC475CEBD2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2D7DF5A-790E-9B3D-EE27-2930A5029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2867182-29D2-7398-4E74-940349BC4D7D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41A3DEB-BAA5-5FC6-0A15-1764CB4490E7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85304D-3571-63F5-F754-614DFB2BE799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501176-9659-052A-3922-5B8EDA9F72CE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A6BA06-827A-AF21-A41F-6DC6B97ADAB3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2EC808D-F1CD-29AA-D87B-5449D3853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784" y="2941983"/>
            <a:ext cx="4305300" cy="2590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215C69-B41C-6B05-EF29-4A43D05B8953}"/>
              </a:ext>
            </a:extLst>
          </p:cNvPr>
          <p:cNvSpPr txBox="1"/>
          <p:nvPr/>
        </p:nvSpPr>
        <p:spPr>
          <a:xfrm>
            <a:off x="6532962" y="2415201"/>
            <a:ext cx="547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our prediction problem is spatial, we should probably </a:t>
            </a:r>
            <a:r>
              <a:rPr lang="en-US" b="1" dirty="0"/>
              <a:t>consider space </a:t>
            </a:r>
            <a:r>
              <a:rPr lang="en-US" dirty="0"/>
              <a:t>in the model evaluation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9A7C8-9230-EB48-456F-9E265AABFA3F}"/>
              </a:ext>
            </a:extLst>
          </p:cNvPr>
          <p:cNvSpPr txBox="1"/>
          <p:nvPr/>
        </p:nvSpPr>
        <p:spPr>
          <a:xfrm>
            <a:off x="6532962" y="5532781"/>
            <a:ext cx="3131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blockCV</a:t>
            </a:r>
            <a:r>
              <a:rPr lang="en-US" sz="1200" dirty="0"/>
              <a:t>: </a:t>
            </a:r>
            <a:r>
              <a:rPr lang="en-US" sz="1200" dirty="0">
                <a:hlinkClick r:id="rId4"/>
              </a:rPr>
              <a:t>https://github.com/rvalavi/blockcv</a:t>
            </a:r>
            <a:r>
              <a:rPr lang="en-US" sz="12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3A185A-91E2-512F-7E23-9DBE5B9D52A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5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9338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7698A-4ABC-E7DA-D6FD-518E70329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BCEC0-5233-403C-5ADB-460812D2E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FCE7-A3CF-5D55-0B01-6151E3DD8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6454890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8A2-D313-382F-8031-AD1D1B60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7FCEE-C233-FD33-1906-4528D8D44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6FB4-5CFB-4C04-E7B8-F8A6FABDA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3764649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F160-6051-0DCB-4FB4-51EBE918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D660-4585-A6D3-6CE0-DA512EDF9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239AD-BC70-9688-ED75-934E0D4D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2D7CA9-1DCD-57C1-1BFD-D9ED8873B27D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</a:t>
            </a:r>
          </a:p>
          <a:p>
            <a:pPr lvl="1"/>
            <a:r>
              <a:rPr lang="en-US" dirty="0"/>
              <a:t>Full dataset</a:t>
            </a:r>
          </a:p>
          <a:p>
            <a:pPr lvl="1"/>
            <a:r>
              <a:rPr lang="en-US" dirty="0"/>
              <a:t>Same parameters</a:t>
            </a:r>
          </a:p>
          <a:p>
            <a:pPr lvl="1"/>
            <a:r>
              <a:rPr lang="en-US" dirty="0"/>
              <a:t>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1011713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9052F8-1246-4BE2-07DE-2DBF35F61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417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553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709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27714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D4F16FF-B142-10BA-745A-64BDEEC4BE9F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105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4176-047A-5A6E-F15A-FF5E6F21B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F248-C8E0-E8A5-DDE8-A34BFA323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7C3C351-973C-A118-C1E7-CD6C2C407D49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E64488-0924-B2D8-BFB0-7F98DE078C82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FB5CF8E-9C31-12B9-7A20-CF452F719AB6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A45916-3366-7DD0-C582-6D19B2F9D827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97D05B4-9F8B-FAAB-B1FA-D319A3B032EF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E6A55C2-0434-D69A-FDB1-1CF9BF86998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887011-2602-52CE-923E-36451B86C2BE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12E532-EDC0-A93E-8D2A-692180FFE9A4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96F2A-433E-A608-7ECA-6231E376327C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DE6D8-99D2-19A9-7F94-53641388D9E4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299F0BC-69B1-3100-FC3E-8E4ADF3AC472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841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1966B-9994-E6A9-A83C-335207418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588-956C-2636-6CA1-BED502ED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5A6C9-68B6-9D14-0892-45E9D1D30ABB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02D455-EC3E-5F1D-61F4-FCEA606EA360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DAFD5D0-F1B0-3DCE-EDE2-7EE40A1AECC7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3D7BE3-82AE-F0DE-977C-D555F2967022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ECA7AD-F919-1819-DD29-F2C11AF56714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5597DA-A282-3828-81EA-A822AB2CAE4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F58DB1-298C-3B35-417F-D7FAA0B0C11B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85BDF4-E656-AFC1-8AB4-552E37A759E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89F7E-9B65-FEAD-8F8C-5C6D2EEE1EDB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C7D3D-E2A7-F7D4-B9CC-C47BCD078CE6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36E797-0EB5-1B14-A45F-BB76C5095A4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DC6356C-6B97-5FD4-8AB0-BB57CF7AF16C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815140-E87F-8B78-DFA4-33BDEBE5040E}"/>
              </a:ext>
            </a:extLst>
          </p:cNvPr>
          <p:cNvSpPr/>
          <p:nvPr/>
        </p:nvSpPr>
        <p:spPr>
          <a:xfrm>
            <a:off x="428263" y="4306841"/>
            <a:ext cx="4271059" cy="369331"/>
          </a:xfrm>
          <a:prstGeom prst="rect">
            <a:avLst/>
          </a:prstGeom>
          <a:solidFill>
            <a:srgbClr val="00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968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9030A-0054-6957-3C4E-A96C9229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BF6F-6357-6B28-FB99-BC252155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E0FDD7-90B8-8017-CB03-041E2F74476E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462A07-5515-B049-F219-BA09754126E6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6D07F63-A7A4-ACF2-67C0-6C1DB64791A8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A464BC-A43E-3575-1A0F-36C66998A0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1567168-B3AA-7A5A-CABE-E6D85954BF32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BD6176F-B700-A4C8-CBC8-07BB1CB1798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9A6777-30CD-DED5-2451-A0830CBCBF6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9624B2B-5D6A-5ADD-285B-79AEC2E5904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333B4-5A22-3F57-EAD5-9CFDD8E90594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059DA-1554-B209-4D95-80EF0DD61160}"/>
              </a:ext>
            </a:extLst>
          </p:cNvPr>
          <p:cNvSpPr txBox="1"/>
          <p:nvPr/>
        </p:nvSpPr>
        <p:spPr>
          <a:xfrm>
            <a:off x="6452389" y="401000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11112-4CD7-40F9-C177-624CE7BCC61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7C07C8C-41BC-0AF7-62C7-E1922F2CE665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609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90EE-1E76-28A0-542C-3233C0A3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62FE-89A4-8C02-6297-CD42CAA2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9A776A9-3DCD-0E03-5236-19F9AA581B43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95FCDC-59DF-FDDF-3FA9-95740542284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E6A8EB6-7983-0A84-A2B2-BE38C7874604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F27990-1ED1-48C3-1D7B-FFC7EA3D6004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EDC6FF-B88B-6C79-212C-E5D31332D17F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1F041FE-E0AA-0A0C-FF16-1BE0D9CCBE11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D614FC-D06B-849D-B6EF-B4002C8EF34C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6D6B1B-0DBD-8663-CC82-41FDC5A52DC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22479F-F0E4-1810-71A3-7A00B74C86B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B4F6CC0-205F-1234-FE10-827C24ECA6EF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91855C-1D9E-5502-DC5C-BEDF2A0C8C43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3FACB9-5A11-D0A9-C498-9564E60F3B0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35AFE-C6B4-D973-F097-F9314B27678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7C8D36-626F-6164-9933-545E068DE295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4BC2618-5F67-7389-94CF-3F7479801403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180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1CA57-BD9D-2463-2D86-72B3EA02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AB02-9BAC-5B7F-6F52-F7210984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5B1A5C-5A18-097D-CFBB-A3DDACCADE05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6720257-D382-E371-43B9-884F99E724D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8D42EA-AA92-4DD3-5BC8-DB5D17ACC3E1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CC8956-0B2F-C30C-9FEB-48473099E99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58B678-C7D9-9EEE-64EA-CD2CFFF856CA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CEF44A-F3F6-A3B6-D5D5-666FFDF205C4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BBFFA25-E75F-215E-89DA-33B1F5649F3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B84E95-BECA-8B10-F4FA-E1612A9EDB7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CA10E0-8AFC-6FA5-2A32-8066D1E5467F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6EF836-723E-C61B-6915-B1E6060EBAE0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363AA1-4C19-D57A-59E5-96585262A7B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EC552-53F4-3A5A-37D5-3670AD7FB6C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9179A-105D-2291-52E6-D7421F446FA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57BFB-B064-4DB3-40F4-6A50E259F06D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8C681-4D52-4578-E0DE-C98415D000DE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627AE-D04F-BC4C-46CF-EFEA79E4BBDA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8B188E2-DC8A-A2A5-456E-571FC29F2124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99C7C-00CB-4E53-AA02-A3384CFA4BBA}"/>
              </a:ext>
            </a:extLst>
          </p:cNvPr>
          <p:cNvSpPr txBox="1"/>
          <p:nvPr/>
        </p:nvSpPr>
        <p:spPr>
          <a:xfrm>
            <a:off x="7068083" y="5687955"/>
            <a:ext cx="4288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nodes are “pure” so we stop</a:t>
            </a:r>
          </a:p>
        </p:txBody>
      </p:sp>
    </p:spTree>
    <p:extLst>
      <p:ext uri="{BB962C8B-B14F-4D97-AF65-F5344CB8AC3E}">
        <p14:creationId xmlns:p14="http://schemas.microsoft.com/office/powerpoint/2010/main" val="16703239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B099-EDFE-49C0-F92A-5A06671F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</p:spTree>
    <p:extLst>
      <p:ext uri="{BB962C8B-B14F-4D97-AF65-F5344CB8AC3E}">
        <p14:creationId xmlns:p14="http://schemas.microsoft.com/office/powerpoint/2010/main" val="36332113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E18F0-EFDC-C465-E1D4-6B880F14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28E9-ACB5-951C-B29E-AB028ED6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4F21A-E233-E2E6-902B-FEF9EDA2D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to: </a:t>
            </a:r>
            <a:r>
              <a:rPr lang="en-US" dirty="0">
                <a:hlinkClick r:id="rId2"/>
              </a:rPr>
              <a:t>https://github.com/grantvagle/ml_methods_workshop</a:t>
            </a:r>
            <a:endParaRPr lang="en-US" dirty="0"/>
          </a:p>
          <a:p>
            <a:r>
              <a:rPr lang="en-US" dirty="0"/>
              <a:t>Click the green “Code” button</a:t>
            </a:r>
          </a:p>
          <a:p>
            <a:r>
              <a:rPr lang="en-US" dirty="0"/>
              <a:t>Download the .zip file</a:t>
            </a:r>
          </a:p>
          <a:p>
            <a:r>
              <a:rPr lang="en-US" dirty="0"/>
              <a:t>Unzip the folder</a:t>
            </a:r>
          </a:p>
          <a:p>
            <a:r>
              <a:rPr lang="en-US" dirty="0"/>
              <a:t>Click to open the .</a:t>
            </a:r>
            <a:r>
              <a:rPr lang="en-US" dirty="0" err="1"/>
              <a:t>Rproj</a:t>
            </a:r>
            <a:r>
              <a:rPr lang="en-US" dirty="0"/>
              <a:t>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54FCD-2700-8A8B-9BE0-19AF7447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704" y="2448616"/>
            <a:ext cx="4521200" cy="27559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DF171-1205-EA3A-8246-D17072CFF2E5}"/>
              </a:ext>
            </a:extLst>
          </p:cNvPr>
          <p:cNvCxnSpPr>
            <a:cxnSpLocks/>
          </p:cNvCxnSpPr>
          <p:nvPr/>
        </p:nvCxnSpPr>
        <p:spPr>
          <a:xfrm flipH="1">
            <a:off x="11543471" y="2574234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4134EB-8721-2702-F893-4B5518BF5490}"/>
              </a:ext>
            </a:extLst>
          </p:cNvPr>
          <p:cNvCxnSpPr>
            <a:cxnSpLocks/>
          </p:cNvCxnSpPr>
          <p:nvPr/>
        </p:nvCxnSpPr>
        <p:spPr>
          <a:xfrm flipH="1">
            <a:off x="9906827" y="4525617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488267D-308A-00B2-E348-B7236750C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268" y="4525617"/>
            <a:ext cx="3577344" cy="223299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8C815E-4EB6-A1BD-C77B-CA63E9CD173B}"/>
              </a:ext>
            </a:extLst>
          </p:cNvPr>
          <p:cNvCxnSpPr>
            <a:cxnSpLocks/>
          </p:cNvCxnSpPr>
          <p:nvPr/>
        </p:nvCxnSpPr>
        <p:spPr>
          <a:xfrm flipH="1">
            <a:off x="4006297" y="5954263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EF235-01DF-3007-6D0B-C5F68198724E}"/>
              </a:ext>
            </a:extLst>
          </p:cNvPr>
          <p:cNvSpPr txBox="1"/>
          <p:nvPr/>
        </p:nvSpPr>
        <p:spPr>
          <a:xfrm>
            <a:off x="5860359" y="5454612"/>
            <a:ext cx="63316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Once you’re set up, work through the </a:t>
            </a:r>
            <a:r>
              <a:rPr lang="en-US" sz="2000" b="1" dirty="0"/>
              <a:t>01_cart_examples.qmd </a:t>
            </a:r>
            <a:r>
              <a:rPr lang="en-US" sz="2000" dirty="0"/>
              <a:t>file in the </a:t>
            </a:r>
            <a:r>
              <a:rPr lang="en-US" sz="2000" b="1" dirty="0"/>
              <a:t>code</a:t>
            </a:r>
            <a:r>
              <a:rPr lang="en-US" sz="2000" dirty="0"/>
              <a:t> folder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456274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437544B-D8D3-8FA0-6A22-399554989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" y="0"/>
            <a:ext cx="12190854" cy="685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5298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2792</Words>
  <Application>Microsoft Macintosh PowerPoint</Application>
  <PresentationFormat>Widescreen</PresentationFormat>
  <Paragraphs>602</Paragraphs>
  <Slides>53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Aptos</vt:lpstr>
      <vt:lpstr>Aptos Display</vt:lpstr>
      <vt:lpstr>Arial</vt:lpstr>
      <vt:lpstr>Cambria Math</vt:lpstr>
      <vt:lpstr>Wingdings</vt:lpstr>
      <vt:lpstr>Office Theme</vt:lpstr>
      <vt:lpstr>Model evaluation and cross validation</vt:lpstr>
      <vt:lpstr>Overview of this section</vt:lpstr>
      <vt:lpstr>How do we measure how well a model mimics the outputs of nature?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PowerPoint Presentation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– key takeaways</vt:lpstr>
      <vt:lpstr>Model performance metrics – key takeaways</vt:lpstr>
      <vt:lpstr>Model performance metrics – key takeaways</vt:lpstr>
      <vt:lpstr>PowerPoint Presentation</vt:lpstr>
      <vt:lpstr>An example…</vt:lpstr>
      <vt:lpstr>3 sets of data</vt:lpstr>
      <vt:lpstr>3 sets of data</vt:lpstr>
      <vt:lpstr>You should always evaluate your model with an independent test set</vt:lpstr>
      <vt:lpstr>K-fold cross-validation</vt:lpstr>
      <vt:lpstr>Model evaluation should reflect the structure of your prediction problem</vt:lpstr>
      <vt:lpstr>Model evaluation should reflect the structure of your prediction problem</vt:lpstr>
      <vt:lpstr>Model evaluation should reflect the structure of your prediction problem</vt:lpstr>
      <vt:lpstr>Some thoughts on what constitutes a “final model”</vt:lpstr>
      <vt:lpstr>Some thoughts on what constitutes a “final model”</vt:lpstr>
      <vt:lpstr>Some thoughts on what constitutes a “final model”</vt:lpstr>
      <vt:lpstr>Some thoughts on what constitutes a “final model”</vt:lpstr>
      <vt:lpstr>PowerPoint Presentation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Now to a hands-on coding example…</vt:lpstr>
      <vt:lpstr>Now to a hands-on coding example…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45</cp:revision>
  <dcterms:created xsi:type="dcterms:W3CDTF">2026-03-30T15:57:43Z</dcterms:created>
  <dcterms:modified xsi:type="dcterms:W3CDTF">2026-04-15T16:54:35Z</dcterms:modified>
</cp:coreProperties>
</file>