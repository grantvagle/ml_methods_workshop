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62" r:id="rId2"/>
    <p:sldId id="256" r:id="rId3"/>
    <p:sldId id="257" r:id="rId4"/>
    <p:sldId id="266" r:id="rId5"/>
    <p:sldId id="271" r:id="rId6"/>
    <p:sldId id="267" r:id="rId7"/>
    <p:sldId id="272" r:id="rId8"/>
    <p:sldId id="273" r:id="rId9"/>
    <p:sldId id="268" r:id="rId10"/>
    <p:sldId id="269" r:id="rId11"/>
    <p:sldId id="274" r:id="rId12"/>
    <p:sldId id="275" r:id="rId13"/>
    <p:sldId id="278" r:id="rId14"/>
    <p:sldId id="277" r:id="rId15"/>
    <p:sldId id="279" r:id="rId16"/>
    <p:sldId id="270" r:id="rId17"/>
    <p:sldId id="259" r:id="rId18"/>
    <p:sldId id="281" r:id="rId19"/>
    <p:sldId id="282" r:id="rId20"/>
    <p:sldId id="280" r:id="rId21"/>
    <p:sldId id="261" r:id="rId22"/>
    <p:sldId id="26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08"/>
    <p:restoredTop sz="94602"/>
  </p:normalViewPr>
  <p:slideViewPr>
    <p:cSldViewPr snapToGrid="0">
      <p:cViewPr varScale="1">
        <p:scale>
          <a:sx n="111" d="100"/>
          <a:sy n="111" d="100"/>
        </p:scale>
        <p:origin x="53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B5F47-542D-2F4A-A589-8990110BEF85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417A5-630B-DE42-860C-96747A2C5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3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Breaks, restroom locations, food/coffee locations, overall schedule,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35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144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B104-8D53-E65A-A380-4557BF42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8AE75-9667-9E63-ED68-55A2AFB8B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0569F5-33C7-013E-73EB-1CC7B992F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F396-7F67-A424-7B88-5D45EB3C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73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EFDA-073C-9FE8-85D0-152C0591F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1C7ABA-6396-A042-37CA-2E5276908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8AD3D-2C07-BBB9-7BD5-FB307570C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C5B2D-47B3-2186-3C91-A851B8A7B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6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0820B-2997-A955-3172-362DB909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8DFA00-E0D1-6143-1B3D-465B73AA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40391-C351-AF47-DCAE-9EB4BD63A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880CD-FDA7-C930-6DD1-446363D899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698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57D9-363C-10C9-46F0-93DABE83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CD82-347B-8F74-C0B9-FB19B4680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45EE80-34E8-60D0-6644-FA46BD02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5D4F8-122A-024C-6EBF-6ED21F31D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2324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72F8-C5CA-015A-A061-04B4364C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A2D84-9578-995E-271D-76101CDBE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5F1B4-54E0-3175-A49E-EE10D561C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14645-5A4B-85D5-0FC2-9189F2211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22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D452F-64BF-74F2-F487-BD98F98B1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C6FF9-96D7-6418-8D07-A6DAF6C4D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833FE-56CE-DD1D-7A26-191905EF5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9C558-2009-7E02-742F-C2DA6FF1C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94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34D46-8245-4F76-5529-027E0C11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70BF3-80F8-D295-DD8A-98407B111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D3070-0A3C-41B0-0401-6C516CB8A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DB4D-B31C-2CF3-C36A-16CB9195D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25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B1FF5-9FF8-4AAC-6706-DD096F1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71D35-9D54-20B1-B072-9AD2AE2FE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3FB06-DC9C-994A-BA7D-B95B23DF8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575BD-65FB-FD21-9ADA-4ADE63C7B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3E99F-4DF0-E990-9FA6-F93BB5C1C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8A67A-9F1C-4642-0721-4CB4B1F31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A3326-3BC8-9786-CD72-0BBAEFD88A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9EC6F-200C-0B7A-AAA9-88DCA0BB8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35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52C9-8F93-24CF-1BBE-0F33ED89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8A99A1-D644-E79F-313E-059C657FD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341E3-87D6-485B-42B3-0E44146F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FE3DE-FDBD-CF60-2BFB-56B9AA0EA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728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3DE68-F2F1-E8B1-58F0-21E43282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7E953-7678-DAA3-6496-5AF70A78F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A6E52-7687-CA2C-1E7F-1ABCEA373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0B730-52ED-48F7-FF8E-2E66EC842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5486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6DBE-CCD3-587A-BBCE-CDBAF366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9806D-2299-3599-9EC9-F5E6718AE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6297C-87C7-60EB-C3E0-0ECEB22BF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D830-C492-B348-07A8-1F045E18B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55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764-8BCF-19C6-6268-50AFE2827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98B2D-3223-D43B-96EA-F1D89C927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650E-F4B3-7C96-B9D4-B18604BE5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A95A5-4DC5-C626-C93B-B0995B93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208F-BEF7-213E-B340-3428AE28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7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7CA7-AF2B-07FE-699C-3629D862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459CD-E740-7297-B82A-4F3D3DE9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70457-D7EC-A3C5-2146-A33CDBE31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235F9-0EC8-8795-D3C8-D36CCE72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C21B1-BE7D-8897-1C6F-1869B747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2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DB7-B503-C8DE-1484-A9425B6F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3DBBA-02D4-CAC5-7F85-BA679C581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6611-12F6-4959-7AAE-72300117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0028-CCC4-2B51-C306-BBECF04D0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D7F9-AEBE-6ED2-4874-6DF8D4AD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0B369-188A-C461-EFC9-23A1704B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28D3B-0814-059C-E8A2-CD151ADBE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F322C6-881E-44CD-FA92-1B9E8985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C2F0C-C9B1-5DA2-5AAB-50D918DE8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CD271-43AA-F909-AAC9-A5E07AE7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FA478-8DFA-4CD2-AC11-7F996F2E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96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A336F-BF6C-E75F-8FA0-621A14C8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569A5-9018-733A-64F8-BF38AC61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ED951-1073-B73F-C86A-F199F1D1B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21FC-A65F-8A5C-973F-FFCCD0142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6C0661-1DD9-5A04-0A06-9306DE577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28EFE-9014-7713-38F0-C01CF8DC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C71474-1C67-44C3-E276-2E3513E0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4C9E-3E3A-43D7-954A-02410BEE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5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62D-22EC-C59D-31E9-6D2DA244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75268-B391-7FE3-0900-2A63A1C4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7602F-E9C1-4A0A-CA0C-CF3F7BBE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D3A37-2637-3C64-5555-462E4502A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84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00127-4597-8142-2CBB-54756F2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599DB-C743-06D1-FCB1-049D6A23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3EFD1-844A-8959-3CBE-0CFB621F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244F5-5D67-D44D-69C1-1BC30BF6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DEA9-6558-B0DE-9903-8AD7D5DC8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775D7-E029-947E-9D84-B2E78567A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96589-AAF0-430B-67A4-27BFA21DE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86E26E-D034-8AB7-7532-6F99954F1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42399-12A2-72CD-ACCB-647A0AF5D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56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DD61E-E810-0B10-83CF-CEC9A407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CDCCC-41CD-BE5F-17E9-6642D6F60C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19A59-2648-E64E-D27E-25274C3DA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9454A-D90F-E7F4-E259-D6EFED7F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2DDC5-A6CE-E671-7238-7D81DAA3C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29AAA-C928-3D81-93AC-56082E03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5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79BF-C54D-CE79-2AB8-1BD30119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621FB-690E-7231-3F9B-AE3279A7E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AE9F6-C38F-04E9-AE87-5C4B2D6C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4813D-6EB3-3CD7-453F-E76F0919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6782C-CD63-67C2-A580-8C4CFDB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7BECDE-8C58-2F3C-D6C4-A1507E4E0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4B77C-2539-7128-D74F-B2C2B4CD7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5B194-0438-737A-F54B-47453F86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899E5-FC24-EDE9-29AC-7A8C4BF0C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EA80C-6DE0-4850-064A-B9A9956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6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CEB330-5E06-A3C8-B786-C10F8A62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E3EE6-8871-8D20-0370-502C3E9E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9E6AD-B31B-CEC7-1767-7CAFB0684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C6F6F-998C-264C-A700-8215E11AE5B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FEDE-F6F0-98D3-AC4C-3AE9E0255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D46FC-98A9-7E35-BEA1-E985E7B06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6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.github.io/interpretable-ml-book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15BC-5788-8EC6-12AC-481C31DF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the 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FD6AA-9804-3A4F-934C-265DF31BA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21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43D2-AABB-3923-A21F-941815B0A9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39DD3-C76D-C5AD-AC5D-13F2B28B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72251"/>
          </a:xfrm>
        </p:spPr>
        <p:txBody>
          <a:bodyPr/>
          <a:lstStyle/>
          <a:p>
            <a:r>
              <a:rPr lang="en-US" dirty="0"/>
              <a:t>And why is it useful (for science)?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84C9FD-C48D-1312-800B-AD902ED34D44}"/>
              </a:ext>
            </a:extLst>
          </p:cNvPr>
          <p:cNvSpPr txBox="1">
            <a:spLocks/>
          </p:cNvSpPr>
          <p:nvPr/>
        </p:nvSpPr>
        <p:spPr>
          <a:xfrm>
            <a:off x="1524000" y="4310023"/>
            <a:ext cx="9144000" cy="472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973311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2576-357D-876A-70BB-664D14B5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F1254-83D3-DAA5-948B-CC9457AD665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BDEE9-B16A-2223-F62F-97D2254710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932"/>
          <a:stretch>
            <a:fillRect/>
          </a:stretch>
        </p:blipFill>
        <p:spPr>
          <a:xfrm>
            <a:off x="2209800" y="1806291"/>
            <a:ext cx="7772400" cy="368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10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625AB-F6E4-98FC-D933-D387F1C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same “model” can fit into multiple mindsets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AFB84-49E9-1766-E894-C057538D6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3945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frequentist can use a linear regression to test a hypothesis</a:t>
            </a:r>
          </a:p>
          <a:p>
            <a:endParaRPr lang="en-US" dirty="0"/>
          </a:p>
          <a:p>
            <a:r>
              <a:rPr lang="en-US" dirty="0"/>
              <a:t>A Bayesian can measure the posterior distribution of a linear coefficient</a:t>
            </a:r>
          </a:p>
          <a:p>
            <a:endParaRPr lang="en-US" dirty="0"/>
          </a:p>
          <a:p>
            <a:r>
              <a:rPr lang="en-US" dirty="0"/>
              <a:t>A machine learner can use a linear regression to predict unobserved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1CE6A-172E-F53A-D1BB-B79494116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858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D1D6-B4DC-B596-0B85-47EA6B70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8FB7E-FC18-BCC4-CB1C-20402DF1E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67182-1372-58B9-6D7E-D9F816BC1A57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920288-24FC-D288-94CB-C425BF29B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23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FA5A-7C62-A16A-9C35-2399EFDD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F0B1-EC7D-588F-DFA3-19F1BF13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6EF22-6154-D52E-D8F8-7C255A02A943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8DA2DA-B959-E83B-B7F5-D0703582F0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432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A311B-DCBC-3792-4894-4493CA58D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826CD-1CC3-8DE7-3091-644C3D50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00044-CEEF-4E2C-85D4-ED82C4B4ECF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75F26-265D-183C-5424-4EEEC70A08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4F2235B-A229-A960-68C8-0D37214D4AAE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51D776-D224-0AD1-CD99-A1B62EDD5D6F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DC2F3A-AC27-369C-8202-7157FFCBD4C5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14A143-19D4-A6E5-9F1B-50F0AC4AA168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AB10614-207A-8617-CDC4-3F45A88409C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890C78-F9A8-F391-3FC7-3ADD9B2157F6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52D3D9-7BF4-BE3C-FE41-34E1B9B41C21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124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3A1A0-1F5B-DDC1-C3DB-1637BA4F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AA8DC-6D63-5F9B-FE01-5B7004753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7EBAF-135C-4A7B-B38D-D951D6239E9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A8145-C99D-A641-B70A-A80C902AF3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D2CD4E-6340-D765-E300-6581369E00A3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8533868-CA43-360F-A9C7-1FE5E0D0420B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4FF0D15-D9E3-6117-2FB2-008E2668B091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8F8292-0F24-3668-70D4-A69D3FCFFAED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95C0FB7-8766-BE85-FA06-C791B0BB0790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972E2F4-C0F0-B712-6A09-0C6BA2DC278C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7C5A6D-111B-5B31-E489-01D18E3B0E2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9DFE068-D7B1-07C1-A093-05EF36140AC1}"/>
              </a:ext>
            </a:extLst>
          </p:cNvPr>
          <p:cNvGrpSpPr/>
          <p:nvPr/>
        </p:nvGrpSpPr>
        <p:grpSpPr>
          <a:xfrm>
            <a:off x="6699780" y="4109503"/>
            <a:ext cx="5712083" cy="674850"/>
            <a:chOff x="6484817" y="601883"/>
            <a:chExt cx="5712083" cy="67485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8560504-E490-2CED-27E3-C2F00F78C1EA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3D521C-31A1-88B1-BCC1-54AEC30C2E7E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E86A1D0-86B0-893E-BA92-21DD6E5DA89C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01FE9B6-AD46-A2FC-95A4-D63722D69B3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C3016B-0E23-F9CD-E570-28F2F2E7BC97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B794395-BB0B-F970-5A20-B68CBCC71E84}"/>
                </a:ext>
              </a:extLst>
            </p:cNvPr>
            <p:cNvSpPr txBox="1"/>
            <p:nvPr/>
          </p:nvSpPr>
          <p:spPr>
            <a:xfrm>
              <a:off x="8130203" y="630402"/>
              <a:ext cx="14116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STATISTICAL</a:t>
              </a:r>
            </a:p>
            <a:p>
              <a:pPr algn="ctr"/>
              <a:r>
                <a:rPr lang="en-US" dirty="0"/>
                <a:t>MODEL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8C8CC72-D5CE-2CAB-61F3-8D2D31E69F4C}"/>
              </a:ext>
            </a:extLst>
          </p:cNvPr>
          <p:cNvSpPr txBox="1"/>
          <p:nvPr/>
        </p:nvSpPr>
        <p:spPr>
          <a:xfrm>
            <a:off x="6699779" y="2515732"/>
            <a:ext cx="5285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Statistical model</a:t>
            </a:r>
            <a:r>
              <a:rPr lang="en-US" sz="2400" dirty="0"/>
              <a:t>: approximate how nature gets from X to Y by mimicking the </a:t>
            </a:r>
            <a:r>
              <a:rPr lang="en-US" sz="2400" i="1" dirty="0"/>
              <a:t>data generating process</a:t>
            </a:r>
          </a:p>
        </p:txBody>
      </p:sp>
    </p:spTree>
    <p:extLst>
      <p:ext uri="{BB962C8B-B14F-4D97-AF65-F5344CB8AC3E}">
        <p14:creationId xmlns:p14="http://schemas.microsoft.com/office/powerpoint/2010/main" val="2255730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12241-244B-055D-95DA-987DF4EAA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E6AA7-F871-9867-601A-1AAE31E97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164BB-72D5-4A22-DFB6-60343F96D0CA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5411E-D06D-FD4C-7FF2-987BD7935E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170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0D7A-E356-E09C-8D7C-C12B41C1C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916C-4F7D-7104-2E01-C51C9B8F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BBFA52-33A5-9A67-76AD-73E601494AD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6E94A8-CD25-4464-C3DE-1303F99BC2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77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26B6-1EBD-11BD-B3CE-D97228E0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2426-5E4D-1F59-3F62-A5EA72DE2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4922E-346C-1E07-EE7A-114E009E0C79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73455-CDFF-5FBF-6E98-120C69A44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5C7E0D8-7272-1E8C-C7B5-5CA09CF5B2B9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</p:spTree>
    <p:extLst>
      <p:ext uri="{BB962C8B-B14F-4D97-AF65-F5344CB8AC3E}">
        <p14:creationId xmlns:p14="http://schemas.microsoft.com/office/powerpoint/2010/main" val="2022334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46388-3233-4589-3D0C-8F62CA69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0C2E7-7C1C-79C6-8168-05DBF23E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3C8AD-5725-6CB8-7891-D57232AE966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71E5A-8D80-7F7B-8FF0-322EB799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CBA6C73-1ACC-2146-44DC-7101F574A24F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D8404-57E1-C95D-EBC3-89824E57B0D7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</p:spTree>
    <p:extLst>
      <p:ext uri="{BB962C8B-B14F-4D97-AF65-F5344CB8AC3E}">
        <p14:creationId xmlns:p14="http://schemas.microsoft.com/office/powerpoint/2010/main" val="554990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789F1-1EBE-A2EF-AFA5-B5C7CF5E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5D54D-7755-4656-46E1-46EDFC136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5CD8AF-C993-A242-E4CA-AEF11A2002C8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F7966-A38B-4CA7-49BC-8134D7A4B9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6C9061-0143-B9EB-58C1-72D7CB1BCD3A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5BF2A-8730-B64B-3A40-BE49BE9B5200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2B0E2-F354-D4BA-2BCF-C70D99956F52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</p:spTree>
    <p:extLst>
      <p:ext uri="{BB962C8B-B14F-4D97-AF65-F5344CB8AC3E}">
        <p14:creationId xmlns:p14="http://schemas.microsoft.com/office/powerpoint/2010/main" val="2946507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5046-890A-CB6B-40A9-F04208ED6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31A4-A0B3-60EE-DD21-6D2B4058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09867-9DDD-DD2E-FF63-85F80814B95C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755251-75FB-D75A-C203-ECD833A7C2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6339D3-529D-F49D-C6CF-5CA7CAF3E395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047F3-CE17-A414-51D0-B52CEC1C4E75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D3B7-035F-8C33-C3D1-A2FDFAD72799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5D4474-5E70-8D82-D275-45318364EF1C}"/>
              </a:ext>
            </a:extLst>
          </p:cNvPr>
          <p:cNvSpPr txBox="1"/>
          <p:nvPr/>
        </p:nvSpPr>
        <p:spPr>
          <a:xfrm>
            <a:off x="7402343" y="5453142"/>
            <a:ext cx="172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Identify things in images</a:t>
            </a:r>
          </a:p>
        </p:txBody>
      </p:sp>
    </p:spTree>
    <p:extLst>
      <p:ext uri="{BB962C8B-B14F-4D97-AF65-F5344CB8AC3E}">
        <p14:creationId xmlns:p14="http://schemas.microsoft.com/office/powerpoint/2010/main" val="3067042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23-C683-3314-8C1E-8F55B885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35DA3-B6F3-2294-2F45-AE25CFA67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254A6-30C4-7B24-C279-D7279757963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3FB0E-837D-76F7-87DA-AA8779404C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7737A33-D651-060A-938E-EB1019CFE9E7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F61C3626-E767-C6E0-CA3C-BFB3AD4E578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4222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8174D-68F7-FD76-5C1B-3C197A57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E48D-4E1A-A96B-B6FF-766FB4133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4E93C-6768-F4B0-F476-E0E7C792ED0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22350E-1500-4E8D-1CCA-40F420B4D4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EEE2588-1276-D119-2A85-8941E865E3E7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14988-0ECD-AC23-ACE3-26BF3C3054E2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3AEB20D-7C8A-FFC8-6815-6E2697A331CD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262E88-B86A-42A5-861C-39BF950EC6DF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E76B39-F0EF-0FBF-5681-5E8A2C9096AD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B6EB11-4299-A450-4F74-E7E7E70E8F88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3A0ECD-0ADD-0AC8-88E4-7902EE361259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A707165-C3F2-2160-A29E-5C929C9F23E2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AA65B-1EE1-98D1-BC41-BA6F03A4A08A}"/>
              </a:ext>
            </a:extLst>
          </p:cNvPr>
          <p:cNvSpPr txBox="1"/>
          <p:nvPr/>
        </p:nvSpPr>
        <p:spPr>
          <a:xfrm>
            <a:off x="396055" y="3337349"/>
            <a:ext cx="57677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Supervised machine learning</a:t>
            </a:r>
            <a:r>
              <a:rPr lang="en-US" sz="2400" dirty="0"/>
              <a:t>: use algorithms to </a:t>
            </a:r>
            <a:r>
              <a:rPr lang="en-US" sz="2400" i="1" dirty="0"/>
              <a:t>mimic the outputs</a:t>
            </a:r>
            <a:r>
              <a:rPr lang="en-US" sz="2400" dirty="0"/>
              <a:t> of nature</a:t>
            </a:r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BFCDAAEB-6F0C-023E-EB5E-38ABD0CDB57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B1DF42-A840-492F-7A38-D92881720690}"/>
              </a:ext>
            </a:extLst>
          </p:cNvPr>
          <p:cNvGrpSpPr/>
          <p:nvPr/>
        </p:nvGrpSpPr>
        <p:grpSpPr>
          <a:xfrm>
            <a:off x="564763" y="4644500"/>
            <a:ext cx="5712083" cy="644073"/>
            <a:chOff x="6484817" y="601883"/>
            <a:chExt cx="5712083" cy="64407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1A0531-41BA-BCA5-2323-C120FEC6B695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CF47B0-5807-6E88-CEB3-FE89B609A452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69393F-62F9-C491-B462-02B7D656E69B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6FF182-60E2-1A52-4328-2DC3850E3C39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00A3658-B281-5F27-D4F5-0878B92B659F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3B0608-2157-2626-8085-674C626C0168}"/>
              </a:ext>
            </a:extLst>
          </p:cNvPr>
          <p:cNvCxnSpPr/>
          <p:nvPr/>
        </p:nvCxnSpPr>
        <p:spPr>
          <a:xfrm>
            <a:off x="994689" y="5288573"/>
            <a:ext cx="967617" cy="535452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83861D-A0E4-257C-4881-293AC99E16AA}"/>
              </a:ext>
            </a:extLst>
          </p:cNvPr>
          <p:cNvCxnSpPr>
            <a:cxnSpLocks/>
          </p:cNvCxnSpPr>
          <p:nvPr/>
        </p:nvCxnSpPr>
        <p:spPr>
          <a:xfrm flipH="1">
            <a:off x="3699803" y="5353168"/>
            <a:ext cx="1268537" cy="470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8A89B15-C196-119C-D684-64F7FD8DA532}"/>
              </a:ext>
            </a:extLst>
          </p:cNvPr>
          <p:cNvSpPr txBox="1"/>
          <p:nvPr/>
        </p:nvSpPr>
        <p:spPr>
          <a:xfrm>
            <a:off x="2235378" y="5636872"/>
            <a:ext cx="1191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3405356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FA29-EE37-3E25-4512-716D446C9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C50EC-2B77-57DB-6553-55037FAA5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</p:spTree>
    <p:extLst>
      <p:ext uri="{BB962C8B-B14F-4D97-AF65-F5344CB8AC3E}">
        <p14:creationId xmlns:p14="http://schemas.microsoft.com/office/powerpoint/2010/main" val="1836443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EFB1-5723-65CD-FDA7-EB1C063B5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17F5-8C03-AD52-4776-5177573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B6DEF-E64C-1B8F-D184-9C20ECA2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05BADD-117A-0833-BBC8-3EEA03C5BF5A}"/>
              </a:ext>
            </a:extLst>
          </p:cNvPr>
          <p:cNvSpPr txBox="1">
            <a:spLocks/>
          </p:cNvSpPr>
          <p:nvPr/>
        </p:nvSpPr>
        <p:spPr>
          <a:xfrm>
            <a:off x="6593058" y="365125"/>
            <a:ext cx="476074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machine learning can help!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0314D45-4690-1B6B-E934-CC83B86171B8}"/>
              </a:ext>
            </a:extLst>
          </p:cNvPr>
          <p:cNvSpPr txBox="1">
            <a:spLocks/>
          </p:cNvSpPr>
          <p:nvPr/>
        </p:nvSpPr>
        <p:spPr>
          <a:xfrm>
            <a:off x="6593058" y="2124221"/>
            <a:ext cx="4872111" cy="405274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Observe</a:t>
            </a:r>
            <a:r>
              <a:rPr lang="en-US" dirty="0"/>
              <a:t>: Classify trail camera images to identify animals at scale</a:t>
            </a:r>
          </a:p>
          <a:p>
            <a:r>
              <a:rPr lang="en-US" b="1" dirty="0"/>
              <a:t>Generate: </a:t>
            </a:r>
            <a:r>
              <a:rPr lang="en-US" dirty="0"/>
              <a:t>Identify patterns and suggest important variables for future experiments</a:t>
            </a:r>
          </a:p>
          <a:p>
            <a:r>
              <a:rPr lang="en-US" b="1" dirty="0"/>
              <a:t>Predict: </a:t>
            </a:r>
            <a:r>
              <a:rPr lang="en-US" dirty="0"/>
              <a:t>Forecast the future distribution or abundance of a plant</a:t>
            </a:r>
          </a:p>
        </p:txBody>
      </p:sp>
    </p:spTree>
    <p:extLst>
      <p:ext uri="{BB962C8B-B14F-4D97-AF65-F5344CB8AC3E}">
        <p14:creationId xmlns:p14="http://schemas.microsoft.com/office/powerpoint/2010/main" val="3867565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658F6F1-3BCD-25E3-3CB0-4D59F6073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549" y="160421"/>
            <a:ext cx="5873904" cy="6565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E92D53-324F-D78B-3E60-61B03FE9B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90760" cy="1325563"/>
          </a:xfrm>
        </p:spPr>
        <p:txBody>
          <a:bodyPr/>
          <a:lstStyle/>
          <a:p>
            <a:r>
              <a:rPr lang="en-US" dirty="0"/>
              <a:t>But we can’t understand black box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40CAA-2A70-FEF6-22B7-FAD2EE5D4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74629"/>
            <a:ext cx="4792578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Well, sort of…</a:t>
            </a:r>
          </a:p>
          <a:p>
            <a:r>
              <a:rPr lang="en-US" dirty="0"/>
              <a:t>Many algorithms used to make predictions are very complex and difficult (impossible?) to understand</a:t>
            </a:r>
          </a:p>
          <a:p>
            <a:endParaRPr lang="en-US" dirty="0"/>
          </a:p>
          <a:p>
            <a:r>
              <a:rPr lang="en-US" dirty="0"/>
              <a:t>But post-hoc approaches can identify how the model is using variables to make predictions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1C8856-B762-8E44-6FF8-42BB0420CE6C}"/>
              </a:ext>
            </a:extLst>
          </p:cNvPr>
          <p:cNvSpPr txBox="1"/>
          <p:nvPr/>
        </p:nvSpPr>
        <p:spPr>
          <a:xfrm>
            <a:off x="7047387" y="6541879"/>
            <a:ext cx="51446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FREE BOOK: https://christophm.github.io/interpretable-ml-book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43641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F28-CC7D-1145-245B-7DFC81B6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terminology differences…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02C325-DC39-5167-086D-184D56FFCD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9336193"/>
              </p:ext>
            </p:extLst>
          </p:nvPr>
        </p:nvGraphicFramePr>
        <p:xfrm>
          <a:off x="1882726" y="1952233"/>
          <a:ext cx="8426548" cy="42234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213274">
                  <a:extLst>
                    <a:ext uri="{9D8B030D-6E8A-4147-A177-3AD203B41FA5}">
                      <a16:colId xmlns:a16="http://schemas.microsoft.com/office/drawing/2014/main" val="4102760801"/>
                    </a:ext>
                  </a:extLst>
                </a:gridCol>
                <a:gridCol w="4213274">
                  <a:extLst>
                    <a:ext uri="{9D8B030D-6E8A-4147-A177-3AD203B41FA5}">
                      <a16:colId xmlns:a16="http://schemas.microsoft.com/office/drawing/2014/main" val="3470436120"/>
                    </a:ext>
                  </a:extLst>
                </a:gridCol>
              </a:tblGrid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sz="2400" dirty="0"/>
                        <a:t>Statistical modeling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Machine learning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6130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Fit a model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 a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7938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Dependent variable; Response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Response variable; Target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16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Independent variable; Predictor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Feature variable; Predictor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975641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30554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9621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935296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Examine the coefficients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“Interpret” or “Explain” the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119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3767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C620-C9E2-7961-B5F8-4FE45A974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Today, we’ll focus on supervised machine learning and tree-based algorithms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455A1-1296-7EDE-EF6F-761FAC88D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3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We’ll cover:</a:t>
            </a:r>
          </a:p>
          <a:p>
            <a:r>
              <a:rPr lang="en-US" dirty="0"/>
              <a:t>Model evaluation and cross-validation approaches</a:t>
            </a:r>
          </a:p>
          <a:p>
            <a:r>
              <a:rPr lang="en-US" dirty="0"/>
              <a:t>Handling correlated variables</a:t>
            </a:r>
          </a:p>
          <a:p>
            <a:r>
              <a:rPr lang="en-US" dirty="0"/>
              <a:t>Class-balancing</a:t>
            </a:r>
          </a:p>
          <a:p>
            <a:r>
              <a:rPr lang="en-US" dirty="0"/>
              <a:t>Model tuning</a:t>
            </a:r>
          </a:p>
          <a:p>
            <a:r>
              <a:rPr lang="en-US" dirty="0"/>
              <a:t>Model interpretation</a:t>
            </a:r>
          </a:p>
          <a:p>
            <a:r>
              <a:rPr lang="en-US" dirty="0"/>
              <a:t>Classification and regression trees (CART)</a:t>
            </a:r>
          </a:p>
          <a:p>
            <a:r>
              <a:rPr lang="en-US" dirty="0"/>
              <a:t>Random forests / bagging</a:t>
            </a:r>
          </a:p>
          <a:p>
            <a:r>
              <a:rPr lang="en-US" dirty="0"/>
              <a:t>Boosted regression trees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1F725D-D453-E65C-E0C5-7E2C39B0779D}"/>
              </a:ext>
            </a:extLst>
          </p:cNvPr>
          <p:cNvSpPr txBox="1">
            <a:spLocks/>
          </p:cNvSpPr>
          <p:nvPr/>
        </p:nvSpPr>
        <p:spPr>
          <a:xfrm>
            <a:off x="6653465" y="1786940"/>
            <a:ext cx="508133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We won’t cover:</a:t>
            </a:r>
          </a:p>
          <a:p>
            <a:r>
              <a:rPr lang="en-US" dirty="0"/>
              <a:t>K-means clustering</a:t>
            </a:r>
          </a:p>
          <a:p>
            <a:r>
              <a:rPr lang="en-US" dirty="0"/>
              <a:t>Dimensionality reduction / PCA</a:t>
            </a:r>
          </a:p>
          <a:p>
            <a:r>
              <a:rPr lang="en-US" dirty="0"/>
              <a:t>Neural networks / deep learning</a:t>
            </a:r>
          </a:p>
          <a:p>
            <a:r>
              <a:rPr lang="en-US" dirty="0"/>
              <a:t>Natural language processing</a:t>
            </a:r>
          </a:p>
          <a:p>
            <a:r>
              <a:rPr lang="en-US" dirty="0"/>
              <a:t>Image processing</a:t>
            </a:r>
          </a:p>
          <a:p>
            <a:r>
              <a:rPr lang="en-US" dirty="0"/>
              <a:t>All the possible interpretation methods</a:t>
            </a:r>
          </a:p>
        </p:txBody>
      </p:sp>
    </p:spTree>
    <p:extLst>
      <p:ext uri="{BB962C8B-B14F-4D97-AF65-F5344CB8AC3E}">
        <p14:creationId xmlns:p14="http://schemas.microsoft.com/office/powerpoint/2010/main" val="1190854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609B2-8DAD-0237-B6AF-7CC64EAB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out groups (~5min)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A7A8-6062-EB24-E8E3-40035D8AB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3622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Talk with folks at your table</a:t>
            </a:r>
            <a:r>
              <a:rPr lang="en-US" dirty="0"/>
              <a:t>:</a:t>
            </a:r>
          </a:p>
          <a:p>
            <a:r>
              <a:rPr lang="en-US" dirty="0"/>
              <a:t>Names</a:t>
            </a:r>
          </a:p>
          <a:p>
            <a:r>
              <a:rPr lang="en-US" dirty="0"/>
              <a:t>What modeling mindset(s) you typically use in your work</a:t>
            </a:r>
          </a:p>
          <a:p>
            <a:r>
              <a:rPr lang="en-US" dirty="0"/>
              <a:t>What interests brought you to this workshop today</a:t>
            </a:r>
          </a:p>
          <a:p>
            <a:r>
              <a:rPr lang="en-US" dirty="0"/>
              <a:t>Favorite body of water (anywhere, any type)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576C23-1DA8-0270-9411-F5836D88E74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9B4C0A-3C12-30B3-038B-2E26E0A88A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4" r="105" b="11454"/>
          <a:stretch>
            <a:fillRect/>
          </a:stretch>
        </p:blipFill>
        <p:spPr>
          <a:xfrm>
            <a:off x="5962570" y="2112718"/>
            <a:ext cx="6037171" cy="297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885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2670</TotalTime>
  <Words>806</Words>
  <Application>Microsoft Macintosh PowerPoint</Application>
  <PresentationFormat>Widescreen</PresentationFormat>
  <Paragraphs>138</Paragraphs>
  <Slides>22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Overview of the day</vt:lpstr>
      <vt:lpstr>What is machine learning?</vt:lpstr>
      <vt:lpstr>Modeling mindsets:</vt:lpstr>
      <vt:lpstr>The same “model” can fit into multiple mindsets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In science, we often have multiple aims</vt:lpstr>
      <vt:lpstr>In science, we often have multiple aims</vt:lpstr>
      <vt:lpstr>But we can’t understand black box models?</vt:lpstr>
      <vt:lpstr>Some terminology differences…</vt:lpstr>
      <vt:lpstr>Today, we’ll focus on supervised machine learning and tree-based algorithms</vt:lpstr>
      <vt:lpstr>Break out groups (~5min)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27</cp:revision>
  <dcterms:created xsi:type="dcterms:W3CDTF">2026-03-30T15:51:03Z</dcterms:created>
  <dcterms:modified xsi:type="dcterms:W3CDTF">2026-04-13T15:02:40Z</dcterms:modified>
</cp:coreProperties>
</file>